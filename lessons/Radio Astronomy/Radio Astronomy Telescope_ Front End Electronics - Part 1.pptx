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13716000" cx="2438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747775"/>
          </p15:clr>
        </p15:guide>
        <p15:guide id="2" pos="76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5F637F-4CF5-426A-9FC3-FA0B1D980CB4}">
  <a:tblStyle styleId="{805F637F-4CF5-426A-9FC3-FA0B1D980CB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7C3C918-BF5B-4AA9-8226-F4381CCDB6A7}"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6bb7ebb912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6bb7ebb912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50fd6be37926280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50fd6be37926280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50fd6be37926280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50fd6be37926280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50fd6be37926280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50fd6be37926280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50fd6be37926280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50fd6be37926280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4cb4b12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4cb4b12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f057cfdc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f057cfdc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f13d050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f13d050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02e5ebd85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02e5ebd85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6f13d0508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6f13d0508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7272"/>
              </a:lnSpc>
              <a:spcBef>
                <a:spcPts val="0"/>
              </a:spcBef>
              <a:spcAft>
                <a:spcPts val="0"/>
              </a:spcAft>
              <a:buClr>
                <a:schemeClr val="dk1"/>
              </a:buClr>
              <a:buSzPts val="1100"/>
              <a:buFont typeface="Arial"/>
              <a:buNone/>
            </a:pPr>
            <a:r>
              <a:rPr b="1" lang="en" sz="1000">
                <a:solidFill>
                  <a:srgbClr val="1A1C1E"/>
                </a:solidFill>
              </a:rPr>
              <a:t>The Radical Design: A Telescope with No Moving Parts</a:t>
            </a:r>
            <a:endParaRPr b="1" sz="1000">
              <a:solidFill>
                <a:srgbClr val="1A1C1E"/>
              </a:solidFill>
            </a:endParaRPr>
          </a:p>
          <a:p>
            <a:pPr indent="0" lvl="0" marL="0" rtl="0" algn="l">
              <a:lnSpc>
                <a:spcPct val="142857"/>
              </a:lnSpc>
              <a:spcBef>
                <a:spcPts val="1100"/>
              </a:spcBef>
              <a:spcAft>
                <a:spcPts val="0"/>
              </a:spcAft>
              <a:buClr>
                <a:schemeClr val="dk1"/>
              </a:buClr>
              <a:buSzPts val="1100"/>
              <a:buFont typeface="Arial"/>
              <a:buNone/>
            </a:pPr>
            <a:r>
              <a:rPr lang="en" sz="1000">
                <a:solidFill>
                  <a:srgbClr val="1A1C1E"/>
                </a:solidFill>
              </a:rPr>
              <a:t>This is what makes CHIME so unique. It is not a traditional steerable dish. Instead, it looks like four giant, parallel </a:t>
            </a:r>
            <a:r>
              <a:rPr b="1" lang="en" sz="1000">
                <a:solidFill>
                  <a:srgbClr val="1A1C1E"/>
                </a:solidFill>
              </a:rPr>
              <a:t>snowboard half-pipes</a:t>
            </a:r>
            <a:r>
              <a:rPr lang="en" sz="1000">
                <a:solidFill>
                  <a:srgbClr val="1A1C1E"/>
                </a:solidFill>
              </a:rPr>
              <a:t>.</a:t>
            </a:r>
            <a:endParaRPr sz="1000">
              <a:solidFill>
                <a:srgbClr val="1A1C1E"/>
              </a:solidFill>
            </a:endParaRPr>
          </a:p>
          <a:p>
            <a:pPr indent="-292100" lvl="0" marL="457200" rtl="0" algn="l">
              <a:lnSpc>
                <a:spcPct val="142857"/>
              </a:lnSpc>
              <a:spcBef>
                <a:spcPts val="1400"/>
              </a:spcBef>
              <a:spcAft>
                <a:spcPts val="0"/>
              </a:spcAft>
              <a:buClr>
                <a:srgbClr val="1A1C1E"/>
              </a:buClr>
              <a:buSzPts val="1000"/>
              <a:buChar char="●"/>
            </a:pPr>
            <a:r>
              <a:rPr b="1" lang="en" sz="1000">
                <a:solidFill>
                  <a:srgbClr val="1A1C1E"/>
                </a:solidFill>
              </a:rPr>
              <a:t>The Structure:</a:t>
            </a:r>
            <a:r>
              <a:rPr lang="en" sz="1000">
                <a:solidFill>
                  <a:srgbClr val="1A1C1E"/>
                </a:solidFill>
              </a:rPr>
              <a:t> Each "half-pipe" is a large </a:t>
            </a:r>
            <a:r>
              <a:rPr b="1" lang="en" sz="1000">
                <a:solidFill>
                  <a:srgbClr val="1A1C1E"/>
                </a:solidFill>
              </a:rPr>
              <a:t>parabolic cylinder</a:t>
            </a:r>
            <a:r>
              <a:rPr lang="en" sz="1000">
                <a:solidFill>
                  <a:srgbClr val="1A1C1E"/>
                </a:solidFill>
              </a:rPr>
              <a:t>, 100 meters long and 20 meters wide.</a:t>
            </a:r>
            <a:endParaRPr sz="1000">
              <a:solidFill>
                <a:srgbClr val="1A1C1E"/>
              </a:solidFill>
            </a:endParaRPr>
          </a:p>
          <a:p>
            <a:pPr indent="-292100" lvl="0" marL="457200" rtl="0" algn="l">
              <a:lnSpc>
                <a:spcPct val="142857"/>
              </a:lnSpc>
              <a:spcBef>
                <a:spcPts val="0"/>
              </a:spcBef>
              <a:spcAft>
                <a:spcPts val="0"/>
              </a:spcAft>
              <a:buClr>
                <a:srgbClr val="1A1C1E"/>
              </a:buClr>
              <a:buSzPts val="1000"/>
              <a:buChar char="●"/>
            </a:pPr>
            <a:r>
              <a:rPr b="1" lang="en" sz="1000">
                <a:solidFill>
                  <a:srgbClr val="1A1C1E"/>
                </a:solidFill>
              </a:rPr>
              <a:t>The "Antennas":</a:t>
            </a:r>
            <a:r>
              <a:rPr lang="en" sz="1000">
                <a:solidFill>
                  <a:srgbClr val="1A1C1E"/>
                </a:solidFill>
              </a:rPr>
              <a:t> Along the focal line of each cylinder, there are </a:t>
            </a:r>
            <a:r>
              <a:rPr b="1" lang="en" sz="1000">
                <a:solidFill>
                  <a:srgbClr val="1A1C1E"/>
                </a:solidFill>
              </a:rPr>
              <a:t>256 dual-polarization antennas</a:t>
            </a:r>
            <a:r>
              <a:rPr lang="en" sz="1000">
                <a:solidFill>
                  <a:srgbClr val="1A1C1E"/>
                </a:solidFill>
              </a:rPr>
              <a:t>, for a total of </a:t>
            </a:r>
            <a:r>
              <a:rPr b="1" lang="en" sz="1000">
                <a:solidFill>
                  <a:srgbClr val="1A1C1E"/>
                </a:solidFill>
              </a:rPr>
              <a:t>1024 inputs</a:t>
            </a:r>
            <a:r>
              <a:rPr lang="en" sz="1000">
                <a:solidFill>
                  <a:srgbClr val="1A1C1E"/>
                </a:solidFill>
              </a:rPr>
              <a:t>. These are the actual radio receivers that collect the focused waves.</a:t>
            </a:r>
            <a:endParaRPr sz="1000">
              <a:solidFill>
                <a:srgbClr val="1A1C1E"/>
              </a:solidFill>
            </a:endParaRPr>
          </a:p>
          <a:p>
            <a:pPr indent="-292100" lvl="0" marL="457200" rtl="0" algn="l">
              <a:lnSpc>
                <a:spcPct val="142857"/>
              </a:lnSpc>
              <a:spcBef>
                <a:spcPts val="0"/>
              </a:spcBef>
              <a:spcAft>
                <a:spcPts val="0"/>
              </a:spcAft>
              <a:buClr>
                <a:srgbClr val="1A1C1E"/>
              </a:buClr>
              <a:buSzPts val="1000"/>
              <a:buChar char="●"/>
            </a:pPr>
            <a:r>
              <a:rPr b="1" lang="en" sz="1000">
                <a:solidFill>
                  <a:srgbClr val="1A1C1E"/>
                </a:solidFill>
              </a:rPr>
              <a:t>How it Works (Scanning):</a:t>
            </a:r>
            <a:endParaRPr b="1" sz="1000">
              <a:solidFill>
                <a:srgbClr val="1A1C1E"/>
              </a:solidFill>
            </a:endParaRPr>
          </a:p>
          <a:p>
            <a:pPr indent="-292100" lvl="1" marL="914400" rtl="0" algn="l">
              <a:lnSpc>
                <a:spcPct val="142857"/>
              </a:lnSpc>
              <a:spcBef>
                <a:spcPts val="0"/>
              </a:spcBef>
              <a:spcAft>
                <a:spcPts val="0"/>
              </a:spcAft>
              <a:buClr>
                <a:srgbClr val="1A1C1E"/>
              </a:buClr>
              <a:buSzPts val="1000"/>
              <a:buAutoNum type="arabicPeriod"/>
            </a:pPr>
            <a:r>
              <a:rPr lang="en" sz="1000">
                <a:solidFill>
                  <a:srgbClr val="1A1C1E"/>
                </a:solidFill>
              </a:rPr>
              <a:t>The long cylinders focus radio waves from a North-South strip of the sky.</a:t>
            </a:r>
            <a:endParaRPr sz="1000">
              <a:solidFill>
                <a:srgbClr val="1A1C1E"/>
              </a:solidFill>
            </a:endParaRPr>
          </a:p>
          <a:p>
            <a:pPr indent="-292100" lvl="1" marL="914400" rtl="0" algn="l">
              <a:lnSpc>
                <a:spcPct val="142857"/>
              </a:lnSpc>
              <a:spcBef>
                <a:spcPts val="0"/>
              </a:spcBef>
              <a:spcAft>
                <a:spcPts val="0"/>
              </a:spcAft>
              <a:buClr>
                <a:srgbClr val="1A1C1E"/>
              </a:buClr>
              <a:buSzPts val="1000"/>
              <a:buAutoNum type="arabicPeriod"/>
            </a:pPr>
            <a:r>
              <a:rPr lang="en" sz="1000">
                <a:solidFill>
                  <a:srgbClr val="1A1C1E"/>
                </a:solidFill>
              </a:rPr>
              <a:t>The telescope is fixed to the ground and does not move. It uses the </a:t>
            </a:r>
            <a:r>
              <a:rPr b="1" lang="en" sz="1000">
                <a:solidFill>
                  <a:srgbClr val="1A1C1E"/>
                </a:solidFill>
              </a:rPr>
              <a:t>rotation of the Earth</a:t>
            </a:r>
            <a:r>
              <a:rPr lang="en" sz="1000">
                <a:solidFill>
                  <a:srgbClr val="1A1C1E"/>
                </a:solidFill>
              </a:rPr>
              <a:t> to scan a huge swath of the sky every single day. As the Earth turns, the sky drifts through CHIME's enormous field of view.</a:t>
            </a:r>
            <a:endParaRPr sz="1000">
              <a:solidFill>
                <a:srgbClr val="1A1C1E"/>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4cb4b12f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4cb4b12f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ee4f6dbd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6ee4f6dbd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dff92b3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dff92b3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dff92b3e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dff92b3e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02e5ebd85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02e5ebd85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6dff92b3e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6dff92b3e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dff92b3e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dff92b3e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703311e3f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703311e3f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03311e3f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703311e3f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The Problem: RFI. Show a real-world spectrum plot demonstrating how powerful FM radio and TV signals are compared to the cosmic noise floor.</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The Solution: Explain the roles of a High-Pass Filter (HPF) and a Low-Pass Filter (LPF) to create a "band-pass" window for our desired 300-800 MHz signal.</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Critical Placement: Emphasize that the filters must come before the amplifier. If you amplify first, the strong RFI will saturate the amplifier and destroy the faint cosmic signal.</a:t>
            </a:r>
            <a:endParaRPr sz="10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dff92b3e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6dff92b3e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Concept 1: The Need for Amplification. The signal captured by the LPDA is incredibly weak. We must amplify it before sending it down a long cable.</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Concept 2: The Noise Figure (NF). Introduce the most important metric for an LNA. An amplifier adds its own "hiss" or noise. A lower Noise Figure means a quieter amplifier.</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Analogy: It's like a microphone pre-amp so quiet it adds no background hiss. Our ZX60-P33ULN+ is a world-class "quiet" amplifier.</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Critical Placement: Explain why the LNA must be mounted directly to the antenna. Every meter of cable between the antenna and the LNA adds signal loss, which permanently degrades your data. You must amplify the signal before this loss occurs.</a:t>
            </a:r>
            <a:endParaRPr sz="1000">
              <a:solidFill>
                <a:srgbClr val="595959"/>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dff92b3e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dff92b3e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dff92b3e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6dff92b3e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Concept 1: The Need for Amplification. The signal captured by the LPDA is incredibly weak. We must amplify it before sending it down a long cable.</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Concept 2: The Noise Figure (NF). Introduce the most important metric for an LNA. An amplifier adds its own "hiss" or noise. A lower Noise Figure means a quieter amplifier.</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Analogy: It's like a microphone pre-amp so quiet it adds no background hiss. Our ZX60-P33ULN+ is a world-class "quiet" amplifier.</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Critical Placement: Explain why the LNA must be mounted directly to the antenna. Every meter of cable between the antenna and the LNA adds signal loss, which permanently degrades your data. You must amplify the signal before this loss occurs.</a:t>
            </a:r>
            <a:endParaRPr sz="1000">
              <a:solidFill>
                <a:srgbClr val="595959"/>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bb7ebb912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6bb7ebb912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Cables: Briefly explain that all cables have loss, which is why we use low-loss types like LMR-400 for the long run to the control room.</a:t>
            </a:r>
            <a:endParaRPr sz="1000">
              <a:solidFill>
                <a:srgbClr val="595959"/>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595959"/>
              </a:buClr>
              <a:buSzPts val="1000"/>
              <a:buFont typeface="Times New Roman"/>
              <a:buChar char="●"/>
            </a:pPr>
            <a:r>
              <a:rPr lang="en" sz="1000">
                <a:solidFill>
                  <a:srgbClr val="595959"/>
                </a:solidFill>
                <a:latin typeface="Times New Roman"/>
                <a:ea typeface="Times New Roman"/>
                <a:cs typeface="Times New Roman"/>
                <a:sym typeface="Times New Roman"/>
              </a:rPr>
              <a:t>Powering the LNA: Introduce the Bias Tee. Explain this clever device allows us to send the clean DC power up the same coaxial cable that the amplified RF signal is coming down, eliminating the need for a separate, noisy power cable running up the mast.</a:t>
            </a:r>
            <a:endParaRPr sz="10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0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6e087fcb0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6e087fcb0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e087fcb0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6e087fcb0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e087fcb0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e087fcb0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6e087fcb0d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6e087fcb0d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6e087fcb0d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6e087fcb0d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6e087fcb0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6e087fcb0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6e087fcb0d_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6e087fcb0d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703311e3f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703311e3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6bb7ebb912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6bb7ebb912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bb7ebb912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bb7ebb912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6f1c53775ad4aa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6f1c53775ad4aa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831221" y="1985533"/>
            <a:ext cx="22721700" cy="5473500"/>
          </a:xfrm>
          <a:prstGeom prst="rect">
            <a:avLst/>
          </a:prstGeom>
          <a:noFill/>
          <a:ln>
            <a:noFill/>
          </a:ln>
        </p:spPr>
        <p:txBody>
          <a:bodyPr anchorCtr="0" anchor="b" bIns="243800" lIns="243800" spcFirstLastPara="1" rIns="243800" wrap="square" tIns="243800">
            <a:normAutofit/>
          </a:bodyPr>
          <a:lstStyle>
            <a:lvl1pPr lvl="0" algn="ctr">
              <a:lnSpc>
                <a:spcPct val="100000"/>
              </a:lnSpc>
              <a:spcBef>
                <a:spcPts val="0"/>
              </a:spcBef>
              <a:spcAft>
                <a:spcPts val="0"/>
              </a:spcAft>
              <a:buSzPts val="13900"/>
              <a:buNone/>
              <a:defRPr sz="13900"/>
            </a:lvl1pPr>
            <a:lvl2pPr lvl="1" algn="ctr">
              <a:lnSpc>
                <a:spcPct val="100000"/>
              </a:lnSpc>
              <a:spcBef>
                <a:spcPts val="0"/>
              </a:spcBef>
              <a:spcAft>
                <a:spcPts val="0"/>
              </a:spcAft>
              <a:buSzPts val="13900"/>
              <a:buNone/>
              <a:defRPr sz="13900"/>
            </a:lvl2pPr>
            <a:lvl3pPr lvl="2" algn="ctr">
              <a:lnSpc>
                <a:spcPct val="100000"/>
              </a:lnSpc>
              <a:spcBef>
                <a:spcPts val="0"/>
              </a:spcBef>
              <a:spcAft>
                <a:spcPts val="0"/>
              </a:spcAft>
              <a:buSzPts val="13900"/>
              <a:buNone/>
              <a:defRPr sz="13900"/>
            </a:lvl3pPr>
            <a:lvl4pPr lvl="3" algn="ctr">
              <a:lnSpc>
                <a:spcPct val="100000"/>
              </a:lnSpc>
              <a:spcBef>
                <a:spcPts val="0"/>
              </a:spcBef>
              <a:spcAft>
                <a:spcPts val="0"/>
              </a:spcAft>
              <a:buSzPts val="13900"/>
              <a:buNone/>
              <a:defRPr sz="13900"/>
            </a:lvl4pPr>
            <a:lvl5pPr lvl="4" algn="ctr">
              <a:lnSpc>
                <a:spcPct val="100000"/>
              </a:lnSpc>
              <a:spcBef>
                <a:spcPts val="0"/>
              </a:spcBef>
              <a:spcAft>
                <a:spcPts val="0"/>
              </a:spcAft>
              <a:buSzPts val="13900"/>
              <a:buNone/>
              <a:defRPr sz="13900"/>
            </a:lvl5pPr>
            <a:lvl6pPr lvl="5" algn="ctr">
              <a:lnSpc>
                <a:spcPct val="100000"/>
              </a:lnSpc>
              <a:spcBef>
                <a:spcPts val="0"/>
              </a:spcBef>
              <a:spcAft>
                <a:spcPts val="0"/>
              </a:spcAft>
              <a:buSzPts val="13900"/>
              <a:buNone/>
              <a:defRPr sz="13900"/>
            </a:lvl6pPr>
            <a:lvl7pPr lvl="6" algn="ctr">
              <a:lnSpc>
                <a:spcPct val="100000"/>
              </a:lnSpc>
              <a:spcBef>
                <a:spcPts val="0"/>
              </a:spcBef>
              <a:spcAft>
                <a:spcPts val="0"/>
              </a:spcAft>
              <a:buSzPts val="13900"/>
              <a:buNone/>
              <a:defRPr sz="13900"/>
            </a:lvl7pPr>
            <a:lvl8pPr lvl="7" algn="ctr">
              <a:lnSpc>
                <a:spcPct val="100000"/>
              </a:lnSpc>
              <a:spcBef>
                <a:spcPts val="0"/>
              </a:spcBef>
              <a:spcAft>
                <a:spcPts val="0"/>
              </a:spcAft>
              <a:buSzPts val="13900"/>
              <a:buNone/>
              <a:defRPr sz="13900"/>
            </a:lvl8pPr>
            <a:lvl9pPr lvl="8" algn="ctr">
              <a:lnSpc>
                <a:spcPct val="100000"/>
              </a:lnSpc>
              <a:spcBef>
                <a:spcPts val="0"/>
              </a:spcBef>
              <a:spcAft>
                <a:spcPts val="0"/>
              </a:spcAft>
              <a:buSzPts val="13900"/>
              <a:buNone/>
              <a:defRPr sz="13900"/>
            </a:lvl9pPr>
          </a:lstStyle>
          <a:p/>
        </p:txBody>
      </p:sp>
      <p:sp>
        <p:nvSpPr>
          <p:cNvPr id="12" name="Google Shape;12;p2"/>
          <p:cNvSpPr txBox="1"/>
          <p:nvPr>
            <p:ph idx="1" type="subTitle"/>
          </p:nvPr>
        </p:nvSpPr>
        <p:spPr>
          <a:xfrm>
            <a:off x="831200" y="7557667"/>
            <a:ext cx="22721700" cy="2113500"/>
          </a:xfrm>
          <a:prstGeom prst="rect">
            <a:avLst/>
          </a:prstGeom>
          <a:noFill/>
          <a:ln>
            <a:noFill/>
          </a:ln>
        </p:spPr>
        <p:txBody>
          <a:bodyPr anchorCtr="0" anchor="t" bIns="243800" lIns="243800" spcFirstLastPara="1" rIns="243800" wrap="square" tIns="24380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p:txBody>
      </p:sp>
      <p:sp>
        <p:nvSpPr>
          <p:cNvPr id="13" name="Google Shape;13;p2"/>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4" name="Google Shape;14;p2"/>
          <p:cNvPicPr preferRelativeResize="0"/>
          <p:nvPr/>
        </p:nvPicPr>
        <p:blipFill rotWithShape="1">
          <a:blip r:embed="rId2">
            <a:alphaModFix/>
          </a:blip>
          <a:srcRect b="0" l="0" r="0" t="0"/>
          <a:stretch/>
        </p:blipFill>
        <p:spPr>
          <a:xfrm>
            <a:off x="20412267" y="0"/>
            <a:ext cx="3971735" cy="2234129"/>
          </a:xfrm>
          <a:prstGeom prst="rect">
            <a:avLst/>
          </a:prstGeom>
          <a:noFill/>
          <a:ln>
            <a:noFill/>
          </a:ln>
        </p:spPr>
      </p:pic>
      <p:sp>
        <p:nvSpPr>
          <p:cNvPr id="15" name="Google Shape;15;p2"/>
          <p:cNvSpPr txBox="1"/>
          <p:nvPr>
            <p:ph idx="2" type="body"/>
          </p:nvPr>
        </p:nvSpPr>
        <p:spPr>
          <a:xfrm>
            <a:off x="6879600" y="11582400"/>
            <a:ext cx="10624800" cy="1219200"/>
          </a:xfrm>
          <a:prstGeom prst="rect">
            <a:avLst/>
          </a:prstGeom>
        </p:spPr>
        <p:txBody>
          <a:bodyPr anchorCtr="0" anchor="t" bIns="243800" lIns="243800" spcFirstLastPara="1" rIns="243800" wrap="square" tIns="243800">
            <a:normAutofit/>
          </a:bodyPr>
          <a:lstStyle>
            <a:lvl1pPr indent="-533400" lvl="0" marL="457200">
              <a:spcBef>
                <a:spcPts val="0"/>
              </a:spcBef>
              <a:spcAft>
                <a:spcPts val="0"/>
              </a:spcAft>
              <a:buSzPts val="4800"/>
              <a:buChar char="●"/>
              <a:defRPr/>
            </a:lvl1pPr>
            <a:lvl2pPr indent="-463550" lvl="1" marL="914400">
              <a:spcBef>
                <a:spcPts val="0"/>
              </a:spcBef>
              <a:spcAft>
                <a:spcPts val="0"/>
              </a:spcAft>
              <a:buSzPts val="3700"/>
              <a:buChar char="○"/>
              <a:defRPr/>
            </a:lvl2pPr>
            <a:lvl3pPr indent="-463550" lvl="2" marL="1371600">
              <a:spcBef>
                <a:spcPts val="0"/>
              </a:spcBef>
              <a:spcAft>
                <a:spcPts val="0"/>
              </a:spcAft>
              <a:buSzPts val="3700"/>
              <a:buChar char="■"/>
              <a:defRPr/>
            </a:lvl3pPr>
            <a:lvl4pPr indent="-463550" lvl="3" marL="1828800">
              <a:spcBef>
                <a:spcPts val="0"/>
              </a:spcBef>
              <a:spcAft>
                <a:spcPts val="0"/>
              </a:spcAft>
              <a:buSzPts val="3700"/>
              <a:buChar char="●"/>
              <a:defRPr/>
            </a:lvl4pPr>
            <a:lvl5pPr indent="-463550" lvl="4" marL="2286000">
              <a:spcBef>
                <a:spcPts val="0"/>
              </a:spcBef>
              <a:spcAft>
                <a:spcPts val="0"/>
              </a:spcAft>
              <a:buSzPts val="3700"/>
              <a:buChar char="○"/>
              <a:defRPr/>
            </a:lvl5pPr>
            <a:lvl6pPr indent="-463550" lvl="5" marL="2743200">
              <a:spcBef>
                <a:spcPts val="0"/>
              </a:spcBef>
              <a:spcAft>
                <a:spcPts val="0"/>
              </a:spcAft>
              <a:buSzPts val="3700"/>
              <a:buChar char="■"/>
              <a:defRPr/>
            </a:lvl6pPr>
            <a:lvl7pPr indent="-463550" lvl="6" marL="3200400">
              <a:spcBef>
                <a:spcPts val="0"/>
              </a:spcBef>
              <a:spcAft>
                <a:spcPts val="0"/>
              </a:spcAft>
              <a:buSzPts val="3700"/>
              <a:buChar char="●"/>
              <a:defRPr/>
            </a:lvl7pPr>
            <a:lvl8pPr indent="-463550" lvl="7" marL="3657600">
              <a:spcBef>
                <a:spcPts val="0"/>
              </a:spcBef>
              <a:spcAft>
                <a:spcPts val="0"/>
              </a:spcAft>
              <a:buSzPts val="3700"/>
              <a:buChar char="○"/>
              <a:defRPr/>
            </a:lvl8pPr>
            <a:lvl9pPr indent="-463550" lvl="8" marL="4114800">
              <a:spcBef>
                <a:spcPts val="0"/>
              </a:spcBef>
              <a:spcAft>
                <a:spcPts val="0"/>
              </a:spcAft>
              <a:buSzPts val="37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 name="Shape 16"/>
        <p:cNvGrpSpPr/>
        <p:nvPr/>
      </p:nvGrpSpPr>
      <p:grpSpPr>
        <a:xfrm>
          <a:off x="0" y="0"/>
          <a:ext cx="0" cy="0"/>
          <a:chOff x="0" y="0"/>
          <a:chExt cx="0" cy="0"/>
        </a:xfrm>
      </p:grpSpPr>
      <p:sp>
        <p:nvSpPr>
          <p:cNvPr id="17" name="Google Shape;17;p3"/>
          <p:cNvSpPr txBox="1"/>
          <p:nvPr>
            <p:ph idx="1" type="body"/>
          </p:nvPr>
        </p:nvSpPr>
        <p:spPr>
          <a:xfrm>
            <a:off x="831200" y="2332267"/>
            <a:ext cx="7488000" cy="10847100"/>
          </a:xfrm>
          <a:prstGeom prst="rect">
            <a:avLst/>
          </a:prstGeom>
          <a:noFill/>
          <a:ln>
            <a:noFill/>
          </a:ln>
        </p:spPr>
        <p:txBody>
          <a:bodyPr anchorCtr="0" anchor="ctr" bIns="243800" lIns="243800" spcFirstLastPara="1" rIns="243800" wrap="square" tIns="243800">
            <a:normAutofit/>
          </a:bodyPr>
          <a:lstStyle>
            <a:lvl1pPr indent="-431800" lvl="0" marL="457200" algn="l">
              <a:lnSpc>
                <a:spcPct val="115000"/>
              </a:lnSpc>
              <a:spcBef>
                <a:spcPts val="0"/>
              </a:spcBef>
              <a:spcAft>
                <a:spcPts val="0"/>
              </a:spcAft>
              <a:buSzPts val="3200"/>
              <a:buChar char="●"/>
              <a:defRPr sz="3200"/>
            </a:lvl1pPr>
            <a:lvl2pPr indent="-431800" lvl="1" marL="914400" algn="l">
              <a:lnSpc>
                <a:spcPct val="115000"/>
              </a:lnSpc>
              <a:spcBef>
                <a:spcPts val="0"/>
              </a:spcBef>
              <a:spcAft>
                <a:spcPts val="0"/>
              </a:spcAft>
              <a:buSzPts val="3200"/>
              <a:buChar char="○"/>
              <a:defRPr sz="3200"/>
            </a:lvl2pPr>
            <a:lvl3pPr indent="-431800" lvl="2" marL="1371600" algn="l">
              <a:lnSpc>
                <a:spcPct val="115000"/>
              </a:lnSpc>
              <a:spcBef>
                <a:spcPts val="0"/>
              </a:spcBef>
              <a:spcAft>
                <a:spcPts val="0"/>
              </a:spcAft>
              <a:buSzPts val="3200"/>
              <a:buChar char="■"/>
              <a:defRPr sz="3200"/>
            </a:lvl3pPr>
            <a:lvl4pPr indent="-431800" lvl="3" marL="1828800" algn="l">
              <a:lnSpc>
                <a:spcPct val="115000"/>
              </a:lnSpc>
              <a:spcBef>
                <a:spcPts val="0"/>
              </a:spcBef>
              <a:spcAft>
                <a:spcPts val="0"/>
              </a:spcAft>
              <a:buSzPts val="3200"/>
              <a:buChar char="●"/>
              <a:defRPr sz="3200"/>
            </a:lvl4pPr>
            <a:lvl5pPr indent="-431800" lvl="4" marL="2286000" algn="l">
              <a:lnSpc>
                <a:spcPct val="115000"/>
              </a:lnSpc>
              <a:spcBef>
                <a:spcPts val="0"/>
              </a:spcBef>
              <a:spcAft>
                <a:spcPts val="0"/>
              </a:spcAft>
              <a:buSzPts val="3200"/>
              <a:buChar char="○"/>
              <a:defRPr sz="3200"/>
            </a:lvl5pPr>
            <a:lvl6pPr indent="-431800" lvl="5" marL="2743200" algn="l">
              <a:lnSpc>
                <a:spcPct val="115000"/>
              </a:lnSpc>
              <a:spcBef>
                <a:spcPts val="0"/>
              </a:spcBef>
              <a:spcAft>
                <a:spcPts val="0"/>
              </a:spcAft>
              <a:buSzPts val="3200"/>
              <a:buChar char="■"/>
              <a:defRPr sz="3200"/>
            </a:lvl6pPr>
            <a:lvl7pPr indent="-431800" lvl="6" marL="3200400" algn="l">
              <a:lnSpc>
                <a:spcPct val="115000"/>
              </a:lnSpc>
              <a:spcBef>
                <a:spcPts val="0"/>
              </a:spcBef>
              <a:spcAft>
                <a:spcPts val="0"/>
              </a:spcAft>
              <a:buSzPts val="3200"/>
              <a:buChar char="●"/>
              <a:defRPr sz="3200"/>
            </a:lvl7pPr>
            <a:lvl8pPr indent="-431800" lvl="7" marL="3657600" algn="l">
              <a:lnSpc>
                <a:spcPct val="115000"/>
              </a:lnSpc>
              <a:spcBef>
                <a:spcPts val="0"/>
              </a:spcBef>
              <a:spcAft>
                <a:spcPts val="0"/>
              </a:spcAft>
              <a:buSzPts val="3200"/>
              <a:buChar char="○"/>
              <a:defRPr sz="3200"/>
            </a:lvl8pPr>
            <a:lvl9pPr indent="-431800" lvl="8" marL="4114800" algn="l">
              <a:lnSpc>
                <a:spcPct val="115000"/>
              </a:lnSpc>
              <a:spcBef>
                <a:spcPts val="0"/>
              </a:spcBef>
              <a:spcAft>
                <a:spcPts val="0"/>
              </a:spcAft>
              <a:buSzPts val="3200"/>
              <a:buChar char="■"/>
              <a:defRPr sz="3200"/>
            </a:lvl9pPr>
          </a:lstStyle>
          <a:p/>
        </p:txBody>
      </p:sp>
      <p:sp>
        <p:nvSpPr>
          <p:cNvPr id="18" name="Google Shape;18;p3"/>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3"/>
          <p:cNvSpPr txBox="1"/>
          <p:nvPr>
            <p:ph type="title"/>
          </p:nvPr>
        </p:nvSpPr>
        <p:spPr>
          <a:xfrm>
            <a:off x="174200" y="144133"/>
            <a:ext cx="23016900" cy="1527300"/>
          </a:xfrm>
          <a:prstGeom prst="rect">
            <a:avLst/>
          </a:prstGeom>
          <a:noFill/>
          <a:ln>
            <a:noFill/>
          </a:ln>
        </p:spPr>
        <p:txBody>
          <a:bodyPr anchorCtr="0" anchor="t" bIns="243800" lIns="243800" spcFirstLastPara="1" rIns="243800" wrap="square" tIns="24380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174200" y="144133"/>
            <a:ext cx="23016900" cy="1527300"/>
          </a:xfrm>
          <a:prstGeom prst="rect">
            <a:avLst/>
          </a:prstGeom>
          <a:noFill/>
          <a:ln>
            <a:noFill/>
          </a:ln>
        </p:spPr>
        <p:txBody>
          <a:bodyPr anchorCtr="0" anchor="t" bIns="243800" lIns="243800" spcFirstLastPara="1" rIns="243800" wrap="square" tIns="24380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p:txBody>
      </p:sp>
      <p:sp>
        <p:nvSpPr>
          <p:cNvPr id="22" name="Google Shape;22;p4"/>
          <p:cNvSpPr txBox="1"/>
          <p:nvPr>
            <p:ph idx="1" type="body"/>
          </p:nvPr>
        </p:nvSpPr>
        <p:spPr>
          <a:xfrm>
            <a:off x="831200" y="1671333"/>
            <a:ext cx="22721700" cy="11499300"/>
          </a:xfrm>
          <a:prstGeom prst="rect">
            <a:avLst/>
          </a:prstGeom>
          <a:noFill/>
          <a:ln>
            <a:noFill/>
          </a:ln>
        </p:spPr>
        <p:txBody>
          <a:bodyPr anchorCtr="0" anchor="t" bIns="243800" lIns="243800" spcFirstLastPara="1" rIns="243800" wrap="square" tIns="243800">
            <a:normAutofit/>
          </a:bodyPr>
          <a:lstStyle>
            <a:lvl1pPr indent="-533400" lvl="0" marL="457200" algn="l">
              <a:lnSpc>
                <a:spcPct val="115000"/>
              </a:lnSpc>
              <a:spcBef>
                <a:spcPts val="0"/>
              </a:spcBef>
              <a:spcAft>
                <a:spcPts val="0"/>
              </a:spcAft>
              <a:buSzPts val="4800"/>
              <a:buChar char="●"/>
              <a:defRPr/>
            </a:lvl1pPr>
            <a:lvl2pPr indent="-463550" lvl="1" marL="914400" algn="l">
              <a:lnSpc>
                <a:spcPct val="115000"/>
              </a:lnSpc>
              <a:spcBef>
                <a:spcPts val="0"/>
              </a:spcBef>
              <a:spcAft>
                <a:spcPts val="0"/>
              </a:spcAft>
              <a:buSzPts val="3700"/>
              <a:buChar char="○"/>
              <a:defRPr/>
            </a:lvl2pPr>
            <a:lvl3pPr indent="-463550" lvl="2" marL="1371600" algn="l">
              <a:lnSpc>
                <a:spcPct val="115000"/>
              </a:lnSpc>
              <a:spcBef>
                <a:spcPts val="0"/>
              </a:spcBef>
              <a:spcAft>
                <a:spcPts val="0"/>
              </a:spcAft>
              <a:buSzPts val="3700"/>
              <a:buChar char="■"/>
              <a:defRPr/>
            </a:lvl3pPr>
            <a:lvl4pPr indent="-463550" lvl="3" marL="1828800" algn="l">
              <a:lnSpc>
                <a:spcPct val="115000"/>
              </a:lnSpc>
              <a:spcBef>
                <a:spcPts val="0"/>
              </a:spcBef>
              <a:spcAft>
                <a:spcPts val="0"/>
              </a:spcAft>
              <a:buSzPts val="3700"/>
              <a:buChar char="●"/>
              <a:defRPr/>
            </a:lvl4pPr>
            <a:lvl5pPr indent="-463550" lvl="4" marL="2286000" algn="l">
              <a:lnSpc>
                <a:spcPct val="115000"/>
              </a:lnSpc>
              <a:spcBef>
                <a:spcPts val="0"/>
              </a:spcBef>
              <a:spcAft>
                <a:spcPts val="0"/>
              </a:spcAft>
              <a:buSzPts val="3700"/>
              <a:buChar char="○"/>
              <a:defRPr/>
            </a:lvl5pPr>
            <a:lvl6pPr indent="-463550" lvl="5" marL="2743200" algn="l">
              <a:lnSpc>
                <a:spcPct val="115000"/>
              </a:lnSpc>
              <a:spcBef>
                <a:spcPts val="0"/>
              </a:spcBef>
              <a:spcAft>
                <a:spcPts val="0"/>
              </a:spcAft>
              <a:buSzPts val="3700"/>
              <a:buChar char="■"/>
              <a:defRPr/>
            </a:lvl6pPr>
            <a:lvl7pPr indent="-463550" lvl="6" marL="3200400" algn="l">
              <a:lnSpc>
                <a:spcPct val="115000"/>
              </a:lnSpc>
              <a:spcBef>
                <a:spcPts val="0"/>
              </a:spcBef>
              <a:spcAft>
                <a:spcPts val="0"/>
              </a:spcAft>
              <a:buSzPts val="3700"/>
              <a:buChar char="●"/>
              <a:defRPr/>
            </a:lvl7pPr>
            <a:lvl8pPr indent="-463550" lvl="7" marL="3657600" algn="l">
              <a:lnSpc>
                <a:spcPct val="115000"/>
              </a:lnSpc>
              <a:spcBef>
                <a:spcPts val="0"/>
              </a:spcBef>
              <a:spcAft>
                <a:spcPts val="0"/>
              </a:spcAft>
              <a:buSzPts val="3700"/>
              <a:buChar char="○"/>
              <a:defRPr/>
            </a:lvl8pPr>
            <a:lvl9pPr indent="-463550" lvl="8" marL="4114800" algn="l">
              <a:lnSpc>
                <a:spcPct val="115000"/>
              </a:lnSpc>
              <a:spcBef>
                <a:spcPts val="0"/>
              </a:spcBef>
              <a:spcAft>
                <a:spcPts val="0"/>
              </a:spcAft>
              <a:buSzPts val="3700"/>
              <a:buChar char="■"/>
              <a:defRPr/>
            </a:lvl9pPr>
          </a:lstStyle>
          <a:p/>
        </p:txBody>
      </p:sp>
      <p:sp>
        <p:nvSpPr>
          <p:cNvPr id="23" name="Google Shape;23;p4"/>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
          <p:cNvSpPr txBox="1"/>
          <p:nvPr>
            <p:ph type="title"/>
          </p:nvPr>
        </p:nvSpPr>
        <p:spPr>
          <a:xfrm>
            <a:off x="174200" y="144133"/>
            <a:ext cx="23016900" cy="1527300"/>
          </a:xfrm>
          <a:prstGeom prst="rect">
            <a:avLst/>
          </a:prstGeom>
          <a:noFill/>
          <a:ln>
            <a:noFill/>
          </a:ln>
        </p:spPr>
        <p:txBody>
          <a:bodyPr anchorCtr="0" anchor="t" bIns="243800" lIns="243800" spcFirstLastPara="1" rIns="243800" wrap="square" tIns="24380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p:txBody>
      </p:sp>
      <p:sp>
        <p:nvSpPr>
          <p:cNvPr id="26" name="Google Shape;26;p5"/>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7"/>
          <p:cNvSpPr txBox="1"/>
          <p:nvPr>
            <p:ph type="title"/>
          </p:nvPr>
        </p:nvSpPr>
        <p:spPr>
          <a:xfrm>
            <a:off x="174200" y="144133"/>
            <a:ext cx="23016900" cy="1527300"/>
          </a:xfrm>
          <a:prstGeom prst="rect">
            <a:avLst/>
          </a:prstGeom>
          <a:noFill/>
          <a:ln>
            <a:noFill/>
          </a:ln>
        </p:spPr>
        <p:txBody>
          <a:bodyPr anchorCtr="0" anchor="t" bIns="243800" lIns="243800" spcFirstLastPara="1" rIns="243800" wrap="square" tIns="24380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p:txBody>
      </p:sp>
      <p:sp>
        <p:nvSpPr>
          <p:cNvPr id="31" name="Google Shape;31;p7"/>
          <p:cNvSpPr txBox="1"/>
          <p:nvPr>
            <p:ph idx="1" type="body"/>
          </p:nvPr>
        </p:nvSpPr>
        <p:spPr>
          <a:xfrm>
            <a:off x="831200" y="3073267"/>
            <a:ext cx="10666500" cy="10143300"/>
          </a:xfrm>
          <a:prstGeom prst="rect">
            <a:avLst/>
          </a:prstGeom>
          <a:noFill/>
          <a:ln>
            <a:noFill/>
          </a:ln>
        </p:spPr>
        <p:txBody>
          <a:bodyPr anchorCtr="0" anchor="t" bIns="243800" lIns="243800" spcFirstLastPara="1" rIns="243800" wrap="square" tIns="243800">
            <a:normAutofit/>
          </a:bodyPr>
          <a:lstStyle>
            <a:lvl1pPr indent="-463550" lvl="0" marL="457200" algn="l">
              <a:lnSpc>
                <a:spcPct val="115000"/>
              </a:lnSpc>
              <a:spcBef>
                <a:spcPts val="0"/>
              </a:spcBef>
              <a:spcAft>
                <a:spcPts val="0"/>
              </a:spcAft>
              <a:buSzPts val="3700"/>
              <a:buChar char="●"/>
              <a:defRPr sz="3700"/>
            </a:lvl1pPr>
            <a:lvl2pPr indent="-431800" lvl="1" marL="914400" algn="l">
              <a:lnSpc>
                <a:spcPct val="115000"/>
              </a:lnSpc>
              <a:spcBef>
                <a:spcPts val="0"/>
              </a:spcBef>
              <a:spcAft>
                <a:spcPts val="0"/>
              </a:spcAft>
              <a:buSzPts val="3200"/>
              <a:buChar char="○"/>
              <a:defRPr sz="3200"/>
            </a:lvl2pPr>
            <a:lvl3pPr indent="-431800" lvl="2" marL="1371600" algn="l">
              <a:lnSpc>
                <a:spcPct val="115000"/>
              </a:lnSpc>
              <a:spcBef>
                <a:spcPts val="0"/>
              </a:spcBef>
              <a:spcAft>
                <a:spcPts val="0"/>
              </a:spcAft>
              <a:buSzPts val="3200"/>
              <a:buChar char="■"/>
              <a:defRPr sz="3200"/>
            </a:lvl3pPr>
            <a:lvl4pPr indent="-431800" lvl="3" marL="1828800" algn="l">
              <a:lnSpc>
                <a:spcPct val="115000"/>
              </a:lnSpc>
              <a:spcBef>
                <a:spcPts val="0"/>
              </a:spcBef>
              <a:spcAft>
                <a:spcPts val="0"/>
              </a:spcAft>
              <a:buSzPts val="3200"/>
              <a:buChar char="●"/>
              <a:defRPr sz="3200"/>
            </a:lvl4pPr>
            <a:lvl5pPr indent="-431800" lvl="4" marL="2286000" algn="l">
              <a:lnSpc>
                <a:spcPct val="115000"/>
              </a:lnSpc>
              <a:spcBef>
                <a:spcPts val="0"/>
              </a:spcBef>
              <a:spcAft>
                <a:spcPts val="0"/>
              </a:spcAft>
              <a:buSzPts val="3200"/>
              <a:buChar char="○"/>
              <a:defRPr sz="3200"/>
            </a:lvl5pPr>
            <a:lvl6pPr indent="-431800" lvl="5" marL="2743200" algn="l">
              <a:lnSpc>
                <a:spcPct val="115000"/>
              </a:lnSpc>
              <a:spcBef>
                <a:spcPts val="0"/>
              </a:spcBef>
              <a:spcAft>
                <a:spcPts val="0"/>
              </a:spcAft>
              <a:buSzPts val="3200"/>
              <a:buChar char="■"/>
              <a:defRPr sz="3200"/>
            </a:lvl6pPr>
            <a:lvl7pPr indent="-431800" lvl="6" marL="3200400" algn="l">
              <a:lnSpc>
                <a:spcPct val="115000"/>
              </a:lnSpc>
              <a:spcBef>
                <a:spcPts val="0"/>
              </a:spcBef>
              <a:spcAft>
                <a:spcPts val="0"/>
              </a:spcAft>
              <a:buSzPts val="3200"/>
              <a:buChar char="●"/>
              <a:defRPr sz="3200"/>
            </a:lvl7pPr>
            <a:lvl8pPr indent="-431800" lvl="7" marL="3657600" algn="l">
              <a:lnSpc>
                <a:spcPct val="115000"/>
              </a:lnSpc>
              <a:spcBef>
                <a:spcPts val="0"/>
              </a:spcBef>
              <a:spcAft>
                <a:spcPts val="0"/>
              </a:spcAft>
              <a:buSzPts val="3200"/>
              <a:buChar char="○"/>
              <a:defRPr sz="3200"/>
            </a:lvl8pPr>
            <a:lvl9pPr indent="-431800" lvl="8" marL="4114800" algn="l">
              <a:lnSpc>
                <a:spcPct val="115000"/>
              </a:lnSpc>
              <a:spcBef>
                <a:spcPts val="0"/>
              </a:spcBef>
              <a:spcAft>
                <a:spcPts val="0"/>
              </a:spcAft>
              <a:buSzPts val="3200"/>
              <a:buChar char="■"/>
              <a:defRPr sz="3200"/>
            </a:lvl9pPr>
          </a:lstStyle>
          <a:p/>
        </p:txBody>
      </p:sp>
      <p:sp>
        <p:nvSpPr>
          <p:cNvPr id="32" name="Google Shape;32;p7"/>
          <p:cNvSpPr txBox="1"/>
          <p:nvPr>
            <p:ph idx="2" type="body"/>
          </p:nvPr>
        </p:nvSpPr>
        <p:spPr>
          <a:xfrm>
            <a:off x="12886400" y="3073267"/>
            <a:ext cx="10666500" cy="10143300"/>
          </a:xfrm>
          <a:prstGeom prst="rect">
            <a:avLst/>
          </a:prstGeom>
          <a:noFill/>
          <a:ln>
            <a:noFill/>
          </a:ln>
        </p:spPr>
        <p:txBody>
          <a:bodyPr anchorCtr="0" anchor="t" bIns="243800" lIns="243800" spcFirstLastPara="1" rIns="243800" wrap="square" tIns="243800">
            <a:normAutofit/>
          </a:bodyPr>
          <a:lstStyle>
            <a:lvl1pPr indent="-463550" lvl="0" marL="457200" algn="l">
              <a:lnSpc>
                <a:spcPct val="115000"/>
              </a:lnSpc>
              <a:spcBef>
                <a:spcPts val="0"/>
              </a:spcBef>
              <a:spcAft>
                <a:spcPts val="0"/>
              </a:spcAft>
              <a:buSzPts val="3700"/>
              <a:buChar char="●"/>
              <a:defRPr sz="3700"/>
            </a:lvl1pPr>
            <a:lvl2pPr indent="-431800" lvl="1" marL="914400" algn="l">
              <a:lnSpc>
                <a:spcPct val="115000"/>
              </a:lnSpc>
              <a:spcBef>
                <a:spcPts val="0"/>
              </a:spcBef>
              <a:spcAft>
                <a:spcPts val="0"/>
              </a:spcAft>
              <a:buSzPts val="3200"/>
              <a:buChar char="○"/>
              <a:defRPr sz="3200"/>
            </a:lvl2pPr>
            <a:lvl3pPr indent="-431800" lvl="2" marL="1371600" algn="l">
              <a:lnSpc>
                <a:spcPct val="115000"/>
              </a:lnSpc>
              <a:spcBef>
                <a:spcPts val="0"/>
              </a:spcBef>
              <a:spcAft>
                <a:spcPts val="0"/>
              </a:spcAft>
              <a:buSzPts val="3200"/>
              <a:buChar char="■"/>
              <a:defRPr sz="3200"/>
            </a:lvl3pPr>
            <a:lvl4pPr indent="-431800" lvl="3" marL="1828800" algn="l">
              <a:lnSpc>
                <a:spcPct val="115000"/>
              </a:lnSpc>
              <a:spcBef>
                <a:spcPts val="0"/>
              </a:spcBef>
              <a:spcAft>
                <a:spcPts val="0"/>
              </a:spcAft>
              <a:buSzPts val="3200"/>
              <a:buChar char="●"/>
              <a:defRPr sz="3200"/>
            </a:lvl4pPr>
            <a:lvl5pPr indent="-431800" lvl="4" marL="2286000" algn="l">
              <a:lnSpc>
                <a:spcPct val="115000"/>
              </a:lnSpc>
              <a:spcBef>
                <a:spcPts val="0"/>
              </a:spcBef>
              <a:spcAft>
                <a:spcPts val="0"/>
              </a:spcAft>
              <a:buSzPts val="3200"/>
              <a:buChar char="○"/>
              <a:defRPr sz="3200"/>
            </a:lvl5pPr>
            <a:lvl6pPr indent="-431800" lvl="5" marL="2743200" algn="l">
              <a:lnSpc>
                <a:spcPct val="115000"/>
              </a:lnSpc>
              <a:spcBef>
                <a:spcPts val="0"/>
              </a:spcBef>
              <a:spcAft>
                <a:spcPts val="0"/>
              </a:spcAft>
              <a:buSzPts val="3200"/>
              <a:buChar char="■"/>
              <a:defRPr sz="3200"/>
            </a:lvl6pPr>
            <a:lvl7pPr indent="-431800" lvl="6" marL="3200400" algn="l">
              <a:lnSpc>
                <a:spcPct val="115000"/>
              </a:lnSpc>
              <a:spcBef>
                <a:spcPts val="0"/>
              </a:spcBef>
              <a:spcAft>
                <a:spcPts val="0"/>
              </a:spcAft>
              <a:buSzPts val="3200"/>
              <a:buChar char="●"/>
              <a:defRPr sz="3200"/>
            </a:lvl7pPr>
            <a:lvl8pPr indent="-431800" lvl="7" marL="3657600" algn="l">
              <a:lnSpc>
                <a:spcPct val="115000"/>
              </a:lnSpc>
              <a:spcBef>
                <a:spcPts val="0"/>
              </a:spcBef>
              <a:spcAft>
                <a:spcPts val="0"/>
              </a:spcAft>
              <a:buSzPts val="3200"/>
              <a:buChar char="○"/>
              <a:defRPr sz="3200"/>
            </a:lvl8pPr>
            <a:lvl9pPr indent="-431800" lvl="8" marL="4114800" algn="l">
              <a:lnSpc>
                <a:spcPct val="115000"/>
              </a:lnSpc>
              <a:spcBef>
                <a:spcPts val="0"/>
              </a:spcBef>
              <a:spcAft>
                <a:spcPts val="0"/>
              </a:spcAft>
              <a:buSzPts val="3200"/>
              <a:buChar char="■"/>
              <a:defRPr sz="3200"/>
            </a:lvl9pPr>
          </a:lstStyle>
          <a:p/>
        </p:txBody>
      </p:sp>
      <p:sp>
        <p:nvSpPr>
          <p:cNvPr id="33" name="Google Shape;33;p7"/>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1307333" y="1200400"/>
            <a:ext cx="16980900" cy="10908900"/>
          </a:xfrm>
          <a:prstGeom prst="rect">
            <a:avLst/>
          </a:prstGeom>
          <a:noFill/>
          <a:ln>
            <a:noFill/>
          </a:ln>
        </p:spPr>
        <p:txBody>
          <a:bodyPr anchorCtr="0" anchor="ctr" bIns="243800" lIns="243800" spcFirstLastPara="1" rIns="243800" wrap="square" tIns="243800">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p:txBody>
      </p:sp>
      <p:sp>
        <p:nvSpPr>
          <p:cNvPr id="36" name="Google Shape;36;p8"/>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12192000" y="-333"/>
            <a:ext cx="12192000" cy="13716000"/>
          </a:xfrm>
          <a:prstGeom prst="rect">
            <a:avLst/>
          </a:prstGeom>
          <a:solidFill>
            <a:schemeClr val="lt2"/>
          </a:solidFill>
          <a:ln>
            <a:noFill/>
          </a:ln>
        </p:spPr>
        <p:txBody>
          <a:bodyPr anchorCtr="0" anchor="ctr" bIns="243800" lIns="243800" spcFirstLastPara="1" rIns="243800" wrap="square" tIns="243800">
            <a:noAutofit/>
          </a:bodyPr>
          <a:lstStyle/>
          <a:p>
            <a:pPr indent="0" lvl="0" marL="0" marR="0" rtl="0" algn="l">
              <a:lnSpc>
                <a:spcPct val="100000"/>
              </a:lnSpc>
              <a:spcBef>
                <a:spcPts val="0"/>
              </a:spcBef>
              <a:spcAft>
                <a:spcPts val="0"/>
              </a:spcAft>
              <a:buClr>
                <a:srgbClr val="000000"/>
              </a:buClr>
              <a:buSzPts val="3700"/>
              <a:buFont typeface="Arial"/>
              <a:buNone/>
            </a:pPr>
            <a:r>
              <a:t/>
            </a:r>
            <a:endParaRPr b="0" i="0" sz="3700" u="none" cap="none" strike="noStrike">
              <a:solidFill>
                <a:srgbClr val="000000"/>
              </a:solidFill>
              <a:latin typeface="Arial"/>
              <a:ea typeface="Arial"/>
              <a:cs typeface="Arial"/>
              <a:sym typeface="Arial"/>
            </a:endParaRPr>
          </a:p>
        </p:txBody>
      </p:sp>
      <p:sp>
        <p:nvSpPr>
          <p:cNvPr id="39" name="Google Shape;39;p9"/>
          <p:cNvSpPr txBox="1"/>
          <p:nvPr>
            <p:ph type="title"/>
          </p:nvPr>
        </p:nvSpPr>
        <p:spPr>
          <a:xfrm>
            <a:off x="708000" y="3288467"/>
            <a:ext cx="10787100" cy="3952800"/>
          </a:xfrm>
          <a:prstGeom prst="rect">
            <a:avLst/>
          </a:prstGeom>
          <a:noFill/>
          <a:ln>
            <a:noFill/>
          </a:ln>
        </p:spPr>
        <p:txBody>
          <a:bodyPr anchorCtr="0" anchor="b" bIns="243800" lIns="243800" spcFirstLastPara="1" rIns="243800" wrap="square" tIns="2438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40" name="Google Shape;40;p9"/>
          <p:cNvSpPr txBox="1"/>
          <p:nvPr>
            <p:ph idx="1" type="subTitle"/>
          </p:nvPr>
        </p:nvSpPr>
        <p:spPr>
          <a:xfrm>
            <a:off x="708000" y="7474867"/>
            <a:ext cx="10787100" cy="3293700"/>
          </a:xfrm>
          <a:prstGeom prst="rect">
            <a:avLst/>
          </a:prstGeom>
          <a:noFill/>
          <a:ln>
            <a:noFill/>
          </a:ln>
        </p:spPr>
        <p:txBody>
          <a:bodyPr anchorCtr="0" anchor="t" bIns="243800" lIns="243800" spcFirstLastPara="1" rIns="243800" wrap="square" tIns="2438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1" name="Google Shape;41;p9"/>
          <p:cNvSpPr txBox="1"/>
          <p:nvPr>
            <p:ph idx="2" type="body"/>
          </p:nvPr>
        </p:nvSpPr>
        <p:spPr>
          <a:xfrm>
            <a:off x="13172000" y="1930867"/>
            <a:ext cx="10232100" cy="9853500"/>
          </a:xfrm>
          <a:prstGeom prst="rect">
            <a:avLst/>
          </a:prstGeom>
          <a:noFill/>
          <a:ln>
            <a:noFill/>
          </a:ln>
        </p:spPr>
        <p:txBody>
          <a:bodyPr anchorCtr="0" anchor="ctr" bIns="243800" lIns="243800" spcFirstLastPara="1" rIns="243800" wrap="square" tIns="243800">
            <a:normAutofit/>
          </a:bodyPr>
          <a:lstStyle>
            <a:lvl1pPr indent="-533400" lvl="0" marL="457200" algn="l">
              <a:lnSpc>
                <a:spcPct val="115000"/>
              </a:lnSpc>
              <a:spcBef>
                <a:spcPts val="0"/>
              </a:spcBef>
              <a:spcAft>
                <a:spcPts val="0"/>
              </a:spcAft>
              <a:buSzPts val="4800"/>
              <a:buChar char="●"/>
              <a:defRPr/>
            </a:lvl1pPr>
            <a:lvl2pPr indent="-463550" lvl="1" marL="914400" algn="l">
              <a:lnSpc>
                <a:spcPct val="115000"/>
              </a:lnSpc>
              <a:spcBef>
                <a:spcPts val="0"/>
              </a:spcBef>
              <a:spcAft>
                <a:spcPts val="0"/>
              </a:spcAft>
              <a:buSzPts val="3700"/>
              <a:buChar char="○"/>
              <a:defRPr/>
            </a:lvl2pPr>
            <a:lvl3pPr indent="-463550" lvl="2" marL="1371600" algn="l">
              <a:lnSpc>
                <a:spcPct val="115000"/>
              </a:lnSpc>
              <a:spcBef>
                <a:spcPts val="0"/>
              </a:spcBef>
              <a:spcAft>
                <a:spcPts val="0"/>
              </a:spcAft>
              <a:buSzPts val="3700"/>
              <a:buChar char="■"/>
              <a:defRPr/>
            </a:lvl3pPr>
            <a:lvl4pPr indent="-463550" lvl="3" marL="1828800" algn="l">
              <a:lnSpc>
                <a:spcPct val="115000"/>
              </a:lnSpc>
              <a:spcBef>
                <a:spcPts val="0"/>
              </a:spcBef>
              <a:spcAft>
                <a:spcPts val="0"/>
              </a:spcAft>
              <a:buSzPts val="3700"/>
              <a:buChar char="●"/>
              <a:defRPr/>
            </a:lvl4pPr>
            <a:lvl5pPr indent="-463550" lvl="4" marL="2286000" algn="l">
              <a:lnSpc>
                <a:spcPct val="115000"/>
              </a:lnSpc>
              <a:spcBef>
                <a:spcPts val="0"/>
              </a:spcBef>
              <a:spcAft>
                <a:spcPts val="0"/>
              </a:spcAft>
              <a:buSzPts val="3700"/>
              <a:buChar char="○"/>
              <a:defRPr/>
            </a:lvl5pPr>
            <a:lvl6pPr indent="-463550" lvl="5" marL="2743200" algn="l">
              <a:lnSpc>
                <a:spcPct val="115000"/>
              </a:lnSpc>
              <a:spcBef>
                <a:spcPts val="0"/>
              </a:spcBef>
              <a:spcAft>
                <a:spcPts val="0"/>
              </a:spcAft>
              <a:buSzPts val="3700"/>
              <a:buChar char="■"/>
              <a:defRPr/>
            </a:lvl6pPr>
            <a:lvl7pPr indent="-463550" lvl="6" marL="3200400" algn="l">
              <a:lnSpc>
                <a:spcPct val="115000"/>
              </a:lnSpc>
              <a:spcBef>
                <a:spcPts val="0"/>
              </a:spcBef>
              <a:spcAft>
                <a:spcPts val="0"/>
              </a:spcAft>
              <a:buSzPts val="3700"/>
              <a:buChar char="●"/>
              <a:defRPr/>
            </a:lvl7pPr>
            <a:lvl8pPr indent="-463550" lvl="7" marL="3657600" algn="l">
              <a:lnSpc>
                <a:spcPct val="115000"/>
              </a:lnSpc>
              <a:spcBef>
                <a:spcPts val="0"/>
              </a:spcBef>
              <a:spcAft>
                <a:spcPts val="0"/>
              </a:spcAft>
              <a:buSzPts val="3700"/>
              <a:buChar char="○"/>
              <a:defRPr/>
            </a:lvl8pPr>
            <a:lvl9pPr indent="-463550" lvl="8" marL="4114800" algn="l">
              <a:lnSpc>
                <a:spcPct val="115000"/>
              </a:lnSpc>
              <a:spcBef>
                <a:spcPts val="0"/>
              </a:spcBef>
              <a:spcAft>
                <a:spcPts val="0"/>
              </a:spcAft>
              <a:buSzPts val="3700"/>
              <a:buChar char="■"/>
              <a:defRPr/>
            </a:lvl9pPr>
          </a:lstStyle>
          <a:p/>
        </p:txBody>
      </p:sp>
      <p:sp>
        <p:nvSpPr>
          <p:cNvPr id="42" name="Google Shape;42;p9"/>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4193550" y="11871242"/>
            <a:ext cx="15996900" cy="1613700"/>
          </a:xfrm>
          <a:prstGeom prst="rect">
            <a:avLst/>
          </a:prstGeom>
          <a:noFill/>
          <a:ln>
            <a:noFill/>
          </a:ln>
        </p:spPr>
        <p:txBody>
          <a:bodyPr anchorCtr="0" anchor="ctr" bIns="243800" lIns="243800" spcFirstLastPara="1" rIns="243800" wrap="square" tIns="243800">
            <a:normAutofit/>
          </a:bodyPr>
          <a:lstStyle>
            <a:lvl1pPr indent="-228600" lvl="0" marL="457200" algn="ctr">
              <a:lnSpc>
                <a:spcPct val="100000"/>
              </a:lnSpc>
              <a:spcBef>
                <a:spcPts val="0"/>
              </a:spcBef>
              <a:spcAft>
                <a:spcPts val="0"/>
              </a:spcAft>
              <a:buSzPts val="4800"/>
              <a:buNone/>
              <a:defRPr/>
            </a:lvl1pPr>
          </a:lstStyle>
          <a:p/>
        </p:txBody>
      </p:sp>
      <p:sp>
        <p:nvSpPr>
          <p:cNvPr id="45" name="Google Shape;45;p10"/>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831200" y="2949667"/>
            <a:ext cx="22721700" cy="5235900"/>
          </a:xfrm>
          <a:prstGeom prst="rect">
            <a:avLst/>
          </a:prstGeom>
          <a:noFill/>
          <a:ln>
            <a:noFill/>
          </a:ln>
        </p:spPr>
        <p:txBody>
          <a:bodyPr anchorCtr="0" anchor="b" bIns="243800" lIns="243800" spcFirstLastPara="1" rIns="243800" wrap="square" tIns="243800">
            <a:normAutofit/>
          </a:bodyPr>
          <a:lstStyle>
            <a:lvl1pPr lvl="0" algn="ctr">
              <a:lnSpc>
                <a:spcPct val="100000"/>
              </a:lnSpc>
              <a:spcBef>
                <a:spcPts val="0"/>
              </a:spcBef>
              <a:spcAft>
                <a:spcPts val="0"/>
              </a:spcAft>
              <a:buSzPts val="32000"/>
              <a:buNone/>
              <a:defRPr sz="32000"/>
            </a:lvl1pPr>
            <a:lvl2pPr lvl="1" algn="ctr">
              <a:lnSpc>
                <a:spcPct val="100000"/>
              </a:lnSpc>
              <a:spcBef>
                <a:spcPts val="0"/>
              </a:spcBef>
              <a:spcAft>
                <a:spcPts val="0"/>
              </a:spcAft>
              <a:buSzPts val="32000"/>
              <a:buNone/>
              <a:defRPr sz="32000"/>
            </a:lvl2pPr>
            <a:lvl3pPr lvl="2" algn="ctr">
              <a:lnSpc>
                <a:spcPct val="100000"/>
              </a:lnSpc>
              <a:spcBef>
                <a:spcPts val="0"/>
              </a:spcBef>
              <a:spcAft>
                <a:spcPts val="0"/>
              </a:spcAft>
              <a:buSzPts val="32000"/>
              <a:buNone/>
              <a:defRPr sz="32000"/>
            </a:lvl3pPr>
            <a:lvl4pPr lvl="3" algn="ctr">
              <a:lnSpc>
                <a:spcPct val="100000"/>
              </a:lnSpc>
              <a:spcBef>
                <a:spcPts val="0"/>
              </a:spcBef>
              <a:spcAft>
                <a:spcPts val="0"/>
              </a:spcAft>
              <a:buSzPts val="32000"/>
              <a:buNone/>
              <a:defRPr sz="32000"/>
            </a:lvl4pPr>
            <a:lvl5pPr lvl="4" algn="ctr">
              <a:lnSpc>
                <a:spcPct val="100000"/>
              </a:lnSpc>
              <a:spcBef>
                <a:spcPts val="0"/>
              </a:spcBef>
              <a:spcAft>
                <a:spcPts val="0"/>
              </a:spcAft>
              <a:buSzPts val="32000"/>
              <a:buNone/>
              <a:defRPr sz="32000"/>
            </a:lvl5pPr>
            <a:lvl6pPr lvl="5" algn="ctr">
              <a:lnSpc>
                <a:spcPct val="100000"/>
              </a:lnSpc>
              <a:spcBef>
                <a:spcPts val="0"/>
              </a:spcBef>
              <a:spcAft>
                <a:spcPts val="0"/>
              </a:spcAft>
              <a:buSzPts val="32000"/>
              <a:buNone/>
              <a:defRPr sz="32000"/>
            </a:lvl6pPr>
            <a:lvl7pPr lvl="6" algn="ctr">
              <a:lnSpc>
                <a:spcPct val="100000"/>
              </a:lnSpc>
              <a:spcBef>
                <a:spcPts val="0"/>
              </a:spcBef>
              <a:spcAft>
                <a:spcPts val="0"/>
              </a:spcAft>
              <a:buSzPts val="32000"/>
              <a:buNone/>
              <a:defRPr sz="32000"/>
            </a:lvl7pPr>
            <a:lvl8pPr lvl="7" algn="ctr">
              <a:lnSpc>
                <a:spcPct val="100000"/>
              </a:lnSpc>
              <a:spcBef>
                <a:spcPts val="0"/>
              </a:spcBef>
              <a:spcAft>
                <a:spcPts val="0"/>
              </a:spcAft>
              <a:buSzPts val="32000"/>
              <a:buNone/>
              <a:defRPr sz="32000"/>
            </a:lvl8pPr>
            <a:lvl9pPr lvl="8" algn="ctr">
              <a:lnSpc>
                <a:spcPct val="100000"/>
              </a:lnSpc>
              <a:spcBef>
                <a:spcPts val="0"/>
              </a:spcBef>
              <a:spcAft>
                <a:spcPts val="0"/>
              </a:spcAft>
              <a:buSzPts val="32000"/>
              <a:buNone/>
              <a:defRPr sz="32000"/>
            </a:lvl9pPr>
          </a:lstStyle>
          <a:p>
            <a:r>
              <a:t>xx%</a:t>
            </a:r>
          </a:p>
        </p:txBody>
      </p:sp>
      <p:sp>
        <p:nvSpPr>
          <p:cNvPr id="48" name="Google Shape;48;p11"/>
          <p:cNvSpPr txBox="1"/>
          <p:nvPr>
            <p:ph idx="1" type="body"/>
          </p:nvPr>
        </p:nvSpPr>
        <p:spPr>
          <a:xfrm>
            <a:off x="831200" y="8405933"/>
            <a:ext cx="22721700" cy="3468900"/>
          </a:xfrm>
          <a:prstGeom prst="rect">
            <a:avLst/>
          </a:prstGeom>
          <a:noFill/>
          <a:ln>
            <a:noFill/>
          </a:ln>
        </p:spPr>
        <p:txBody>
          <a:bodyPr anchorCtr="0" anchor="t" bIns="243800" lIns="243800" spcFirstLastPara="1" rIns="243800" wrap="square" tIns="243800">
            <a:normAutofit/>
          </a:bodyPr>
          <a:lstStyle>
            <a:lvl1pPr indent="-533400" lvl="0" marL="457200" algn="ctr">
              <a:lnSpc>
                <a:spcPct val="115000"/>
              </a:lnSpc>
              <a:spcBef>
                <a:spcPts val="0"/>
              </a:spcBef>
              <a:spcAft>
                <a:spcPts val="0"/>
              </a:spcAft>
              <a:buSzPts val="4800"/>
              <a:buChar char="●"/>
              <a:defRPr/>
            </a:lvl1pPr>
            <a:lvl2pPr indent="-463550" lvl="1" marL="914400" algn="ctr">
              <a:lnSpc>
                <a:spcPct val="115000"/>
              </a:lnSpc>
              <a:spcBef>
                <a:spcPts val="0"/>
              </a:spcBef>
              <a:spcAft>
                <a:spcPts val="0"/>
              </a:spcAft>
              <a:buSzPts val="3700"/>
              <a:buChar char="○"/>
              <a:defRPr/>
            </a:lvl2pPr>
            <a:lvl3pPr indent="-463550" lvl="2" marL="1371600" algn="ctr">
              <a:lnSpc>
                <a:spcPct val="115000"/>
              </a:lnSpc>
              <a:spcBef>
                <a:spcPts val="0"/>
              </a:spcBef>
              <a:spcAft>
                <a:spcPts val="0"/>
              </a:spcAft>
              <a:buSzPts val="3700"/>
              <a:buChar char="■"/>
              <a:defRPr/>
            </a:lvl3pPr>
            <a:lvl4pPr indent="-463550" lvl="3" marL="1828800" algn="ctr">
              <a:lnSpc>
                <a:spcPct val="115000"/>
              </a:lnSpc>
              <a:spcBef>
                <a:spcPts val="0"/>
              </a:spcBef>
              <a:spcAft>
                <a:spcPts val="0"/>
              </a:spcAft>
              <a:buSzPts val="3700"/>
              <a:buChar char="●"/>
              <a:defRPr/>
            </a:lvl4pPr>
            <a:lvl5pPr indent="-463550" lvl="4" marL="2286000" algn="ctr">
              <a:lnSpc>
                <a:spcPct val="115000"/>
              </a:lnSpc>
              <a:spcBef>
                <a:spcPts val="0"/>
              </a:spcBef>
              <a:spcAft>
                <a:spcPts val="0"/>
              </a:spcAft>
              <a:buSzPts val="3700"/>
              <a:buChar char="○"/>
              <a:defRPr/>
            </a:lvl5pPr>
            <a:lvl6pPr indent="-463550" lvl="5" marL="2743200" algn="ctr">
              <a:lnSpc>
                <a:spcPct val="115000"/>
              </a:lnSpc>
              <a:spcBef>
                <a:spcPts val="0"/>
              </a:spcBef>
              <a:spcAft>
                <a:spcPts val="0"/>
              </a:spcAft>
              <a:buSzPts val="3700"/>
              <a:buChar char="■"/>
              <a:defRPr/>
            </a:lvl6pPr>
            <a:lvl7pPr indent="-463550" lvl="6" marL="3200400" algn="ctr">
              <a:lnSpc>
                <a:spcPct val="115000"/>
              </a:lnSpc>
              <a:spcBef>
                <a:spcPts val="0"/>
              </a:spcBef>
              <a:spcAft>
                <a:spcPts val="0"/>
              </a:spcAft>
              <a:buSzPts val="3700"/>
              <a:buChar char="●"/>
              <a:defRPr/>
            </a:lvl7pPr>
            <a:lvl8pPr indent="-463550" lvl="7" marL="3657600" algn="ctr">
              <a:lnSpc>
                <a:spcPct val="115000"/>
              </a:lnSpc>
              <a:spcBef>
                <a:spcPts val="0"/>
              </a:spcBef>
              <a:spcAft>
                <a:spcPts val="0"/>
              </a:spcAft>
              <a:buSzPts val="3700"/>
              <a:buChar char="○"/>
              <a:defRPr/>
            </a:lvl8pPr>
            <a:lvl9pPr indent="-463550" lvl="8" marL="4114800" algn="ctr">
              <a:lnSpc>
                <a:spcPct val="115000"/>
              </a:lnSpc>
              <a:spcBef>
                <a:spcPts val="0"/>
              </a:spcBef>
              <a:spcAft>
                <a:spcPts val="0"/>
              </a:spcAft>
              <a:buSzPts val="3700"/>
              <a:buChar char="■"/>
              <a:defRPr/>
            </a:lvl9pPr>
          </a:lstStyle>
          <a:p/>
        </p:txBody>
      </p:sp>
      <p:sp>
        <p:nvSpPr>
          <p:cNvPr id="49" name="Google Shape;49;p11"/>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2"/>
          <p:cNvSpPr txBox="1"/>
          <p:nvPr>
            <p:ph type="ctrTitle"/>
          </p:nvPr>
        </p:nvSpPr>
        <p:spPr>
          <a:xfrm>
            <a:off x="831222" y="1985533"/>
            <a:ext cx="22721700" cy="5473500"/>
          </a:xfrm>
          <a:prstGeom prst="rect">
            <a:avLst/>
          </a:prstGeom>
        </p:spPr>
        <p:txBody>
          <a:bodyPr anchorCtr="0" anchor="b" bIns="243800" lIns="243800" spcFirstLastPara="1" rIns="243800" wrap="square" tIns="243800">
            <a:normAutofit/>
          </a:bodyPr>
          <a:lstStyle>
            <a:lvl1pPr lvl="0" algn="ctr">
              <a:spcBef>
                <a:spcPts val="0"/>
              </a:spcBef>
              <a:spcAft>
                <a:spcPts val="0"/>
              </a:spcAft>
              <a:buSzPts val="13900"/>
              <a:buNone/>
              <a:defRPr sz="13900"/>
            </a:lvl1pPr>
            <a:lvl2pPr lvl="1" algn="ctr">
              <a:spcBef>
                <a:spcPts val="0"/>
              </a:spcBef>
              <a:spcAft>
                <a:spcPts val="0"/>
              </a:spcAft>
              <a:buSzPts val="13900"/>
              <a:buNone/>
              <a:defRPr sz="13900"/>
            </a:lvl2pPr>
            <a:lvl3pPr lvl="2" algn="ctr">
              <a:spcBef>
                <a:spcPts val="0"/>
              </a:spcBef>
              <a:spcAft>
                <a:spcPts val="0"/>
              </a:spcAft>
              <a:buSzPts val="13900"/>
              <a:buNone/>
              <a:defRPr sz="13900"/>
            </a:lvl3pPr>
            <a:lvl4pPr lvl="3" algn="ctr">
              <a:spcBef>
                <a:spcPts val="0"/>
              </a:spcBef>
              <a:spcAft>
                <a:spcPts val="0"/>
              </a:spcAft>
              <a:buSzPts val="13900"/>
              <a:buNone/>
              <a:defRPr sz="13900"/>
            </a:lvl4pPr>
            <a:lvl5pPr lvl="4" algn="ctr">
              <a:spcBef>
                <a:spcPts val="0"/>
              </a:spcBef>
              <a:spcAft>
                <a:spcPts val="0"/>
              </a:spcAft>
              <a:buSzPts val="13900"/>
              <a:buNone/>
              <a:defRPr sz="13900"/>
            </a:lvl5pPr>
            <a:lvl6pPr lvl="5" algn="ctr">
              <a:spcBef>
                <a:spcPts val="0"/>
              </a:spcBef>
              <a:spcAft>
                <a:spcPts val="0"/>
              </a:spcAft>
              <a:buSzPts val="13900"/>
              <a:buNone/>
              <a:defRPr sz="13900"/>
            </a:lvl6pPr>
            <a:lvl7pPr lvl="6" algn="ctr">
              <a:spcBef>
                <a:spcPts val="0"/>
              </a:spcBef>
              <a:spcAft>
                <a:spcPts val="0"/>
              </a:spcAft>
              <a:buSzPts val="13900"/>
              <a:buNone/>
              <a:defRPr sz="13900"/>
            </a:lvl7pPr>
            <a:lvl8pPr lvl="7" algn="ctr">
              <a:spcBef>
                <a:spcPts val="0"/>
              </a:spcBef>
              <a:spcAft>
                <a:spcPts val="0"/>
              </a:spcAft>
              <a:buSzPts val="13900"/>
              <a:buNone/>
              <a:defRPr sz="13900"/>
            </a:lvl8pPr>
            <a:lvl9pPr lvl="8" algn="ctr">
              <a:spcBef>
                <a:spcPts val="0"/>
              </a:spcBef>
              <a:spcAft>
                <a:spcPts val="0"/>
              </a:spcAft>
              <a:buSzPts val="13900"/>
              <a:buNone/>
              <a:defRPr sz="13900"/>
            </a:lvl9pPr>
          </a:lstStyle>
          <a:p/>
        </p:txBody>
      </p:sp>
      <p:sp>
        <p:nvSpPr>
          <p:cNvPr id="52" name="Google Shape;52;p12"/>
          <p:cNvSpPr txBox="1"/>
          <p:nvPr>
            <p:ph idx="1" type="subTitle"/>
          </p:nvPr>
        </p:nvSpPr>
        <p:spPr>
          <a:xfrm>
            <a:off x="831200" y="7557667"/>
            <a:ext cx="22721700" cy="2113500"/>
          </a:xfrm>
          <a:prstGeom prst="rect">
            <a:avLst/>
          </a:prstGeom>
        </p:spPr>
        <p:txBody>
          <a:bodyPr anchorCtr="0" anchor="t" bIns="243800" lIns="243800" spcFirstLastPara="1" rIns="243800" wrap="square" tIns="24380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p:txBody>
      </p:sp>
      <p:sp>
        <p:nvSpPr>
          <p:cNvPr id="53" name="Google Shape;53;p12"/>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74200" y="144133"/>
            <a:ext cx="23016900" cy="1527300"/>
          </a:xfrm>
          <a:prstGeom prst="rect">
            <a:avLst/>
          </a:prstGeom>
          <a:noFill/>
          <a:ln>
            <a:noFill/>
          </a:ln>
        </p:spPr>
        <p:txBody>
          <a:bodyPr anchorCtr="0" anchor="t" bIns="243800" lIns="243800" spcFirstLastPara="1" rIns="243800" wrap="square" tIns="243800">
            <a:normAutofit/>
          </a:bodyPr>
          <a:lstStyle>
            <a:lvl1pPr lvl="0"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B5394"/>
              </a:buClr>
              <a:buSzPts val="7500"/>
              <a:buFont typeface="Times New Roman"/>
              <a:buNone/>
              <a:defRPr b="1" i="0" sz="7500" u="none" cap="none" strike="noStrike">
                <a:solidFill>
                  <a:srgbClr val="0B5394"/>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831200" y="1671333"/>
            <a:ext cx="22721700" cy="11499300"/>
          </a:xfrm>
          <a:prstGeom prst="rect">
            <a:avLst/>
          </a:prstGeom>
          <a:noFill/>
          <a:ln>
            <a:noFill/>
          </a:ln>
        </p:spPr>
        <p:txBody>
          <a:bodyPr anchorCtr="0" anchor="t" bIns="243800" lIns="243800" spcFirstLastPara="1" rIns="243800" wrap="square" tIns="243800">
            <a:normAutofit/>
          </a:bodyPr>
          <a:lstStyle>
            <a:lvl1pPr indent="-533400" lvl="0" marL="457200" marR="0" rtl="0" algn="l">
              <a:lnSpc>
                <a:spcPct val="115000"/>
              </a:lnSpc>
              <a:spcBef>
                <a:spcPts val="0"/>
              </a:spcBef>
              <a:spcAft>
                <a:spcPts val="0"/>
              </a:spcAft>
              <a:buClr>
                <a:schemeClr val="dk2"/>
              </a:buClr>
              <a:buSzPts val="4800"/>
              <a:buFont typeface="Times New Roman"/>
              <a:buChar char="●"/>
              <a:defRPr i="0" sz="4800" u="none" cap="none" strike="noStrike">
                <a:solidFill>
                  <a:schemeClr val="dk2"/>
                </a:solidFill>
                <a:latin typeface="Times New Roman"/>
                <a:ea typeface="Times New Roman"/>
                <a:cs typeface="Times New Roman"/>
                <a:sym typeface="Times New Roman"/>
              </a:defRPr>
            </a:lvl1pPr>
            <a:lvl2pPr indent="-463550" lvl="1" marL="9144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2pPr>
            <a:lvl3pPr indent="-463550" lvl="2" marL="13716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3pPr>
            <a:lvl4pPr indent="-463550" lvl="3" marL="18288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4pPr>
            <a:lvl5pPr indent="-463550" lvl="4" marL="22860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5pPr>
            <a:lvl6pPr indent="-463550" lvl="5" marL="27432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6pPr>
            <a:lvl7pPr indent="-463550" lvl="6" marL="32004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7pPr>
            <a:lvl8pPr indent="-463550" lvl="7" marL="36576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8pPr>
            <a:lvl9pPr indent="-463550" lvl="8" marL="4114800" marR="0" rtl="0" algn="l">
              <a:lnSpc>
                <a:spcPct val="115000"/>
              </a:lnSpc>
              <a:spcBef>
                <a:spcPts val="0"/>
              </a:spcBef>
              <a:spcAft>
                <a:spcPts val="0"/>
              </a:spcAft>
              <a:buClr>
                <a:schemeClr val="dk2"/>
              </a:buClr>
              <a:buSzPts val="3700"/>
              <a:buFont typeface="Times New Roman"/>
              <a:buChar char="■"/>
              <a:defRPr i="0" sz="3700" u="none" cap="none" strike="noStrike">
                <a:solidFill>
                  <a:schemeClr val="dk2"/>
                </a:solidFill>
                <a:latin typeface="Times New Roman"/>
                <a:ea typeface="Times New Roman"/>
                <a:cs typeface="Times New Roman"/>
                <a:sym typeface="Times New Roman"/>
              </a:defRPr>
            </a:lvl9pPr>
          </a:lstStyle>
          <a:p/>
        </p:txBody>
      </p:sp>
      <p:sp>
        <p:nvSpPr>
          <p:cNvPr id="8" name="Google Shape;8;p1"/>
          <p:cNvSpPr txBox="1"/>
          <p:nvPr>
            <p:ph idx="12" type="sldNum"/>
          </p:nvPr>
        </p:nvSpPr>
        <p:spPr>
          <a:xfrm>
            <a:off x="22593221" y="12435245"/>
            <a:ext cx="1463100" cy="1049700"/>
          </a:xfrm>
          <a:prstGeom prst="rect">
            <a:avLst/>
          </a:prstGeom>
          <a:noFill/>
          <a:ln>
            <a:noFill/>
          </a:ln>
        </p:spPr>
        <p:txBody>
          <a:bodyPr anchorCtr="0" anchor="ctr" bIns="243800" lIns="243800" spcFirstLastPara="1" rIns="243800" wrap="square" tIns="243800">
            <a:normAutofit/>
          </a:bodyPr>
          <a:lstStyle>
            <a:lvl1pPr indent="0" lvl="0"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700"/>
              <a:buFont typeface="Arial"/>
              <a:buNone/>
              <a:defRPr b="0" i="0" sz="2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22913000" y="-16"/>
            <a:ext cx="1470999" cy="14709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image" Target="../media/image29.jpg"/><Relationship Id="rId5"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jpg"/><Relationship Id="rId4" Type="http://schemas.openxmlformats.org/officeDocument/2006/relationships/image" Target="../media/image3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6.jpg"/><Relationship Id="rId4" Type="http://schemas.openxmlformats.org/officeDocument/2006/relationships/image" Target="../media/image2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7.jpg"/><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831221" y="1985533"/>
            <a:ext cx="22721700" cy="5473500"/>
          </a:xfrm>
          <a:prstGeom prst="rect">
            <a:avLst/>
          </a:prstGeom>
        </p:spPr>
        <p:txBody>
          <a:bodyPr anchorCtr="0" anchor="b" bIns="243800" lIns="243800" spcFirstLastPara="1" rIns="243800" wrap="square" tIns="243800">
            <a:normAutofit/>
          </a:bodyPr>
          <a:lstStyle/>
          <a:p>
            <a:pPr indent="0" lvl="0" marL="0" rtl="0" algn="ctr">
              <a:spcBef>
                <a:spcPts val="0"/>
              </a:spcBef>
              <a:spcAft>
                <a:spcPts val="0"/>
              </a:spcAft>
              <a:buNone/>
            </a:pPr>
            <a:r>
              <a:rPr lang="en"/>
              <a:t>Radio Astronomy Telescope: Front End Electronics</a:t>
            </a:r>
            <a:endParaRPr/>
          </a:p>
        </p:txBody>
      </p:sp>
      <p:sp>
        <p:nvSpPr>
          <p:cNvPr id="59" name="Google Shape;59;p13"/>
          <p:cNvSpPr txBox="1"/>
          <p:nvPr>
            <p:ph idx="1" type="subTitle"/>
          </p:nvPr>
        </p:nvSpPr>
        <p:spPr>
          <a:xfrm>
            <a:off x="831200" y="7557667"/>
            <a:ext cx="22721700" cy="2113500"/>
          </a:xfrm>
          <a:prstGeom prst="rect">
            <a:avLst/>
          </a:prstGeom>
        </p:spPr>
        <p:txBody>
          <a:bodyPr anchorCtr="0" anchor="t" bIns="243800" lIns="243800" spcFirstLastPara="1" rIns="243800" wrap="square" tIns="243800">
            <a:normAutofit fontScale="85000"/>
          </a:bodyPr>
          <a:lstStyle/>
          <a:p>
            <a:pPr indent="0" lvl="0" marL="0" rtl="0" algn="ctr">
              <a:spcBef>
                <a:spcPts val="0"/>
              </a:spcBef>
              <a:spcAft>
                <a:spcPts val="0"/>
              </a:spcAft>
              <a:buNone/>
            </a:pPr>
            <a:r>
              <a:rPr lang="en"/>
              <a:t>(</a:t>
            </a:r>
            <a:r>
              <a:rPr lang="en"/>
              <a:t>Part 1) Introduction to the BURSTT front end electronics</a:t>
            </a:r>
            <a:endParaRPr/>
          </a:p>
        </p:txBody>
      </p:sp>
      <p:sp>
        <p:nvSpPr>
          <p:cNvPr id="60" name="Google Shape;60;p13"/>
          <p:cNvSpPr txBox="1"/>
          <p:nvPr>
            <p:ph idx="2" type="body"/>
          </p:nvPr>
        </p:nvSpPr>
        <p:spPr>
          <a:xfrm>
            <a:off x="6879600" y="11582400"/>
            <a:ext cx="10624800" cy="1219200"/>
          </a:xfrm>
          <a:prstGeom prst="rect">
            <a:avLst/>
          </a:prstGeom>
        </p:spPr>
        <p:txBody>
          <a:bodyPr anchorCtr="0" anchor="t" bIns="243800" lIns="243800" spcFirstLastPara="1" rIns="243800" wrap="square" tIns="243800">
            <a:normAutofit/>
          </a:bodyPr>
          <a:lstStyle/>
          <a:p>
            <a:pPr indent="0" lvl="0" marL="0" rtl="0" algn="ctr">
              <a:spcBef>
                <a:spcPts val="0"/>
              </a:spcBef>
              <a:spcAft>
                <a:spcPts val="0"/>
              </a:spcAft>
              <a:buNone/>
            </a:pPr>
            <a:r>
              <a:rPr lang="en"/>
              <a:t>Phan Thanh Hien, July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Objective</a:t>
            </a:r>
            <a:endParaRPr/>
          </a:p>
        </p:txBody>
      </p:sp>
      <p:sp>
        <p:nvSpPr>
          <p:cNvPr id="66" name="Google Shape;66;p14"/>
          <p:cNvSpPr txBox="1"/>
          <p:nvPr>
            <p:ph idx="1" type="body"/>
          </p:nvPr>
        </p:nvSpPr>
        <p:spPr>
          <a:xfrm>
            <a:off x="831200" y="1671333"/>
            <a:ext cx="22721700" cy="114993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None/>
            </a:pPr>
            <a:r>
              <a:rPr lang="en"/>
              <a:t>To provide students with the foundational understanding of each component in a standalone LPDA-based radio telescope. This lecture directly prepares them for the hands-on project, emphasizing the unique characteristics of this type of antenna.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Hands-on activities: the BURSTT system.</a:t>
            </a:r>
            <a:endParaRPr/>
          </a:p>
        </p:txBody>
      </p:sp>
      <p:sp>
        <p:nvSpPr>
          <p:cNvPr id="67" name="Google Shape;67;p14"/>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5" title="HoangDuy_MW2.png"/>
          <p:cNvPicPr preferRelativeResize="0"/>
          <p:nvPr/>
        </p:nvPicPr>
        <p:blipFill rotWithShape="1">
          <a:blip r:embed="rId3">
            <a:alphaModFix/>
          </a:blip>
          <a:srcRect b="18696" l="3601" r="1114" t="4710"/>
          <a:stretch/>
        </p:blipFill>
        <p:spPr>
          <a:xfrm>
            <a:off x="0" y="0"/>
            <a:ext cx="24384000" cy="13063951"/>
          </a:xfrm>
          <a:prstGeom prst="rect">
            <a:avLst/>
          </a:prstGeom>
          <a:noFill/>
          <a:ln>
            <a:noFill/>
          </a:ln>
        </p:spPr>
      </p:pic>
      <p:sp>
        <p:nvSpPr>
          <p:cNvPr id="73" name="Google Shape;73;p15"/>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6"/>
          <p:cNvPicPr preferRelativeResize="0"/>
          <p:nvPr/>
        </p:nvPicPr>
        <p:blipFill rotWithShape="1">
          <a:blip r:embed="rId3">
            <a:alphaModFix/>
          </a:blip>
          <a:srcRect b="16443" l="0" r="0" t="0"/>
          <a:stretch/>
        </p:blipFill>
        <p:spPr>
          <a:xfrm>
            <a:off x="-15625" y="-22300"/>
            <a:ext cx="24383999" cy="13910100"/>
          </a:xfrm>
          <a:prstGeom prst="rect">
            <a:avLst/>
          </a:prstGeom>
          <a:noFill/>
          <a:ln>
            <a:noFill/>
          </a:ln>
        </p:spPr>
      </p:pic>
      <p:sp>
        <p:nvSpPr>
          <p:cNvPr id="79" name="Google Shape;79;p16"/>
          <p:cNvSpPr txBox="1"/>
          <p:nvPr/>
        </p:nvSpPr>
        <p:spPr>
          <a:xfrm>
            <a:off x="6765900" y="12183141"/>
            <a:ext cx="108522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FFFF00"/>
                </a:solidFill>
                <a:latin typeface="Times New Roman"/>
                <a:ea typeface="Times New Roman"/>
                <a:cs typeface="Times New Roman"/>
                <a:sym typeface="Times New Roman"/>
              </a:rPr>
              <a:t>Dải Ngân Hà Trên Đỉnh Núi Tuyết. Tác giả: Lưu Hoài Nam. Địa điểm: Gunma, Nhật Bản.</a:t>
            </a:r>
            <a:endParaRPr sz="3000">
              <a:solidFill>
                <a:srgbClr val="FFFF00"/>
              </a:solidFill>
              <a:latin typeface="Times New Roman"/>
              <a:ea typeface="Times New Roman"/>
              <a:cs typeface="Times New Roman"/>
              <a:sym typeface="Times New Roman"/>
            </a:endParaRPr>
          </a:p>
        </p:txBody>
      </p:sp>
      <p:sp>
        <p:nvSpPr>
          <p:cNvPr id="80" name="Google Shape;80;p16"/>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3385738" y="436175"/>
            <a:ext cx="17612500" cy="12843650"/>
          </a:xfrm>
          <a:prstGeom prst="rect">
            <a:avLst/>
          </a:prstGeom>
          <a:noFill/>
          <a:ln>
            <a:noFill/>
          </a:ln>
        </p:spPr>
      </p:pic>
      <p:sp>
        <p:nvSpPr>
          <p:cNvPr id="86" name="Google Shape;86;p17"/>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8"/>
          <p:cNvPicPr preferRelativeResize="0"/>
          <p:nvPr/>
        </p:nvPicPr>
        <p:blipFill>
          <a:blip r:embed="rId3">
            <a:alphaModFix/>
          </a:blip>
          <a:stretch>
            <a:fillRect/>
          </a:stretch>
        </p:blipFill>
        <p:spPr>
          <a:xfrm>
            <a:off x="1705888" y="842610"/>
            <a:ext cx="20972225" cy="8588625"/>
          </a:xfrm>
          <a:prstGeom prst="rect">
            <a:avLst/>
          </a:prstGeom>
          <a:noFill/>
          <a:ln>
            <a:noFill/>
          </a:ln>
        </p:spPr>
      </p:pic>
      <p:sp>
        <p:nvSpPr>
          <p:cNvPr id="92" name="Google Shape;92;p18"/>
          <p:cNvSpPr txBox="1"/>
          <p:nvPr>
            <p:ph idx="1" type="body"/>
          </p:nvPr>
        </p:nvSpPr>
        <p:spPr>
          <a:xfrm>
            <a:off x="754950" y="9774203"/>
            <a:ext cx="22874100" cy="3435600"/>
          </a:xfrm>
          <a:prstGeom prst="rect">
            <a:avLst/>
          </a:prstGeom>
        </p:spPr>
        <p:txBody>
          <a:bodyPr anchorCtr="0" anchor="ctr" bIns="243800" lIns="243800" spcFirstLastPara="1" rIns="243800" wrap="square" tIns="243800">
            <a:normAutofit/>
          </a:bodyPr>
          <a:lstStyle/>
          <a:p>
            <a:pPr indent="0" lvl="0" marL="0" rtl="0" algn="ctr">
              <a:spcBef>
                <a:spcPts val="0"/>
              </a:spcBef>
              <a:spcAft>
                <a:spcPts val="0"/>
              </a:spcAft>
              <a:buNone/>
            </a:pPr>
            <a:r>
              <a:rPr lang="en" sz="2400"/>
              <a:t>The Andromeda Galaxy (M31) in Different Types of Light. </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2400"/>
              <a:t>X-ray: NASA/CXO/UMass/Z. Li &amp; Q.D. Wang, ESA/XMM-Newton; Infrared: NASA/JPL-Caltech/WISE, Spitzer, NASA/JPL-Caltech/K. Gordon (U. Az), ESA/Herschel, ESA/Planck, NASA/IRAS, NASA/COBE; Radio: NSF/GBT/WSRT/IRAM/C. Clark (STScI); Ultraviolet: NASA/JPL-Caltech/GALEX; Optical: Andromeda, Unexpected © Marcel Drechsler, Xavier Strottner, Yann Sainty &amp; J. Sahner, T. Kottary. Composite image processing: L. Frattare, K. Arcand, J.Major</a:t>
            </a:r>
            <a:endParaRPr sz="2400"/>
          </a:p>
        </p:txBody>
      </p:sp>
      <p:sp>
        <p:nvSpPr>
          <p:cNvPr id="93" name="Google Shape;93;p18"/>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 type="body"/>
          </p:nvPr>
        </p:nvSpPr>
        <p:spPr>
          <a:xfrm>
            <a:off x="802000" y="2390625"/>
            <a:ext cx="9333000" cy="10847100"/>
          </a:xfrm>
          <a:prstGeom prst="rect">
            <a:avLst/>
          </a:prstGeom>
        </p:spPr>
        <p:txBody>
          <a:bodyPr anchorCtr="0" anchor="ctr" bIns="243800" lIns="243800" spcFirstLastPara="1" rIns="243800" wrap="square" tIns="243800">
            <a:normAutofit lnSpcReduction="10000"/>
          </a:bodyPr>
          <a:lstStyle/>
          <a:p>
            <a:pPr indent="0" lvl="0" marL="0" rtl="0" algn="l">
              <a:spcBef>
                <a:spcPts val="0"/>
              </a:spcBef>
              <a:spcAft>
                <a:spcPts val="0"/>
              </a:spcAft>
              <a:buClr>
                <a:schemeClr val="dk1"/>
              </a:buClr>
              <a:buSzPts val="1100"/>
              <a:buFont typeface="Arial"/>
              <a:buNone/>
            </a:pPr>
            <a:r>
              <a:rPr lang="en"/>
              <a:t>A Fast Radio Burst is exactly what its name implies:</a:t>
            </a:r>
            <a:endParaRPr/>
          </a:p>
          <a:p>
            <a:pPr indent="-431800" lvl="0" marL="457200" rtl="0" algn="l">
              <a:spcBef>
                <a:spcPts val="0"/>
              </a:spcBef>
              <a:spcAft>
                <a:spcPts val="0"/>
              </a:spcAft>
              <a:buSzPts val="3200"/>
              <a:buChar char="●"/>
            </a:pPr>
            <a:r>
              <a:rPr b="1" lang="en"/>
              <a:t>Fast</a:t>
            </a:r>
            <a:r>
              <a:rPr lang="en"/>
              <a:t>: It is an incredibly brief event, lasting for only a few </a:t>
            </a:r>
            <a:r>
              <a:rPr b="1" lang="en"/>
              <a:t>milliseconds</a:t>
            </a:r>
            <a:r>
              <a:rPr lang="en"/>
              <a:t>.</a:t>
            </a:r>
            <a:endParaRPr/>
          </a:p>
          <a:p>
            <a:pPr indent="-431800" lvl="0" marL="457200" rtl="0" algn="l">
              <a:spcBef>
                <a:spcPts val="0"/>
              </a:spcBef>
              <a:spcAft>
                <a:spcPts val="0"/>
              </a:spcAft>
              <a:buSzPts val="3200"/>
              <a:buChar char="●"/>
            </a:pPr>
            <a:r>
              <a:rPr b="1" lang="en"/>
              <a:t>Radio</a:t>
            </a:r>
            <a:r>
              <a:rPr lang="en"/>
              <a:t>: It is detected only at radio frequencies, typically in the range of a few hundred MHz to a few GHz. It is completely invisible in optical, X-ray, or any other part of the spectrum.</a:t>
            </a:r>
            <a:endParaRPr/>
          </a:p>
          <a:p>
            <a:pPr indent="-431800" lvl="0" marL="457200" rtl="0" algn="l">
              <a:spcBef>
                <a:spcPts val="0"/>
              </a:spcBef>
              <a:spcAft>
                <a:spcPts val="0"/>
              </a:spcAft>
              <a:buSzPts val="3200"/>
              <a:buChar char="●"/>
            </a:pPr>
            <a:r>
              <a:rPr b="1" lang="en"/>
              <a:t>Burst</a:t>
            </a:r>
            <a:r>
              <a:rPr lang="en"/>
              <a:t>: It is an astonishingly </a:t>
            </a:r>
            <a:r>
              <a:rPr b="1" lang="en"/>
              <a:t>powerful</a:t>
            </a:r>
            <a:r>
              <a:rPr lang="en"/>
              <a:t> event. In the few milliseconds it is "on," an FRB can release as much energy as the Sun does in an entire day, or even 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Image: </a:t>
            </a:r>
            <a:r>
              <a:rPr lang="en"/>
              <a:t>A fast radio burst FRB 181112 as impressed by artist is on its way traveling through space and reaching Earth.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2948"/>
              <a:t>Credit: ESO/M. Kornmesser - https://www.eso.org/public/images/eso1915a/</a:t>
            </a:r>
            <a:endParaRPr sz="2948"/>
          </a:p>
        </p:txBody>
      </p:sp>
      <p:sp>
        <p:nvSpPr>
          <p:cNvPr id="99" name="Google Shape;99;p19"/>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pic>
        <p:nvPicPr>
          <p:cNvPr id="100" name="Google Shape;100;p19" title="Screenshot_20250715_093744_Chrome.jpg"/>
          <p:cNvPicPr preferRelativeResize="0"/>
          <p:nvPr/>
        </p:nvPicPr>
        <p:blipFill>
          <a:blip r:embed="rId3">
            <a:alphaModFix/>
          </a:blip>
          <a:stretch>
            <a:fillRect/>
          </a:stretch>
        </p:blipFill>
        <p:spPr>
          <a:xfrm>
            <a:off x="10832300" y="3293500"/>
            <a:ext cx="13107275" cy="8367975"/>
          </a:xfrm>
          <a:prstGeom prst="rect">
            <a:avLst/>
          </a:prstGeom>
          <a:noFill/>
          <a:ln>
            <a:noFill/>
          </a:ln>
        </p:spPr>
      </p:pic>
      <p:sp>
        <p:nvSpPr>
          <p:cNvPr id="101" name="Google Shape;101;p19"/>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Fast Radio Bursts (FRBs)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idx="1" type="body"/>
          </p:nvPr>
        </p:nvSpPr>
        <p:spPr>
          <a:xfrm>
            <a:off x="714475" y="2449000"/>
            <a:ext cx="10037400" cy="10847100"/>
          </a:xfrm>
          <a:prstGeom prst="rect">
            <a:avLst/>
          </a:prstGeom>
        </p:spPr>
        <p:txBody>
          <a:bodyPr anchorCtr="0" anchor="ctr" bIns="243800" lIns="243800" spcFirstLastPara="1" rIns="243800" wrap="square" tIns="243800">
            <a:normAutofit fontScale="92500" lnSpcReduction="20000"/>
          </a:bodyPr>
          <a:lstStyle/>
          <a:p>
            <a:pPr indent="0" lvl="0" marL="0" rtl="0" algn="l">
              <a:spcBef>
                <a:spcPts val="0"/>
              </a:spcBef>
              <a:spcAft>
                <a:spcPts val="0"/>
              </a:spcAft>
              <a:buClr>
                <a:schemeClr val="dk1"/>
              </a:buClr>
              <a:buSzPct val="34375"/>
              <a:buFont typeface="Arial"/>
              <a:buNone/>
            </a:pPr>
            <a:r>
              <a:rPr lang="en"/>
              <a:t>This is the most important concept for understanding FRBs and proving they are not from Earth.</a:t>
            </a:r>
            <a:endParaRPr/>
          </a:p>
          <a:p>
            <a:pPr indent="-416560" lvl="0" marL="457200" rtl="0" algn="l">
              <a:spcBef>
                <a:spcPts val="0"/>
              </a:spcBef>
              <a:spcAft>
                <a:spcPts val="0"/>
              </a:spcAft>
              <a:buSzPct val="100000"/>
              <a:buChar char="●"/>
            </a:pPr>
            <a:r>
              <a:rPr b="1" lang="en"/>
              <a:t>The Problem</a:t>
            </a:r>
            <a:r>
              <a:rPr lang="en"/>
              <a:t>: The space between galaxies is not perfectly empty. It's filled with a very thin, tenuous plasma of free electrons.</a:t>
            </a:r>
            <a:endParaRPr/>
          </a:p>
          <a:p>
            <a:pPr indent="-416560" lvl="0" marL="457200" rtl="0" algn="l">
              <a:spcBef>
                <a:spcPts val="0"/>
              </a:spcBef>
              <a:spcAft>
                <a:spcPts val="0"/>
              </a:spcAft>
              <a:buSzPct val="100000"/>
              <a:buChar char="●"/>
            </a:pPr>
            <a:r>
              <a:rPr b="1" lang="en"/>
              <a:t>The Effect</a:t>
            </a:r>
            <a:r>
              <a:rPr lang="en"/>
              <a:t>: When a radio signal travels through this plasma, it undergoes an effect called dispersion. This means that lower-frequency radio waves are slowed down more than higher-frequency radio waves.</a:t>
            </a:r>
            <a:endParaRPr/>
          </a:p>
          <a:p>
            <a:pPr indent="-416560" lvl="0" marL="457200" rtl="0" algn="l">
              <a:spcBef>
                <a:spcPts val="0"/>
              </a:spcBef>
              <a:spcAft>
                <a:spcPts val="0"/>
              </a:spcAft>
              <a:buSzPct val="100000"/>
              <a:buChar char="●"/>
            </a:pPr>
            <a:r>
              <a:rPr b="1" lang="en"/>
              <a:t>The Signature</a:t>
            </a:r>
            <a:r>
              <a:rPr lang="en"/>
              <a:t>: When an FRB's signal arrives at our telescope, the high-frequency part of the burst arrives first, and the low-frequency part arrives a fraction of a second later. The signal is "smeared out" across the frequency band, arriving in a characteristic downward-sweeping pattern on a spectrum plot.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Image: </a:t>
            </a:r>
            <a:r>
              <a:rPr lang="en"/>
              <a:t>Th</a:t>
            </a:r>
            <a:r>
              <a:rPr lang="en"/>
              <a:t>e</a:t>
            </a:r>
            <a:r>
              <a:rPr lang="en"/>
              <a:t> first</a:t>
            </a:r>
            <a:r>
              <a:rPr lang="en"/>
              <a:t> detected fast radio burst (Lorimer et al. 2007). </a:t>
            </a:r>
            <a:endParaRPr/>
          </a:p>
        </p:txBody>
      </p:sp>
      <p:sp>
        <p:nvSpPr>
          <p:cNvPr id="107" name="Google Shape;107;p20"/>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pic>
        <p:nvPicPr>
          <p:cNvPr id="108" name="Google Shape;108;p20" title="Frb_1.png"/>
          <p:cNvPicPr preferRelativeResize="0"/>
          <p:nvPr/>
        </p:nvPicPr>
        <p:blipFill>
          <a:blip r:embed="rId3">
            <a:alphaModFix/>
          </a:blip>
          <a:stretch>
            <a:fillRect/>
          </a:stretch>
        </p:blipFill>
        <p:spPr>
          <a:xfrm>
            <a:off x="11266700" y="2796050"/>
            <a:ext cx="12588301" cy="9303551"/>
          </a:xfrm>
          <a:prstGeom prst="rect">
            <a:avLst/>
          </a:prstGeom>
          <a:noFill/>
          <a:ln>
            <a:noFill/>
          </a:ln>
        </p:spPr>
      </p:pic>
      <p:sp>
        <p:nvSpPr>
          <p:cNvPr id="109" name="Google Shape;109;p20"/>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Key Scientific Clue: Dispersion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1" type="body"/>
          </p:nvPr>
        </p:nvSpPr>
        <p:spPr>
          <a:xfrm>
            <a:off x="831200" y="2332275"/>
            <a:ext cx="9336900" cy="108471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Clr>
                <a:schemeClr val="dk1"/>
              </a:buClr>
              <a:buSzPts val="1100"/>
              <a:buFont typeface="Arial"/>
              <a:buNone/>
            </a:pPr>
            <a:r>
              <a:rPr lang="en"/>
              <a:t>The leading candidates are all related to magnetars.</a:t>
            </a:r>
            <a:endParaRPr/>
          </a:p>
          <a:p>
            <a:pPr indent="-431800" lvl="0" marL="457200" rtl="0" algn="l">
              <a:spcBef>
                <a:spcPts val="0"/>
              </a:spcBef>
              <a:spcAft>
                <a:spcPts val="0"/>
              </a:spcAft>
              <a:buSzPts val="3200"/>
              <a:buChar char="●"/>
            </a:pPr>
            <a:r>
              <a:rPr lang="en"/>
              <a:t>A Magnetar: A type of neutron star—the incredibly dense, collapsed core of a massive star after a supernova—with an impossibly strong magnetic field, trillions of times stronger than Earth's.</a:t>
            </a:r>
            <a:endParaRPr/>
          </a:p>
          <a:p>
            <a:pPr indent="-431800" lvl="0" marL="457200" rtl="0" algn="l">
              <a:spcBef>
                <a:spcPts val="0"/>
              </a:spcBef>
              <a:spcAft>
                <a:spcPts val="0"/>
              </a:spcAft>
              <a:buSzPts val="3200"/>
              <a:buChar char="●"/>
            </a:pPr>
            <a:r>
              <a:rPr lang="en"/>
              <a:t>The Theory: A violent event on or near the magnetar, such as a "starquake" on its crust or a reconfiguration of its intense magnetic field, could release a massive burst of energy that we see as an FRB.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FRBs are seen to repeat, flashing multiple times from the same spot in the sky. Others have only ever been seen once. </a:t>
            </a:r>
            <a:endParaRPr/>
          </a:p>
        </p:txBody>
      </p:sp>
      <p:sp>
        <p:nvSpPr>
          <p:cNvPr id="115" name="Google Shape;115;p21"/>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16" name="Google Shape;116;p21"/>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What Creates Them?</a:t>
            </a:r>
            <a:endParaRPr/>
          </a:p>
        </p:txBody>
      </p:sp>
      <p:pic>
        <p:nvPicPr>
          <p:cNvPr id="117" name="Google Shape;117;p21" title="Screenshot_20250715_114847_Chrome.jpg"/>
          <p:cNvPicPr preferRelativeResize="0"/>
          <p:nvPr/>
        </p:nvPicPr>
        <p:blipFill>
          <a:blip r:embed="rId3">
            <a:alphaModFix/>
          </a:blip>
          <a:stretch>
            <a:fillRect/>
          </a:stretch>
        </p:blipFill>
        <p:spPr>
          <a:xfrm>
            <a:off x="10320500" y="1823833"/>
            <a:ext cx="13911101" cy="4856659"/>
          </a:xfrm>
          <a:prstGeom prst="rect">
            <a:avLst/>
          </a:prstGeom>
          <a:noFill/>
          <a:ln>
            <a:noFill/>
          </a:ln>
        </p:spPr>
      </p:pic>
      <p:sp>
        <p:nvSpPr>
          <p:cNvPr id="118" name="Google Shape;118;p21"/>
          <p:cNvSpPr txBox="1"/>
          <p:nvPr/>
        </p:nvSpPr>
        <p:spPr>
          <a:xfrm>
            <a:off x="11423025" y="7233200"/>
            <a:ext cx="12633300" cy="534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000">
                <a:solidFill>
                  <a:schemeClr val="dk2"/>
                </a:solidFill>
                <a:latin typeface="Times New Roman"/>
                <a:ea typeface="Times New Roman"/>
                <a:cs typeface="Times New Roman"/>
                <a:sym typeface="Times New Roman"/>
              </a:rPr>
              <a:t>Periodic and quasi-periodic bursts detected by CHIME/FRB. (https://chime-frb-open-data.github.io)</a:t>
            </a:r>
            <a:endParaRPr sz="3000">
              <a:solidFill>
                <a:schemeClr val="dk2"/>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t/>
            </a:r>
            <a:endParaRPr sz="3000">
              <a:solidFill>
                <a:schemeClr val="dk2"/>
              </a:solidFill>
              <a:latin typeface="Times New Roman"/>
              <a:ea typeface="Times New Roman"/>
              <a:cs typeface="Times New Roman"/>
              <a:sym typeface="Times New Roman"/>
            </a:endParaRPr>
          </a:p>
          <a:p>
            <a:pPr indent="-419100" lvl="0" marL="457200" rtl="0" algn="just">
              <a:spcBef>
                <a:spcPts val="0"/>
              </a:spcBef>
              <a:spcAft>
                <a:spcPts val="0"/>
              </a:spcAft>
              <a:buClr>
                <a:schemeClr val="dk2"/>
              </a:buClr>
              <a:buSzPts val="3000"/>
              <a:buFont typeface="Times New Roman"/>
              <a:buChar char="●"/>
            </a:pPr>
            <a:r>
              <a:rPr lang="en" sz="3000">
                <a:solidFill>
                  <a:schemeClr val="dk2"/>
                </a:solidFill>
                <a:latin typeface="Times New Roman"/>
                <a:ea typeface="Times New Roman"/>
                <a:cs typeface="Times New Roman"/>
                <a:sym typeface="Times New Roman"/>
              </a:rPr>
              <a:t>Left: FRB 20191221A lasting for nearly 3 seconds and showing 9 peaks separated by a strict period of 216.8 ms.</a:t>
            </a:r>
            <a:endParaRPr sz="3000">
              <a:solidFill>
                <a:schemeClr val="dk2"/>
              </a:solidFill>
              <a:latin typeface="Times New Roman"/>
              <a:ea typeface="Times New Roman"/>
              <a:cs typeface="Times New Roman"/>
              <a:sym typeface="Times New Roman"/>
            </a:endParaRPr>
          </a:p>
          <a:p>
            <a:pPr indent="-419100" lvl="0" marL="457200" rtl="0" algn="just">
              <a:spcBef>
                <a:spcPts val="0"/>
              </a:spcBef>
              <a:spcAft>
                <a:spcPts val="0"/>
              </a:spcAft>
              <a:buClr>
                <a:schemeClr val="dk2"/>
              </a:buClr>
              <a:buSzPts val="3000"/>
              <a:buFont typeface="Times New Roman"/>
              <a:buChar char="●"/>
            </a:pPr>
            <a:r>
              <a:rPr lang="en" sz="3000">
                <a:solidFill>
                  <a:schemeClr val="dk2"/>
                </a:solidFill>
                <a:latin typeface="Times New Roman"/>
                <a:ea typeface="Times New Roman"/>
                <a:cs typeface="Times New Roman"/>
                <a:sym typeface="Times New Roman"/>
              </a:rPr>
              <a:t>Middle and Right: FRB 20210206A and FRB 20210213A, show quasi-periodicities at 2.8 ms and 10.7 ms, respectively—though the statistical significance of these periods are marginal.</a:t>
            </a:r>
            <a:endParaRPr sz="30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en" sz="1800">
                <a:solidFill>
                  <a:schemeClr val="dk2"/>
                </a:solidFill>
                <a:latin typeface="Times New Roman"/>
                <a:ea typeface="Times New Roman"/>
                <a:cs typeface="Times New Roman"/>
                <a:sym typeface="Times New Roman"/>
              </a:rPr>
              <a:t>Petroff, E., Hessels, J.W.T. &amp; Lorimer, D.R. Fast radio bursts at the dawn of the 2020s. Astron Astrophys Rev 30, 2 (2022). https://doi.org/10.1007/s00159-022-00139-w</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30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idx="1" type="body"/>
          </p:nvPr>
        </p:nvSpPr>
        <p:spPr>
          <a:xfrm>
            <a:off x="831200" y="2332275"/>
            <a:ext cx="20864400" cy="10847100"/>
          </a:xfrm>
          <a:prstGeom prst="rect">
            <a:avLst/>
          </a:prstGeom>
        </p:spPr>
        <p:txBody>
          <a:bodyPr anchorCtr="0" anchor="ctr" bIns="243800" lIns="243800" spcFirstLastPara="1" rIns="243800" wrap="square" tIns="243800">
            <a:normAutofit/>
          </a:bodyPr>
          <a:lstStyle/>
          <a:p>
            <a:pPr indent="-431800" lvl="0" marL="457200" rtl="0" algn="l">
              <a:spcBef>
                <a:spcPts val="0"/>
              </a:spcBef>
              <a:spcAft>
                <a:spcPts val="0"/>
              </a:spcAft>
              <a:buSzPts val="3200"/>
              <a:buChar char="●"/>
            </a:pPr>
            <a:r>
              <a:rPr b="1" lang="en"/>
              <a:t>Single Dish Search</a:t>
            </a:r>
            <a:endParaRPr b="1"/>
          </a:p>
          <a:p>
            <a:pPr indent="-431800" lvl="1" marL="914400" rtl="0" algn="l">
              <a:spcBef>
                <a:spcPts val="0"/>
              </a:spcBef>
              <a:spcAft>
                <a:spcPts val="0"/>
              </a:spcAft>
              <a:buSzPts val="3200"/>
              <a:buChar char="○"/>
            </a:pPr>
            <a:r>
              <a:rPr lang="en"/>
              <a:t>Large steerable dishes like the Parkes Telescope (Australia), the Green Bank Telescope (GBT) (USA), and FAST (China).</a:t>
            </a:r>
            <a:endParaRPr/>
          </a:p>
          <a:p>
            <a:pPr indent="-431800" lvl="1" marL="914400" rtl="0" algn="l">
              <a:spcBef>
                <a:spcPts val="0"/>
              </a:spcBef>
              <a:spcAft>
                <a:spcPts val="0"/>
              </a:spcAft>
              <a:buSzPts val="3200"/>
              <a:buChar char="○"/>
            </a:pPr>
            <a:r>
              <a:rPr lang="en"/>
              <a:t>Point a single, very large, and very sensitive dish at one small patch of the sky and wait.</a:t>
            </a:r>
            <a:endParaRPr/>
          </a:p>
          <a:p>
            <a:pPr indent="-431800" lvl="1" marL="914400" rtl="0" algn="l">
              <a:spcBef>
                <a:spcPts val="0"/>
              </a:spcBef>
              <a:spcAft>
                <a:spcPts val="0"/>
              </a:spcAft>
              <a:buSzPts val="3200"/>
              <a:buChar char="○"/>
            </a:pPr>
            <a:r>
              <a:rPr lang="en"/>
              <a:t>Advantage: High Sensitivity &amp; Precision Localization.</a:t>
            </a:r>
            <a:endParaRPr/>
          </a:p>
          <a:p>
            <a:pPr indent="-431800" lvl="1" marL="914400" rtl="0" algn="l">
              <a:spcBef>
                <a:spcPts val="0"/>
              </a:spcBef>
              <a:spcAft>
                <a:spcPts val="0"/>
              </a:spcAft>
              <a:buSzPts val="3200"/>
              <a:buChar char="○"/>
            </a:pPr>
            <a:r>
              <a:rPr lang="en"/>
              <a:t>Disadvantage: Tiny Field of View</a:t>
            </a:r>
            <a:endParaRPr/>
          </a:p>
          <a:p>
            <a:pPr indent="-431800" lvl="0" marL="457200" rtl="0" algn="l">
              <a:spcBef>
                <a:spcPts val="0"/>
              </a:spcBef>
              <a:spcAft>
                <a:spcPts val="0"/>
              </a:spcAft>
              <a:buSzPts val="3200"/>
              <a:buChar char="●"/>
            </a:pPr>
            <a:r>
              <a:rPr b="1" lang="en"/>
              <a:t>Wide-Field Intensity Mapping</a:t>
            </a:r>
            <a:endParaRPr b="1"/>
          </a:p>
          <a:p>
            <a:pPr indent="-431800" lvl="1" marL="914400" rtl="0" algn="l">
              <a:spcBef>
                <a:spcPts val="0"/>
              </a:spcBef>
              <a:spcAft>
                <a:spcPts val="0"/>
              </a:spcAft>
              <a:buSzPts val="3200"/>
              <a:buChar char="○"/>
            </a:pPr>
            <a:r>
              <a:rPr lang="en"/>
              <a:t>The CHIME Telescope (Canada).</a:t>
            </a:r>
            <a:endParaRPr/>
          </a:p>
          <a:p>
            <a:pPr indent="-431800" lvl="1" marL="914400" rtl="0" algn="l">
              <a:spcBef>
                <a:spcPts val="0"/>
              </a:spcBef>
              <a:spcAft>
                <a:spcPts val="0"/>
              </a:spcAft>
              <a:buSzPts val="3200"/>
              <a:buChar char="○"/>
            </a:pPr>
            <a:r>
              <a:rPr lang="en"/>
              <a:t>Just stare at a huge swath of the sky 24/7 and use massive computing power to search the data in real-time.</a:t>
            </a:r>
            <a:endParaRPr/>
          </a:p>
          <a:p>
            <a:pPr indent="-431800" lvl="1" marL="914400" rtl="0" algn="l">
              <a:spcBef>
                <a:spcPts val="0"/>
              </a:spcBef>
              <a:spcAft>
                <a:spcPts val="0"/>
              </a:spcAft>
              <a:buSzPts val="3200"/>
              <a:buChar char="○"/>
            </a:pPr>
            <a:r>
              <a:rPr lang="en"/>
              <a:t>Advantage: Massive Discovery Rate</a:t>
            </a:r>
            <a:endParaRPr/>
          </a:p>
          <a:p>
            <a:pPr indent="-431800" lvl="1" marL="914400" rtl="0" algn="l">
              <a:spcBef>
                <a:spcPts val="0"/>
              </a:spcBef>
              <a:spcAft>
                <a:spcPts val="0"/>
              </a:spcAft>
              <a:buSzPts val="3200"/>
              <a:buChar char="○"/>
            </a:pPr>
            <a:r>
              <a:rPr lang="en"/>
              <a:t>Disadvantage: Poorer Localization</a:t>
            </a:r>
            <a:endParaRPr/>
          </a:p>
          <a:p>
            <a:pPr indent="-431800" lvl="0" marL="457200" rtl="0" algn="l">
              <a:spcBef>
                <a:spcPts val="0"/>
              </a:spcBef>
              <a:spcAft>
                <a:spcPts val="0"/>
              </a:spcAft>
              <a:buSzPts val="3200"/>
              <a:buChar char="●"/>
            </a:pPr>
            <a:r>
              <a:rPr b="1" lang="en"/>
              <a:t>Interferometer Array Search</a:t>
            </a:r>
            <a:endParaRPr b="1"/>
          </a:p>
          <a:p>
            <a:pPr indent="-431800" lvl="1" marL="914400" rtl="0" algn="l">
              <a:spcBef>
                <a:spcPts val="0"/>
              </a:spcBef>
              <a:spcAft>
                <a:spcPts val="0"/>
              </a:spcAft>
              <a:buSzPts val="3200"/>
              <a:buChar char="○"/>
            </a:pPr>
            <a:r>
              <a:rPr lang="en"/>
              <a:t>The ASKAP telescope (Australia) and MeerKAT (South Africa).</a:t>
            </a:r>
            <a:endParaRPr/>
          </a:p>
          <a:p>
            <a:pPr indent="-431800" lvl="1" marL="914400" rtl="0" algn="l">
              <a:spcBef>
                <a:spcPts val="0"/>
              </a:spcBef>
              <a:spcAft>
                <a:spcPts val="0"/>
              </a:spcAft>
              <a:buSzPts val="3200"/>
              <a:buChar char="○"/>
            </a:pPr>
            <a:r>
              <a:rPr lang="en"/>
              <a:t>Use an array of many dishes spread out over a large area. Correlate the data from all dishes to search for bursts.</a:t>
            </a:r>
            <a:endParaRPr/>
          </a:p>
          <a:p>
            <a:pPr indent="-431800" lvl="1" marL="914400" rtl="0" algn="l">
              <a:spcBef>
                <a:spcPts val="0"/>
              </a:spcBef>
              <a:spcAft>
                <a:spcPts val="0"/>
              </a:spcAft>
              <a:buSzPts val="3200"/>
              <a:buChar char="○"/>
            </a:pPr>
            <a:r>
              <a:rPr lang="en"/>
              <a:t>Advantage: The Best of Both Worlds. </a:t>
            </a:r>
            <a:endParaRPr/>
          </a:p>
          <a:p>
            <a:pPr indent="-431800" lvl="1" marL="914400" rtl="0" algn="l">
              <a:spcBef>
                <a:spcPts val="0"/>
              </a:spcBef>
              <a:spcAft>
                <a:spcPts val="0"/>
              </a:spcAft>
              <a:buSzPts val="3200"/>
              <a:buChar char="○"/>
            </a:pPr>
            <a:r>
              <a:rPr lang="en"/>
              <a:t>Disadvantage: High Complexity. </a:t>
            </a:r>
            <a:endParaRPr/>
          </a:p>
        </p:txBody>
      </p:sp>
      <p:sp>
        <p:nvSpPr>
          <p:cNvPr id="124" name="Google Shape;124;p22"/>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25" name="Google Shape;125;p22"/>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How to detect them?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idx="1" type="body"/>
          </p:nvPr>
        </p:nvSpPr>
        <p:spPr>
          <a:xfrm>
            <a:off x="831200" y="2332275"/>
            <a:ext cx="9512100" cy="11152800"/>
          </a:xfrm>
          <a:prstGeom prst="rect">
            <a:avLst/>
          </a:prstGeom>
        </p:spPr>
        <p:txBody>
          <a:bodyPr anchorCtr="0" anchor="ctr" bIns="243800" lIns="243800" spcFirstLastPara="1" rIns="243800" wrap="square" tIns="243800">
            <a:normAutofit lnSpcReduction="10000"/>
          </a:bodyPr>
          <a:lstStyle/>
          <a:p>
            <a:pPr indent="0" lvl="0" marL="0" rtl="0" algn="l">
              <a:spcBef>
                <a:spcPts val="0"/>
              </a:spcBef>
              <a:spcAft>
                <a:spcPts val="0"/>
              </a:spcAft>
              <a:buNone/>
            </a:pPr>
            <a:r>
              <a:rPr lang="en"/>
              <a:t>CHIME stands for the Canadian Hydrogen Intensity Mapping Experiment, located at the Dominion Radio Astrophysical Observatory (DRAO) in British Columbia, Canada.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not a traditional steerable dish. Instead, it looks like four giant, parallel snowboard half-pipes. Each "half-pipe" is a large parabolic cylinder, 100 meters long and 20 meters 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Along the focal line of each cylinder, there are 256 dual-polarization antennas, for a total of 1024 inputs. </a:t>
            </a:r>
            <a:endParaRPr/>
          </a:p>
          <a:p>
            <a:pPr indent="0" lvl="0" marL="0" rtl="0" algn="l">
              <a:spcBef>
                <a:spcPts val="0"/>
              </a:spcBef>
              <a:spcAft>
                <a:spcPts val="0"/>
              </a:spcAft>
              <a:buNone/>
            </a:pPr>
            <a:r>
              <a:t/>
            </a:r>
            <a:endParaRPr/>
          </a:p>
          <a:p>
            <a:pPr indent="-431800" lvl="0" marL="457200" rtl="0" algn="l">
              <a:spcBef>
                <a:spcPts val="0"/>
              </a:spcBef>
              <a:spcAft>
                <a:spcPts val="0"/>
              </a:spcAft>
              <a:buSzPts val="3200"/>
              <a:buChar char="●"/>
            </a:pPr>
            <a:r>
              <a:rPr b="1" lang="en"/>
              <a:t>Gigantic Field of View</a:t>
            </a:r>
            <a:endParaRPr/>
          </a:p>
          <a:p>
            <a:pPr indent="-431800" lvl="0" marL="457200" rtl="0" algn="l">
              <a:spcBef>
                <a:spcPts val="0"/>
              </a:spcBef>
              <a:spcAft>
                <a:spcPts val="0"/>
              </a:spcAft>
              <a:buSzPts val="3200"/>
              <a:buChar char="●"/>
            </a:pPr>
            <a:r>
              <a:rPr b="1" lang="en"/>
              <a:t>Ideal Frequency Range</a:t>
            </a:r>
            <a:r>
              <a:rPr lang="en"/>
              <a:t>: CHIME operates from 400-800 MHz. </a:t>
            </a:r>
            <a:endParaRPr/>
          </a:p>
          <a:p>
            <a:pPr indent="-431800" lvl="0" marL="457200" rtl="0" algn="l">
              <a:spcBef>
                <a:spcPts val="0"/>
              </a:spcBef>
              <a:spcAft>
                <a:spcPts val="0"/>
              </a:spcAft>
              <a:buSzPts val="3200"/>
              <a:buChar char="●"/>
            </a:pPr>
            <a:r>
              <a:rPr b="1" lang="en"/>
              <a:t>24/7 Operation</a:t>
            </a:r>
            <a:endParaRPr/>
          </a:p>
          <a:p>
            <a:pPr indent="-431800" lvl="0" marL="457200" rtl="0" algn="l">
              <a:spcBef>
                <a:spcPts val="0"/>
              </a:spcBef>
              <a:spcAft>
                <a:spcPts val="0"/>
              </a:spcAft>
              <a:buSzPts val="3200"/>
              <a:buChar char="●"/>
            </a:pPr>
            <a:r>
              <a:rPr b="1" lang="en"/>
              <a:t>Real-time Search</a:t>
            </a:r>
            <a:endParaRPr/>
          </a:p>
          <a:p>
            <a:pPr indent="0" lvl="0" marL="0" rtl="0" algn="l">
              <a:spcBef>
                <a:spcPts val="0"/>
              </a:spcBef>
              <a:spcAft>
                <a:spcPts val="0"/>
              </a:spcAft>
              <a:buNone/>
            </a:pPr>
            <a:r>
              <a:t/>
            </a:r>
            <a:endParaRPr/>
          </a:p>
        </p:txBody>
      </p:sp>
      <p:sp>
        <p:nvSpPr>
          <p:cNvPr id="131" name="Google Shape;131;p23"/>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32" name="Google Shape;132;p23"/>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CHIME experiments</a:t>
            </a:r>
            <a:endParaRPr/>
          </a:p>
        </p:txBody>
      </p:sp>
      <p:pic>
        <p:nvPicPr>
          <p:cNvPr id="133" name="Google Shape;133;p23" title="Screenshot_20250715_163806_Chrome.jpg"/>
          <p:cNvPicPr preferRelativeResize="0"/>
          <p:nvPr/>
        </p:nvPicPr>
        <p:blipFill>
          <a:blip r:embed="rId3">
            <a:alphaModFix/>
          </a:blip>
          <a:stretch>
            <a:fillRect/>
          </a:stretch>
        </p:blipFill>
        <p:spPr>
          <a:xfrm>
            <a:off x="11663319" y="2323813"/>
            <a:ext cx="11527782" cy="9459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idx="1" type="body"/>
          </p:nvPr>
        </p:nvSpPr>
        <p:spPr>
          <a:xfrm>
            <a:off x="4193550" y="11085379"/>
            <a:ext cx="15996900" cy="2399700"/>
          </a:xfrm>
          <a:prstGeom prst="rect">
            <a:avLst/>
          </a:prstGeom>
        </p:spPr>
        <p:txBody>
          <a:bodyPr anchorCtr="0" anchor="ctr" bIns="243800" lIns="243800" spcFirstLastPara="1" rIns="243800" wrap="square" tIns="243800">
            <a:normAutofit fontScale="77500" lnSpcReduction="10000"/>
          </a:bodyPr>
          <a:lstStyle/>
          <a:p>
            <a:pPr indent="0" lvl="0" marL="0" rtl="0" algn="ctr">
              <a:spcBef>
                <a:spcPts val="0"/>
              </a:spcBef>
              <a:spcAft>
                <a:spcPts val="0"/>
              </a:spcAft>
              <a:buNone/>
            </a:pPr>
            <a:r>
              <a:rPr lang="en"/>
              <a:t>474 nonrepeating and 18 repeating (62 bursts) </a:t>
            </a:r>
            <a:r>
              <a:rPr lang="en"/>
              <a:t>FRBs observed by CHIME in Galactic coordinates from 28 August 2018 to 1 July 2019. </a:t>
            </a:r>
            <a:endParaRPr/>
          </a:p>
          <a:p>
            <a:pPr indent="0" lvl="0" marL="0" rtl="0" algn="ctr">
              <a:spcBef>
                <a:spcPts val="0"/>
              </a:spcBef>
              <a:spcAft>
                <a:spcPts val="0"/>
              </a:spcAft>
              <a:buNone/>
            </a:pPr>
            <a:r>
              <a:rPr lang="en"/>
              <a:t>(https://chime-frb-open-data.github.io)</a:t>
            </a:r>
            <a:endParaRPr/>
          </a:p>
          <a:p>
            <a:pPr indent="0" lvl="0" marL="0" rtl="0" algn="ctr">
              <a:spcBef>
                <a:spcPts val="0"/>
              </a:spcBef>
              <a:spcAft>
                <a:spcPts val="0"/>
              </a:spcAft>
              <a:buNone/>
            </a:pPr>
            <a:r>
              <a:rPr lang="en" sz="2883"/>
              <a:t>Credit: CHIME/FRB Collaboration - https://iopscience.iop.org/article/10.3847/1538-4365/ac33ab</a:t>
            </a:r>
            <a:endParaRPr sz="2883"/>
          </a:p>
        </p:txBody>
      </p:sp>
      <p:sp>
        <p:nvSpPr>
          <p:cNvPr id="139" name="Google Shape;139;p24"/>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pic>
        <p:nvPicPr>
          <p:cNvPr id="140" name="Google Shape;140;p24"/>
          <p:cNvPicPr preferRelativeResize="0"/>
          <p:nvPr/>
        </p:nvPicPr>
        <p:blipFill>
          <a:blip r:embed="rId3">
            <a:alphaModFix/>
          </a:blip>
          <a:stretch>
            <a:fillRect/>
          </a:stretch>
        </p:blipFill>
        <p:spPr>
          <a:xfrm>
            <a:off x="2972038" y="210725"/>
            <a:ext cx="18439926" cy="107056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BURSTT</a:t>
            </a:r>
            <a:endParaRPr/>
          </a:p>
        </p:txBody>
      </p:sp>
      <p:sp>
        <p:nvSpPr>
          <p:cNvPr id="146" name="Google Shape;146;p25"/>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47" name="Google Shape;147;p25"/>
          <p:cNvSpPr txBox="1"/>
          <p:nvPr>
            <p:ph idx="1" type="body"/>
          </p:nvPr>
        </p:nvSpPr>
        <p:spPr>
          <a:xfrm>
            <a:off x="831200" y="2332267"/>
            <a:ext cx="7488000" cy="10847100"/>
          </a:xfrm>
          <a:prstGeom prst="rect">
            <a:avLst/>
          </a:prstGeom>
        </p:spPr>
        <p:txBody>
          <a:bodyPr anchorCtr="0" anchor="ctr" bIns="243800" lIns="243800" spcFirstLastPara="1" rIns="243800" wrap="square" tIns="243800">
            <a:normAutofit lnSpcReduction="10000"/>
          </a:bodyPr>
          <a:lstStyle/>
          <a:p>
            <a:pPr indent="0" lvl="0" marL="0" rtl="0" algn="l">
              <a:spcBef>
                <a:spcPts val="0"/>
              </a:spcBef>
              <a:spcAft>
                <a:spcPts val="0"/>
              </a:spcAft>
              <a:buNone/>
            </a:pPr>
            <a:r>
              <a:rPr lang="en"/>
              <a:t>BURSTT is a unique fisheye radio software telescope in Taiwan dedicated to finding mysterious fast radio bursts (FRBs)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scalable, dense core array of 256 to 2048 individual LPDA antennas.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Find bright, nearby FRBs and pinpoint their exact location to identify their host galaxy and enable follow-up by other telescopes (optical, X-ray,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Very Long Baseline Interferometry (VLBI). Uses "outrigger" stations hundreds or thousands of kilometers away (e.g., in Hawaii) to create extremely long baselines.</a:t>
            </a:r>
            <a:endParaRPr/>
          </a:p>
        </p:txBody>
      </p:sp>
      <p:pic>
        <p:nvPicPr>
          <p:cNvPr id="148" name="Google Shape;148;p25" title="Screenshot_20250715_083416_Drive.jpg"/>
          <p:cNvPicPr preferRelativeResize="0"/>
          <p:nvPr/>
        </p:nvPicPr>
        <p:blipFill>
          <a:blip r:embed="rId3">
            <a:alphaModFix/>
          </a:blip>
          <a:stretch>
            <a:fillRect/>
          </a:stretch>
        </p:blipFill>
        <p:spPr>
          <a:xfrm>
            <a:off x="10478700" y="910918"/>
            <a:ext cx="12515026" cy="6078232"/>
          </a:xfrm>
          <a:prstGeom prst="rect">
            <a:avLst/>
          </a:prstGeom>
          <a:noFill/>
          <a:ln>
            <a:noFill/>
          </a:ln>
        </p:spPr>
      </p:pic>
      <p:pic>
        <p:nvPicPr>
          <p:cNvPr id="149" name="Google Shape;149;p25" title="Screenshot_20250716_113942_Drive.jpg"/>
          <p:cNvPicPr preferRelativeResize="0"/>
          <p:nvPr/>
        </p:nvPicPr>
        <p:blipFill>
          <a:blip r:embed="rId4">
            <a:alphaModFix/>
          </a:blip>
          <a:stretch>
            <a:fillRect/>
          </a:stretch>
        </p:blipFill>
        <p:spPr>
          <a:xfrm>
            <a:off x="10478700" y="7733475"/>
            <a:ext cx="12515026" cy="5982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 name="Shape 153"/>
        <p:cNvGrpSpPr/>
        <p:nvPr/>
      </p:nvGrpSpPr>
      <p:grpSpPr>
        <a:xfrm>
          <a:off x="0" y="0"/>
          <a:ext cx="0" cy="0"/>
          <a:chOff x="0" y="0"/>
          <a:chExt cx="0" cy="0"/>
        </a:xfrm>
      </p:grpSpPr>
      <p:sp>
        <p:nvSpPr>
          <p:cNvPr id="154" name="Google Shape;154;p26"/>
          <p:cNvSpPr txBox="1"/>
          <p:nvPr>
            <p:ph idx="1" type="body"/>
          </p:nvPr>
        </p:nvSpPr>
        <p:spPr>
          <a:xfrm>
            <a:off x="421075" y="1875700"/>
            <a:ext cx="12198600" cy="11609100"/>
          </a:xfrm>
          <a:prstGeom prst="rect">
            <a:avLst/>
          </a:prstGeom>
        </p:spPr>
        <p:txBody>
          <a:bodyPr anchorCtr="0" anchor="ctr" bIns="243800" lIns="243800" spcFirstLastPara="1" rIns="243800" wrap="square" tIns="243800">
            <a:normAutofit fontScale="92500" lnSpcReduction="20000"/>
          </a:bodyPr>
          <a:lstStyle/>
          <a:p>
            <a:pPr indent="0" lvl="0" marL="0" rtl="0" algn="l">
              <a:spcBef>
                <a:spcPts val="0"/>
              </a:spcBef>
              <a:spcAft>
                <a:spcPts val="0"/>
              </a:spcAft>
              <a:buNone/>
            </a:pPr>
            <a:r>
              <a:rPr b="1" lang="en"/>
              <a:t>Traditional Superheterodyne Receiver</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=&gt; Receive a high-frequency signal (e.g., a 450 MHz radio station) and process it with simpler, lower-frequency electronics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34375"/>
              <a:buFont typeface="Arial"/>
              <a:buNone/>
            </a:pPr>
            <a:r>
              <a:rPr b="1" lang="en"/>
              <a:t>The Process:</a:t>
            </a:r>
            <a:endParaRPr b="1"/>
          </a:p>
          <a:p>
            <a:pPr indent="-416560" lvl="0" marL="457200" rtl="0" algn="l">
              <a:spcBef>
                <a:spcPts val="0"/>
              </a:spcBef>
              <a:spcAft>
                <a:spcPts val="0"/>
              </a:spcAft>
              <a:buSzPct val="100000"/>
              <a:buChar char="●"/>
            </a:pPr>
            <a:r>
              <a:rPr b="1" lang="en"/>
              <a:t>RF Amplification (LNA)</a:t>
            </a:r>
            <a:r>
              <a:rPr lang="en"/>
              <a:t>: The weak 450 MHz signal from the antenna is amplified.</a:t>
            </a:r>
            <a:endParaRPr/>
          </a:p>
          <a:p>
            <a:pPr indent="-416560" lvl="0" marL="457200" rtl="0" algn="l">
              <a:spcBef>
                <a:spcPts val="0"/>
              </a:spcBef>
              <a:spcAft>
                <a:spcPts val="0"/>
              </a:spcAft>
              <a:buSzPct val="100000"/>
              <a:buChar char="●"/>
            </a:pPr>
            <a:r>
              <a:rPr b="1" lang="en"/>
              <a:t>The Mixer</a:t>
            </a:r>
            <a:r>
              <a:rPr lang="en"/>
              <a:t>: </a:t>
            </a:r>
            <a:endParaRPr/>
          </a:p>
          <a:p>
            <a:pPr indent="-416560" lvl="1" marL="914400" rtl="0" algn="l">
              <a:spcBef>
                <a:spcPts val="0"/>
              </a:spcBef>
              <a:spcAft>
                <a:spcPts val="0"/>
              </a:spcAft>
              <a:buSzPct val="100000"/>
              <a:buChar char="○"/>
            </a:pPr>
            <a:r>
              <a:rPr lang="en"/>
              <a:t>takes the amplified 450 MHz signal as one input.</a:t>
            </a:r>
            <a:endParaRPr/>
          </a:p>
          <a:p>
            <a:pPr indent="-416560" lvl="1" marL="914400" rtl="0" algn="l">
              <a:spcBef>
                <a:spcPts val="0"/>
              </a:spcBef>
              <a:spcAft>
                <a:spcPts val="0"/>
              </a:spcAft>
              <a:buSzPct val="100000"/>
              <a:buChar char="○"/>
            </a:pPr>
            <a:r>
              <a:rPr lang="en"/>
              <a:t>takes a second signal from a Local Oscillator (LO)—a very precise, tunable frequency generator. Let's say we tune the LO to 440 MHz.</a:t>
            </a:r>
            <a:endParaRPr/>
          </a:p>
          <a:p>
            <a:pPr indent="-416560" lvl="1" marL="914400" rtl="0" algn="l">
              <a:spcBef>
                <a:spcPts val="0"/>
              </a:spcBef>
              <a:spcAft>
                <a:spcPts val="0"/>
              </a:spcAft>
              <a:buSzPct val="100000"/>
              <a:buChar char="○"/>
            </a:pPr>
            <a:r>
              <a:rPr lang="en"/>
              <a:t>The mixer "mixes" these two signals together. The output of a mixer contains both the sum (450 + 440 = 890 MHz) and the difference (450 - 440 = 10 MHz) of the input frequencies.</a:t>
            </a:r>
            <a:endParaRPr b="1"/>
          </a:p>
          <a:p>
            <a:pPr indent="-416560" lvl="0" marL="457200" rtl="0" algn="l">
              <a:spcBef>
                <a:spcPts val="0"/>
              </a:spcBef>
              <a:spcAft>
                <a:spcPts val="0"/>
              </a:spcAft>
              <a:buSzPct val="100000"/>
              <a:buChar char="●"/>
            </a:pPr>
            <a:r>
              <a:rPr b="1" lang="en"/>
              <a:t>The IF Filter</a:t>
            </a:r>
            <a:r>
              <a:rPr lang="en"/>
              <a:t>: A very sharp, high-quality filter centered at 10 MHz (the Intermediate Frequency, or IF) is placed after the mixer. This filter throws away the unwanted 890 MHz sum product and everything else, leaving only a perfect, clean 10 MHz signal that contains the original information from the 450 MHz station.</a:t>
            </a:r>
            <a:endParaRPr/>
          </a:p>
          <a:p>
            <a:pPr indent="-416560" lvl="0" marL="457200" rtl="0" algn="l">
              <a:spcBef>
                <a:spcPts val="0"/>
              </a:spcBef>
              <a:spcAft>
                <a:spcPts val="0"/>
              </a:spcAft>
              <a:buSzPct val="100000"/>
              <a:buChar char="●"/>
            </a:pPr>
            <a:r>
              <a:rPr b="1" lang="en"/>
              <a:t>IF Amplification &amp; Demodulation</a:t>
            </a:r>
            <a:r>
              <a:rPr lang="en"/>
              <a:t>: This clean, stable 10 MHz IF signal is then much easier for the rest of the radio's electronics to amplify further and demodulate.</a:t>
            </a:r>
            <a:endParaRPr/>
          </a:p>
        </p:txBody>
      </p:sp>
      <p:sp>
        <p:nvSpPr>
          <p:cNvPr id="155" name="Google Shape;155;p26"/>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56" name="Google Shape;156;p26"/>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What is included in an antenna system?</a:t>
            </a:r>
            <a:endParaRPr/>
          </a:p>
        </p:txBody>
      </p:sp>
      <p:pic>
        <p:nvPicPr>
          <p:cNvPr id="157" name="Google Shape;157;p26" title="A-basic-heterodyne-radio-telescope-receiver-The-antenna-low-noise-RF-amplifier-LNA.png"/>
          <p:cNvPicPr preferRelativeResize="0"/>
          <p:nvPr/>
        </p:nvPicPr>
        <p:blipFill>
          <a:blip r:embed="rId3">
            <a:alphaModFix/>
          </a:blip>
          <a:stretch>
            <a:fillRect/>
          </a:stretch>
        </p:blipFill>
        <p:spPr>
          <a:xfrm>
            <a:off x="12860400" y="1449300"/>
            <a:ext cx="10155601" cy="3266143"/>
          </a:xfrm>
          <a:prstGeom prst="rect">
            <a:avLst/>
          </a:prstGeom>
          <a:noFill/>
          <a:ln>
            <a:noFill/>
          </a:ln>
        </p:spPr>
      </p:pic>
      <p:pic>
        <p:nvPicPr>
          <p:cNvPr id="158" name="Google Shape;158;p26" title="How_superheterodyne_receiver_works.svg.png"/>
          <p:cNvPicPr preferRelativeResize="0"/>
          <p:nvPr/>
        </p:nvPicPr>
        <p:blipFill>
          <a:blip r:embed="rId4">
            <a:alphaModFix/>
          </a:blip>
          <a:stretch>
            <a:fillRect/>
          </a:stretch>
        </p:blipFill>
        <p:spPr>
          <a:xfrm>
            <a:off x="13566600" y="4791650"/>
            <a:ext cx="8775821" cy="88238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 name="Shape 162"/>
        <p:cNvGrpSpPr/>
        <p:nvPr/>
      </p:nvGrpSpPr>
      <p:grpSpPr>
        <a:xfrm>
          <a:off x="0" y="0"/>
          <a:ext cx="0" cy="0"/>
          <a:chOff x="0" y="0"/>
          <a:chExt cx="0" cy="0"/>
        </a:xfrm>
      </p:grpSpPr>
      <p:sp>
        <p:nvSpPr>
          <p:cNvPr id="163" name="Google Shape;163;p27"/>
          <p:cNvSpPr txBox="1"/>
          <p:nvPr>
            <p:ph idx="1" type="body"/>
          </p:nvPr>
        </p:nvSpPr>
        <p:spPr>
          <a:xfrm>
            <a:off x="831200" y="2332275"/>
            <a:ext cx="10358400" cy="10847100"/>
          </a:xfrm>
          <a:prstGeom prst="rect">
            <a:avLst/>
          </a:prstGeom>
        </p:spPr>
        <p:txBody>
          <a:bodyPr anchorCtr="0" anchor="ctr" bIns="243800" lIns="243800" spcFirstLastPara="1" rIns="243800" wrap="square" tIns="243800">
            <a:normAutofit lnSpcReduction="20000"/>
          </a:bodyPr>
          <a:lstStyle/>
          <a:p>
            <a:pPr indent="-431800" lvl="0" marL="457200" rtl="0" algn="l">
              <a:spcBef>
                <a:spcPts val="0"/>
              </a:spcBef>
              <a:spcAft>
                <a:spcPts val="0"/>
              </a:spcAft>
              <a:buSzPts val="3200"/>
              <a:buChar char="●"/>
            </a:pPr>
            <a:r>
              <a:rPr b="1" lang="en"/>
              <a:t>RF Amplification (LNA)</a:t>
            </a:r>
            <a:r>
              <a:rPr lang="en"/>
              <a:t>: The chip has its own internal, programmable LNAs.</a:t>
            </a:r>
            <a:endParaRPr/>
          </a:p>
          <a:p>
            <a:pPr indent="-431800" lvl="0" marL="457200" rtl="0" algn="l">
              <a:spcBef>
                <a:spcPts val="0"/>
              </a:spcBef>
              <a:spcAft>
                <a:spcPts val="0"/>
              </a:spcAft>
              <a:buSzPts val="3200"/>
              <a:buChar char="●"/>
            </a:pPr>
            <a:r>
              <a:rPr b="1" lang="en"/>
              <a:t>The Digital "Mixer"</a:t>
            </a:r>
            <a:r>
              <a:rPr lang="en"/>
              <a:t>: The AD9361 has an internal, digitally-controlled LO that is extremely agile. To receive at 450 MHz, it sets its internal LO to... 450 MHz!</a:t>
            </a:r>
            <a:endParaRPr/>
          </a:p>
          <a:p>
            <a:pPr indent="-431800" lvl="0" marL="457200" rtl="0" algn="l">
              <a:spcBef>
                <a:spcPts val="0"/>
              </a:spcBef>
              <a:spcAft>
                <a:spcPts val="0"/>
              </a:spcAft>
              <a:buSzPts val="3200"/>
              <a:buChar char="●"/>
            </a:pPr>
            <a:r>
              <a:rPr b="1" lang="en"/>
              <a:t>Quadrature Demodulation</a:t>
            </a:r>
            <a:r>
              <a:rPr lang="en"/>
              <a:t>: It mixes the incoming signal with two versions of the 450 MHz LO that are 90 degrees out of phase. This produces two outputs:</a:t>
            </a:r>
            <a:endParaRPr/>
          </a:p>
          <a:p>
            <a:pPr indent="-431800" lvl="1" marL="914400" rtl="0" algn="l">
              <a:spcBef>
                <a:spcPts val="0"/>
              </a:spcBef>
              <a:spcAft>
                <a:spcPts val="0"/>
              </a:spcAft>
              <a:buSzPts val="3200"/>
              <a:buChar char="○"/>
            </a:pPr>
            <a:r>
              <a:rPr lang="en"/>
              <a:t>The I (In-phase) signal.</a:t>
            </a:r>
            <a:endParaRPr/>
          </a:p>
          <a:p>
            <a:pPr indent="-431800" lvl="1" marL="914400" rtl="0" algn="l">
              <a:spcBef>
                <a:spcPts val="0"/>
              </a:spcBef>
              <a:spcAft>
                <a:spcPts val="0"/>
              </a:spcAft>
              <a:buSzPts val="3200"/>
              <a:buChar char="○"/>
            </a:pPr>
            <a:r>
              <a:rPr lang="en"/>
              <a:t>The Q (Quadrature) signal.</a:t>
            </a:r>
            <a:endParaRPr/>
          </a:p>
          <a:p>
            <a:pPr indent="-431800" lvl="1" marL="914400" rtl="0" algn="l">
              <a:spcBef>
                <a:spcPts val="0"/>
              </a:spcBef>
              <a:spcAft>
                <a:spcPts val="0"/>
              </a:spcAft>
              <a:buSzPts val="3200"/>
              <a:buChar char="○"/>
            </a:pPr>
            <a:r>
              <a:rPr lang="en"/>
              <a:t>These I and Q signals are now at baseband (centered at 0 Hz). They contain the complete amplitude and phase information of the original 450 MHz signal.</a:t>
            </a:r>
            <a:endParaRPr/>
          </a:p>
          <a:p>
            <a:pPr indent="-431800" lvl="0" marL="457200" rtl="0" algn="l">
              <a:spcBef>
                <a:spcPts val="0"/>
              </a:spcBef>
              <a:spcAft>
                <a:spcPts val="0"/>
              </a:spcAft>
              <a:buSzPts val="3200"/>
              <a:buChar char="●"/>
            </a:pPr>
            <a:r>
              <a:rPr b="1" lang="en"/>
              <a:t>Low-Pass Filtering &amp; Digitization</a:t>
            </a:r>
            <a:r>
              <a:rPr lang="en"/>
              <a:t>: These I and Q baseband signals are then passed through programmable low-pass filters (to set the channel bandwidth) and digitized by two separate, high-speed ADCs.</a:t>
            </a:r>
            <a:endParaRPr/>
          </a:p>
        </p:txBody>
      </p:sp>
      <p:sp>
        <p:nvSpPr>
          <p:cNvPr id="164" name="Google Shape;164;p27"/>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65" name="Google Shape;165;p27"/>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Modern Direct-Conversion SDR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BURSTT’s hardware</a:t>
            </a:r>
            <a:endParaRPr/>
          </a:p>
        </p:txBody>
      </p:sp>
      <p:sp>
        <p:nvSpPr>
          <p:cNvPr id="171" name="Google Shape;171;p28"/>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72" name="Google Shape;172;p28"/>
          <p:cNvSpPr txBox="1"/>
          <p:nvPr>
            <p:ph idx="1" type="body"/>
          </p:nvPr>
        </p:nvSpPr>
        <p:spPr>
          <a:xfrm>
            <a:off x="2522250" y="9305200"/>
            <a:ext cx="20668800" cy="38742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Clr>
                <a:schemeClr val="dk1"/>
              </a:buClr>
              <a:buSzPts val="1100"/>
              <a:buFont typeface="Arial"/>
              <a:buNone/>
            </a:pPr>
            <a:r>
              <a:rPr lang="en"/>
              <a:t>The BURSTT hardware can be broken down into three main systems:</a:t>
            </a:r>
            <a:endParaRPr/>
          </a:p>
          <a:p>
            <a:pPr indent="-431800" lvl="0" marL="457200" rtl="0" algn="l">
              <a:spcBef>
                <a:spcPts val="0"/>
              </a:spcBef>
              <a:spcAft>
                <a:spcPts val="0"/>
              </a:spcAft>
              <a:buSzPts val="3200"/>
              <a:buChar char="●"/>
            </a:pPr>
            <a:r>
              <a:rPr b="1" lang="en"/>
              <a:t>The Frontend</a:t>
            </a:r>
            <a:r>
              <a:rPr lang="en"/>
              <a:t>: The analog system at each antenna that captures and prepares the faint radio signal.</a:t>
            </a:r>
            <a:endParaRPr/>
          </a:p>
          <a:p>
            <a:pPr indent="-431800" lvl="0" marL="457200" rtl="0" algn="l">
              <a:spcBef>
                <a:spcPts val="0"/>
              </a:spcBef>
              <a:spcAft>
                <a:spcPts val="0"/>
              </a:spcAft>
              <a:buSzPts val="3200"/>
              <a:buChar char="●"/>
            </a:pPr>
            <a:r>
              <a:rPr b="1" lang="en"/>
              <a:t>The Backend</a:t>
            </a:r>
            <a:r>
              <a:rPr lang="en"/>
              <a:t>: The massive digital "brain" at the main station that processes the signals in real-time.</a:t>
            </a:r>
            <a:endParaRPr/>
          </a:p>
          <a:p>
            <a:pPr indent="-431800" lvl="0" marL="457200" rtl="0" algn="l">
              <a:spcBef>
                <a:spcPts val="0"/>
              </a:spcBef>
              <a:spcAft>
                <a:spcPts val="0"/>
              </a:spcAft>
              <a:buSzPts val="3200"/>
              <a:buChar char="●"/>
            </a:pPr>
            <a:r>
              <a:rPr b="1" lang="en"/>
              <a:t>The Outrigger System</a:t>
            </a:r>
            <a:r>
              <a:rPr lang="en"/>
              <a:t>: The remote stations that enable precision localization.</a:t>
            </a:r>
            <a:endParaRPr/>
          </a:p>
        </p:txBody>
      </p:sp>
      <p:pic>
        <p:nvPicPr>
          <p:cNvPr id="173" name="Google Shape;173;p28" title="Screenshot_20250715_083301_Drive.jpg"/>
          <p:cNvPicPr preferRelativeResize="0"/>
          <p:nvPr/>
        </p:nvPicPr>
        <p:blipFill>
          <a:blip r:embed="rId3">
            <a:alphaModFix/>
          </a:blip>
          <a:stretch>
            <a:fillRect/>
          </a:stretch>
        </p:blipFill>
        <p:spPr>
          <a:xfrm>
            <a:off x="4159600" y="2711490"/>
            <a:ext cx="16064799" cy="55536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Front-end: The “ear” of the telescope</a:t>
            </a:r>
            <a:endParaRPr/>
          </a:p>
        </p:txBody>
      </p:sp>
      <p:sp>
        <p:nvSpPr>
          <p:cNvPr id="179" name="Google Shape;179;p29"/>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180" name="Google Shape;180;p29"/>
          <p:cNvSpPr txBox="1"/>
          <p:nvPr>
            <p:ph idx="1" type="body"/>
          </p:nvPr>
        </p:nvSpPr>
        <p:spPr>
          <a:xfrm>
            <a:off x="831200" y="5394673"/>
            <a:ext cx="7488000" cy="7784700"/>
          </a:xfrm>
          <a:prstGeom prst="rect">
            <a:avLst/>
          </a:prstGeom>
        </p:spPr>
        <p:txBody>
          <a:bodyPr anchorCtr="0" anchor="ctr" bIns="243800" lIns="243800" spcFirstLastPara="1" rIns="243800" wrap="square" tIns="243800">
            <a:normAutofit/>
          </a:bodyPr>
          <a:lstStyle/>
          <a:p>
            <a:pPr indent="-431800" lvl="0" marL="457200" rtl="0" algn="l">
              <a:spcBef>
                <a:spcPts val="0"/>
              </a:spcBef>
              <a:spcAft>
                <a:spcPts val="0"/>
              </a:spcAft>
              <a:buSzPts val="3200"/>
              <a:buChar char="●"/>
            </a:pPr>
            <a:r>
              <a:rPr lang="en"/>
              <a:t>This is the system that exists at each of the 256 antennas in the main array. </a:t>
            </a:r>
            <a:endParaRPr/>
          </a:p>
          <a:p>
            <a:pPr indent="-431800" lvl="0" marL="457200" rtl="0" algn="l">
              <a:spcBef>
                <a:spcPts val="0"/>
              </a:spcBef>
              <a:spcAft>
                <a:spcPts val="0"/>
              </a:spcAft>
              <a:buSzPts val="3200"/>
              <a:buChar char="●"/>
            </a:pPr>
            <a:r>
              <a:rPr lang="en"/>
              <a:t>Its only job is to capture the faint cosmic signal with the highest possible fidelity and send it to the backend. </a:t>
            </a:r>
            <a:endParaRPr/>
          </a:p>
          <a:p>
            <a:pPr indent="-431800" lvl="0" marL="457200" rtl="0" algn="l">
              <a:spcBef>
                <a:spcPts val="0"/>
              </a:spcBef>
              <a:spcAft>
                <a:spcPts val="0"/>
              </a:spcAft>
              <a:buSzPts val="3200"/>
              <a:buChar char="●"/>
            </a:pPr>
            <a:r>
              <a:rPr lang="en"/>
              <a:t>It follows a classic high-dynamic-range, two-stage amplification design.</a:t>
            </a:r>
            <a:endParaRPr/>
          </a:p>
        </p:txBody>
      </p:sp>
      <p:pic>
        <p:nvPicPr>
          <p:cNvPr id="181" name="Google Shape;181;p29" title="Screenshot_20250715_083301_Drive.jpg"/>
          <p:cNvPicPr preferRelativeResize="0"/>
          <p:nvPr/>
        </p:nvPicPr>
        <p:blipFill>
          <a:blip r:embed="rId3">
            <a:alphaModFix/>
          </a:blip>
          <a:stretch>
            <a:fillRect/>
          </a:stretch>
        </p:blipFill>
        <p:spPr>
          <a:xfrm>
            <a:off x="524250" y="1671421"/>
            <a:ext cx="10027023" cy="3466350"/>
          </a:xfrm>
          <a:prstGeom prst="rect">
            <a:avLst/>
          </a:prstGeom>
          <a:noFill/>
          <a:ln>
            <a:noFill/>
          </a:ln>
        </p:spPr>
      </p:pic>
      <p:sp>
        <p:nvSpPr>
          <p:cNvPr id="182" name="Google Shape;182;p29"/>
          <p:cNvSpPr/>
          <p:nvPr/>
        </p:nvSpPr>
        <p:spPr>
          <a:xfrm>
            <a:off x="216775" y="1338250"/>
            <a:ext cx="4815300" cy="4056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pic>
        <p:nvPicPr>
          <p:cNvPr id="183" name="Google Shape;183;p29" title="Screenshot_20250715_083301_Drive.jpg"/>
          <p:cNvPicPr preferRelativeResize="0"/>
          <p:nvPr/>
        </p:nvPicPr>
        <p:blipFill rotWithShape="1">
          <a:blip r:embed="rId3">
            <a:alphaModFix/>
          </a:blip>
          <a:srcRect b="0" l="0" r="52487" t="0"/>
          <a:stretch/>
        </p:blipFill>
        <p:spPr>
          <a:xfrm>
            <a:off x="11724600" y="4602775"/>
            <a:ext cx="11787500" cy="8576600"/>
          </a:xfrm>
          <a:prstGeom prst="rect">
            <a:avLst/>
          </a:prstGeom>
          <a:noFill/>
          <a:ln cap="flat" cmpd="sng" w="76200">
            <a:solidFill>
              <a:srgbClr val="FF0000"/>
            </a:solidFill>
            <a:prstDash val="solid"/>
            <a:round/>
            <a:headEnd len="sm" w="sm" type="none"/>
            <a:tailEnd len="sm" w="sm" type="none"/>
          </a:ln>
        </p:spPr>
      </p:pic>
      <p:cxnSp>
        <p:nvCxnSpPr>
          <p:cNvPr id="184" name="Google Shape;184;p29"/>
          <p:cNvCxnSpPr>
            <a:stCxn id="182" idx="3"/>
            <a:endCxn id="183" idx="1"/>
          </p:cNvCxnSpPr>
          <p:nvPr/>
        </p:nvCxnSpPr>
        <p:spPr>
          <a:xfrm>
            <a:off x="5032075" y="3366400"/>
            <a:ext cx="6692400" cy="5524800"/>
          </a:xfrm>
          <a:prstGeom prst="straightConnector1">
            <a:avLst/>
          </a:prstGeom>
          <a:noFill/>
          <a:ln cap="flat" cmpd="sng" w="114300">
            <a:solidFill>
              <a:srgbClr val="FF00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Front-end: The “ear” of the telescope</a:t>
            </a:r>
            <a:endParaRPr/>
          </a:p>
        </p:txBody>
      </p:sp>
      <p:sp>
        <p:nvSpPr>
          <p:cNvPr id="190" name="Google Shape;190;p30"/>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0"/>
          <p:cNvSpPr txBox="1"/>
          <p:nvPr>
            <p:ph idx="1" type="body"/>
          </p:nvPr>
        </p:nvSpPr>
        <p:spPr>
          <a:xfrm>
            <a:off x="831200" y="5394673"/>
            <a:ext cx="7488000" cy="7784700"/>
          </a:xfrm>
          <a:prstGeom prst="rect">
            <a:avLst/>
          </a:prstGeom>
        </p:spPr>
        <p:txBody>
          <a:bodyPr anchorCtr="0" anchor="ctr" bIns="243800" lIns="243800" spcFirstLastPara="1" rIns="243800" wrap="square" tIns="243800">
            <a:normAutofit/>
          </a:bodyPr>
          <a:lstStyle/>
          <a:p>
            <a:pPr indent="-431800" lvl="0" marL="457200" rtl="0" algn="l">
              <a:spcBef>
                <a:spcPts val="0"/>
              </a:spcBef>
              <a:spcAft>
                <a:spcPts val="0"/>
              </a:spcAft>
              <a:buSzPts val="3200"/>
              <a:buChar char="●"/>
            </a:pPr>
            <a:r>
              <a:rPr lang="en"/>
              <a:t>LPDAs provide good, consistent gain (7-9 dBi) across the entire 300-800 MHz frequency band. </a:t>
            </a:r>
            <a:endParaRPr/>
          </a:p>
          <a:p>
            <a:pPr indent="-431800" lvl="0" marL="457200" rtl="0" algn="l">
              <a:spcBef>
                <a:spcPts val="0"/>
              </a:spcBef>
              <a:spcAft>
                <a:spcPts val="0"/>
              </a:spcAft>
              <a:buSzPts val="3200"/>
              <a:buChar char="●"/>
            </a:pPr>
            <a:r>
              <a:rPr lang="en"/>
              <a:t>They are simple, mechanically robust (important for Taiwan's typhoon season), and highly directional.</a:t>
            </a:r>
            <a:endParaRPr/>
          </a:p>
        </p:txBody>
      </p:sp>
      <p:pic>
        <p:nvPicPr>
          <p:cNvPr id="192" name="Google Shape;192;p30" title="Screenshot_20250715_083301_Drive.jpg"/>
          <p:cNvPicPr preferRelativeResize="0"/>
          <p:nvPr/>
        </p:nvPicPr>
        <p:blipFill>
          <a:blip r:embed="rId3">
            <a:alphaModFix/>
          </a:blip>
          <a:stretch>
            <a:fillRect/>
          </a:stretch>
        </p:blipFill>
        <p:spPr>
          <a:xfrm>
            <a:off x="11891692" y="1504901"/>
            <a:ext cx="11733560" cy="4056300"/>
          </a:xfrm>
          <a:prstGeom prst="rect">
            <a:avLst/>
          </a:prstGeom>
          <a:noFill/>
          <a:ln>
            <a:noFill/>
          </a:ln>
        </p:spPr>
      </p:pic>
      <p:sp>
        <p:nvSpPr>
          <p:cNvPr id="193" name="Google Shape;193;p30"/>
          <p:cNvSpPr/>
          <p:nvPr/>
        </p:nvSpPr>
        <p:spPr>
          <a:xfrm>
            <a:off x="11549975" y="1504900"/>
            <a:ext cx="5651400" cy="4056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94" name="Google Shape;194;p30"/>
          <p:cNvCxnSpPr>
            <a:stCxn id="195" idx="3"/>
            <a:endCxn id="196" idx="0"/>
          </p:cNvCxnSpPr>
          <p:nvPr/>
        </p:nvCxnSpPr>
        <p:spPr>
          <a:xfrm>
            <a:off x="13388400" y="3661425"/>
            <a:ext cx="4023300" cy="3651300"/>
          </a:xfrm>
          <a:prstGeom prst="straightConnector1">
            <a:avLst/>
          </a:prstGeom>
          <a:noFill/>
          <a:ln cap="flat" cmpd="sng" w="114300">
            <a:solidFill>
              <a:srgbClr val="0000FF"/>
            </a:solidFill>
            <a:prstDash val="dash"/>
            <a:round/>
            <a:headEnd len="med" w="med" type="none"/>
            <a:tailEnd len="med" w="med" type="triangle"/>
          </a:ln>
        </p:spPr>
      </p:cxnSp>
      <p:pic>
        <p:nvPicPr>
          <p:cNvPr id="196" name="Google Shape;196;p30" title="Screenshot_20250716_114901_Drive.jpg"/>
          <p:cNvPicPr preferRelativeResize="0"/>
          <p:nvPr/>
        </p:nvPicPr>
        <p:blipFill>
          <a:blip r:embed="rId4">
            <a:alphaModFix/>
          </a:blip>
          <a:stretch>
            <a:fillRect/>
          </a:stretch>
        </p:blipFill>
        <p:spPr>
          <a:xfrm>
            <a:off x="10767225" y="7312725"/>
            <a:ext cx="13289105" cy="6172225"/>
          </a:xfrm>
          <a:prstGeom prst="rect">
            <a:avLst/>
          </a:prstGeom>
          <a:noFill/>
          <a:ln>
            <a:noFill/>
          </a:ln>
        </p:spPr>
      </p:pic>
      <p:sp>
        <p:nvSpPr>
          <p:cNvPr id="195" name="Google Shape;195;p30"/>
          <p:cNvSpPr/>
          <p:nvPr/>
        </p:nvSpPr>
        <p:spPr>
          <a:xfrm>
            <a:off x="11925300" y="1928175"/>
            <a:ext cx="1463100" cy="3466500"/>
          </a:xfrm>
          <a:prstGeom prst="roundRect">
            <a:avLst>
              <a:gd fmla="val 16667" name="adj"/>
            </a:avLst>
          </a:prstGeom>
          <a:noFill/>
          <a:ln cap="flat" cmpd="sng" w="762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02" name="Google Shape;202;p31"/>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Radio Frequency Interference (RFI)</a:t>
            </a:r>
            <a:endParaRPr/>
          </a:p>
        </p:txBody>
      </p:sp>
      <p:pic>
        <p:nvPicPr>
          <p:cNvPr id="203" name="Google Shape;203;p31"/>
          <p:cNvPicPr preferRelativeResize="0"/>
          <p:nvPr/>
        </p:nvPicPr>
        <p:blipFill>
          <a:blip r:embed="rId3">
            <a:alphaModFix/>
          </a:blip>
          <a:stretch>
            <a:fillRect/>
          </a:stretch>
        </p:blipFill>
        <p:spPr>
          <a:xfrm>
            <a:off x="9847175" y="4211951"/>
            <a:ext cx="14763025" cy="7049025"/>
          </a:xfrm>
          <a:prstGeom prst="rect">
            <a:avLst/>
          </a:prstGeom>
          <a:noFill/>
          <a:ln>
            <a:noFill/>
          </a:ln>
        </p:spPr>
      </p:pic>
      <p:graphicFrame>
        <p:nvGraphicFramePr>
          <p:cNvPr id="204" name="Google Shape;204;p31"/>
          <p:cNvGraphicFramePr/>
          <p:nvPr/>
        </p:nvGraphicFramePr>
        <p:xfrm>
          <a:off x="174200" y="2712175"/>
          <a:ext cx="3000000" cy="3000000"/>
        </p:xfrm>
        <a:graphic>
          <a:graphicData uri="http://schemas.openxmlformats.org/drawingml/2006/table">
            <a:tbl>
              <a:tblPr>
                <a:noFill/>
                <a:tableStyleId>{805F637F-4CF5-426A-9FC3-FA0B1D980CB4}</a:tableStyleId>
              </a:tblPr>
              <a:tblGrid>
                <a:gridCol w="3981450"/>
                <a:gridCol w="4583350"/>
              </a:tblGrid>
              <a:tr h="1149675">
                <a:tc>
                  <a:txBody>
                    <a:bodyPr/>
                    <a:lstStyle/>
                    <a:p>
                      <a:pPr indent="0" lvl="0" marL="0" rtl="0" algn="l">
                        <a:lnSpc>
                          <a:spcPct val="100000"/>
                        </a:lnSpc>
                        <a:spcBef>
                          <a:spcPts val="0"/>
                        </a:spcBef>
                        <a:spcAft>
                          <a:spcPts val="1700"/>
                        </a:spcAft>
                        <a:buNone/>
                      </a:pPr>
                      <a:r>
                        <a:rPr b="1" lang="en" sz="3000">
                          <a:solidFill>
                            <a:schemeClr val="dk1"/>
                          </a:solidFill>
                        </a:rPr>
                        <a:t>Source</a:t>
                      </a:r>
                      <a:endParaRPr b="1" sz="3000">
                        <a:solidFill>
                          <a:schemeClr val="dk1"/>
                        </a:solidFill>
                      </a:endParaRPr>
                    </a:p>
                  </a:txBody>
                  <a:tcPr marT="76200" marB="76200" marR="76200" marL="76200" anchor="b">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b="1" lang="en" sz="3000">
                          <a:solidFill>
                            <a:schemeClr val="dk1"/>
                          </a:solidFill>
                        </a:rPr>
                        <a:t>Approximate frequency</a:t>
                      </a:r>
                      <a:endParaRPr b="1" sz="3000">
                        <a:solidFill>
                          <a:schemeClr val="dk1"/>
                        </a:solidFill>
                      </a:endParaRPr>
                    </a:p>
                  </a:txBody>
                  <a:tcPr marT="76200" marB="76200" marR="76200" marL="76200" anchor="b">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AM</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530 - 1710 kHz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VHF (low)</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54 - 100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FM</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87.5 - 108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VHF (high)</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174 - 216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UHF</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470 - 806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GSM</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900 MHz, 1800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3G</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850 MHz, 900 MHz, 1900 MHz, 2100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400050">
                <a:tc>
                  <a:txBody>
                    <a:bodyPr/>
                    <a:lstStyle/>
                    <a:p>
                      <a:pPr indent="0" lvl="0" marL="0" rtl="0" algn="l">
                        <a:lnSpc>
                          <a:spcPct val="100000"/>
                        </a:lnSpc>
                        <a:spcBef>
                          <a:spcPts val="0"/>
                        </a:spcBef>
                        <a:spcAft>
                          <a:spcPts val="1700"/>
                        </a:spcAft>
                        <a:buNone/>
                      </a:pPr>
                      <a:r>
                        <a:rPr lang="en" sz="3000">
                          <a:solidFill>
                            <a:schemeClr val="dk1"/>
                          </a:solidFill>
                        </a:rPr>
                        <a:t>4G</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00000"/>
                        </a:lnSpc>
                        <a:spcBef>
                          <a:spcPts val="0"/>
                        </a:spcBef>
                        <a:spcAft>
                          <a:spcPts val="1700"/>
                        </a:spcAft>
                        <a:buNone/>
                      </a:pPr>
                      <a:r>
                        <a:rPr lang="en" sz="3000">
                          <a:solidFill>
                            <a:schemeClr val="dk1"/>
                          </a:solidFill>
                        </a:rPr>
                        <a:t>700 MHz, 850 MHz, 1800 MHz, 2100 MHz, 2300 MHz, 2500 MHz</a:t>
                      </a:r>
                      <a:endParaRPr sz="3000">
                        <a:solidFill>
                          <a:schemeClr val="dk1"/>
                        </a:solidFill>
                      </a:endParaRPr>
                    </a:p>
                  </a:txBody>
                  <a:tcPr marT="76200" marB="76200" marR="76200" marL="7620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idx="1" type="body"/>
          </p:nvPr>
        </p:nvSpPr>
        <p:spPr>
          <a:xfrm>
            <a:off x="762775" y="1966400"/>
            <a:ext cx="10835400" cy="11372400"/>
          </a:xfrm>
          <a:prstGeom prst="rect">
            <a:avLst/>
          </a:prstGeom>
        </p:spPr>
        <p:txBody>
          <a:bodyPr anchorCtr="0" anchor="ctr" bIns="243800" lIns="243800" spcFirstLastPara="1" rIns="243800" wrap="square" tIns="243800">
            <a:noAutofit/>
          </a:bodyPr>
          <a:lstStyle/>
          <a:p>
            <a:pPr indent="-419100" lvl="0" marL="457200" rtl="0" algn="l">
              <a:lnSpc>
                <a:spcPct val="142857"/>
              </a:lnSpc>
              <a:spcBef>
                <a:spcPts val="110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HPF (High-Pass Filter):</a:t>
            </a:r>
            <a:r>
              <a:rPr lang="en" sz="3000">
                <a:solidFill>
                  <a:srgbClr val="1A1C1E"/>
                </a:solidFill>
                <a:highlight>
                  <a:srgbClr val="FFFFFF"/>
                </a:highlight>
                <a:latin typeface="Arial"/>
                <a:ea typeface="Arial"/>
                <a:cs typeface="Arial"/>
                <a:sym typeface="Arial"/>
              </a:rPr>
              <a:t> lets high frequencies pass through while blocking low frequencies (like FM radio).</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LPF (Low-Pass Filter):</a:t>
            </a:r>
            <a:r>
              <a:rPr lang="en" sz="3000">
                <a:solidFill>
                  <a:srgbClr val="1A1C1E"/>
                </a:solidFill>
                <a:highlight>
                  <a:srgbClr val="FFFFFF"/>
                </a:highlight>
                <a:latin typeface="Arial"/>
                <a:ea typeface="Arial"/>
                <a:cs typeface="Arial"/>
                <a:sym typeface="Arial"/>
              </a:rPr>
              <a:t> lets low frequencies pass through while blocking high frequencies (like cellular and TV signals).</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BPF (Band-Pass Filter):</a:t>
            </a:r>
            <a:r>
              <a:rPr lang="en" sz="3000">
                <a:solidFill>
                  <a:srgbClr val="1A1C1E"/>
                </a:solidFill>
                <a:highlight>
                  <a:srgbClr val="FFFFFF"/>
                </a:highlight>
                <a:latin typeface="Arial"/>
                <a:ea typeface="Arial"/>
                <a:cs typeface="Arial"/>
                <a:sym typeface="Arial"/>
              </a:rPr>
              <a:t> When place an HPF and an LPF in series (one after the other), their combined effect is to create a </a:t>
            </a:r>
            <a:r>
              <a:rPr b="1" lang="en" sz="3000">
                <a:solidFill>
                  <a:srgbClr val="1A1C1E"/>
                </a:solidFill>
                <a:highlight>
                  <a:srgbClr val="FFFFFF"/>
                </a:highlight>
                <a:latin typeface="Arial"/>
                <a:ea typeface="Arial"/>
                <a:cs typeface="Arial"/>
                <a:sym typeface="Arial"/>
              </a:rPr>
              <a:t>Band-Pass Filter</a:t>
            </a:r>
            <a:r>
              <a:rPr lang="en" sz="3000">
                <a:solidFill>
                  <a:srgbClr val="1A1C1E"/>
                </a:solidFill>
                <a:highlight>
                  <a:srgbClr val="FFFFFF"/>
                </a:highlight>
                <a:latin typeface="Arial"/>
                <a:ea typeface="Arial"/>
                <a:cs typeface="Arial"/>
                <a:sym typeface="Arial"/>
              </a:rPr>
              <a:t>. It only lets a specific "band" of frequencies pass through</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BRF (Band-Reject Filter) / Notch Filter:</a:t>
            </a:r>
            <a:r>
              <a:rPr lang="en" sz="3000">
                <a:solidFill>
                  <a:srgbClr val="1A1C1E"/>
                </a:solidFill>
                <a:highlight>
                  <a:srgbClr val="FFFFFF"/>
                </a:highlight>
                <a:latin typeface="Arial"/>
                <a:ea typeface="Arial"/>
                <a:cs typeface="Arial"/>
                <a:sym typeface="Arial"/>
              </a:rPr>
              <a:t> This is the opposite of a BPF. It would be used to block a </a:t>
            </a:r>
            <a:r>
              <a:rPr i="1" lang="en" sz="3000">
                <a:solidFill>
                  <a:srgbClr val="1A1C1E"/>
                </a:solidFill>
                <a:highlight>
                  <a:srgbClr val="FFFFFF"/>
                </a:highlight>
                <a:latin typeface="Arial"/>
                <a:ea typeface="Arial"/>
                <a:cs typeface="Arial"/>
                <a:sym typeface="Arial"/>
              </a:rPr>
              <a:t>specific</a:t>
            </a:r>
            <a:r>
              <a:rPr lang="en" sz="3000">
                <a:solidFill>
                  <a:srgbClr val="1A1C1E"/>
                </a:solidFill>
                <a:highlight>
                  <a:srgbClr val="FFFFFF"/>
                </a:highlight>
                <a:latin typeface="Arial"/>
                <a:ea typeface="Arial"/>
                <a:cs typeface="Arial"/>
                <a:sym typeface="Arial"/>
              </a:rPr>
              <a:t>, narrow band of frequencies while letting everything else pass. </a:t>
            </a:r>
            <a:endParaRPr sz="3000"/>
          </a:p>
        </p:txBody>
      </p:sp>
      <p:sp>
        <p:nvSpPr>
          <p:cNvPr id="210" name="Google Shape;210;p32"/>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11" name="Google Shape;211;p32"/>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Filters: The Gatekeeper Against Interference</a:t>
            </a:r>
            <a:endParaRPr/>
          </a:p>
        </p:txBody>
      </p:sp>
      <p:pic>
        <p:nvPicPr>
          <p:cNvPr id="212" name="Google Shape;212;p32" title="The-four-common-filters-a-Low-pass-filter-passes-signals-with-a-frequency-lower-than.png"/>
          <p:cNvPicPr preferRelativeResize="0"/>
          <p:nvPr/>
        </p:nvPicPr>
        <p:blipFill>
          <a:blip r:embed="rId3">
            <a:alphaModFix/>
          </a:blip>
          <a:stretch>
            <a:fillRect/>
          </a:stretch>
        </p:blipFill>
        <p:spPr>
          <a:xfrm>
            <a:off x="13256275" y="6432227"/>
            <a:ext cx="9984300" cy="6906799"/>
          </a:xfrm>
          <a:prstGeom prst="rect">
            <a:avLst/>
          </a:prstGeom>
          <a:noFill/>
          <a:ln>
            <a:noFill/>
          </a:ln>
        </p:spPr>
      </p:pic>
      <p:pic>
        <p:nvPicPr>
          <p:cNvPr id="213" name="Google Shape;213;p32" title="Screenshot_20250715_083301_Drive.jpg"/>
          <p:cNvPicPr preferRelativeResize="0"/>
          <p:nvPr/>
        </p:nvPicPr>
        <p:blipFill>
          <a:blip r:embed="rId4">
            <a:alphaModFix/>
          </a:blip>
          <a:stretch>
            <a:fillRect/>
          </a:stretch>
        </p:blipFill>
        <p:spPr>
          <a:xfrm>
            <a:off x="12192000" y="1605876"/>
            <a:ext cx="12192000" cy="4214777"/>
          </a:xfrm>
          <a:prstGeom prst="rect">
            <a:avLst/>
          </a:prstGeom>
          <a:noFill/>
          <a:ln>
            <a:noFill/>
          </a:ln>
        </p:spPr>
      </p:pic>
      <p:sp>
        <p:nvSpPr>
          <p:cNvPr id="214" name="Google Shape;214;p32"/>
          <p:cNvSpPr/>
          <p:nvPr/>
        </p:nvSpPr>
        <p:spPr>
          <a:xfrm>
            <a:off x="13139550" y="1671425"/>
            <a:ext cx="4815300" cy="40563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15" name="Google Shape;215;p32"/>
          <p:cNvCxnSpPr>
            <a:stCxn id="216" idx="5"/>
            <a:endCxn id="212" idx="0"/>
          </p:cNvCxnSpPr>
          <p:nvPr/>
        </p:nvCxnSpPr>
        <p:spPr>
          <a:xfrm>
            <a:off x="15939326" y="3850532"/>
            <a:ext cx="2309100" cy="2581800"/>
          </a:xfrm>
          <a:prstGeom prst="straightConnector1">
            <a:avLst/>
          </a:prstGeom>
          <a:noFill/>
          <a:ln cap="flat" cmpd="sng" w="114300">
            <a:solidFill>
              <a:srgbClr val="0000FF"/>
            </a:solidFill>
            <a:prstDash val="dash"/>
            <a:round/>
            <a:headEnd len="med" w="med" type="none"/>
            <a:tailEnd len="med" w="med" type="triangle"/>
          </a:ln>
        </p:spPr>
      </p:cxnSp>
      <p:sp>
        <p:nvSpPr>
          <p:cNvPr id="216" name="Google Shape;216;p32"/>
          <p:cNvSpPr/>
          <p:nvPr/>
        </p:nvSpPr>
        <p:spPr>
          <a:xfrm>
            <a:off x="14992650" y="2546900"/>
            <a:ext cx="1109100" cy="1527300"/>
          </a:xfrm>
          <a:prstGeom prst="ellipse">
            <a:avLst/>
          </a:prstGeom>
          <a:noFill/>
          <a:ln cap="flat" cmpd="sng" w="762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3" title="Screenshot-2023-11-29-at-19.48.32.png"/>
          <p:cNvPicPr preferRelativeResize="0"/>
          <p:nvPr/>
        </p:nvPicPr>
        <p:blipFill>
          <a:blip r:embed="rId3">
            <a:alphaModFix/>
          </a:blip>
          <a:stretch>
            <a:fillRect/>
          </a:stretch>
        </p:blipFill>
        <p:spPr>
          <a:xfrm>
            <a:off x="13047000" y="6588576"/>
            <a:ext cx="10481975" cy="6498400"/>
          </a:xfrm>
          <a:prstGeom prst="rect">
            <a:avLst/>
          </a:prstGeom>
          <a:noFill/>
          <a:ln>
            <a:noFill/>
          </a:ln>
        </p:spPr>
      </p:pic>
      <p:sp>
        <p:nvSpPr>
          <p:cNvPr id="222" name="Google Shape;222;p33"/>
          <p:cNvSpPr txBox="1"/>
          <p:nvPr>
            <p:ph idx="1" type="body"/>
          </p:nvPr>
        </p:nvSpPr>
        <p:spPr>
          <a:xfrm>
            <a:off x="762775" y="1966400"/>
            <a:ext cx="10835400" cy="11372400"/>
          </a:xfrm>
          <a:prstGeom prst="rect">
            <a:avLst/>
          </a:prstGeom>
        </p:spPr>
        <p:txBody>
          <a:bodyPr anchorCtr="0" anchor="ctr" bIns="243800" lIns="243800" spcFirstLastPara="1" rIns="243800" wrap="square" tIns="243800">
            <a:noAutofit/>
          </a:bodyPr>
          <a:lstStyle/>
          <a:p>
            <a:pPr indent="0" lvl="0" marL="0" rtl="0" algn="l">
              <a:spcBef>
                <a:spcPts val="0"/>
              </a:spcBef>
              <a:spcAft>
                <a:spcPts val="0"/>
              </a:spcAft>
              <a:buNone/>
            </a:pPr>
            <a:r>
              <a:rPr lang="en" sz="3000"/>
              <a:t>The signal captured by the LPDA is incredibly weak. =&gt; We must amplify it before sending it down a long cable.</a:t>
            </a:r>
            <a:endParaRPr sz="3000"/>
          </a:p>
          <a:p>
            <a:pPr indent="0" lvl="0" marL="0" rtl="0" algn="l">
              <a:spcBef>
                <a:spcPts val="0"/>
              </a:spcBef>
              <a:spcAft>
                <a:spcPts val="0"/>
              </a:spcAft>
              <a:buNone/>
            </a:pPr>
            <a:r>
              <a:t/>
            </a:r>
            <a:endParaRPr sz="3000"/>
          </a:p>
          <a:p>
            <a:pPr indent="-419100" lvl="0" marL="457200" rtl="0" algn="l">
              <a:lnSpc>
                <a:spcPct val="142857"/>
              </a:lnSpc>
              <a:spcBef>
                <a:spcPts val="110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Amplifier:</a:t>
            </a:r>
            <a:r>
              <a:rPr lang="en" sz="3000">
                <a:solidFill>
                  <a:srgbClr val="1A1C1E"/>
                </a:solidFill>
                <a:highlight>
                  <a:srgbClr val="FFFFFF"/>
                </a:highlight>
                <a:latin typeface="Arial"/>
                <a:ea typeface="Arial"/>
                <a:cs typeface="Arial"/>
                <a:sym typeface="Arial"/>
              </a:rPr>
              <a:t> To amplify the whisper-faint cosmic signal </a:t>
            </a:r>
            <a:r>
              <a:rPr i="1" lang="en" sz="3000">
                <a:solidFill>
                  <a:srgbClr val="1A1C1E"/>
                </a:solidFill>
                <a:highlight>
                  <a:srgbClr val="FFFFFF"/>
                </a:highlight>
                <a:latin typeface="Arial"/>
                <a:ea typeface="Arial"/>
                <a:cs typeface="Arial"/>
                <a:sym typeface="Arial"/>
              </a:rPr>
              <a:t>before</a:t>
            </a:r>
            <a:r>
              <a:rPr lang="en" sz="3000">
                <a:solidFill>
                  <a:srgbClr val="1A1C1E"/>
                </a:solidFill>
                <a:highlight>
                  <a:srgbClr val="FFFFFF"/>
                </a:highlight>
                <a:latin typeface="Arial"/>
                <a:ea typeface="Arial"/>
                <a:cs typeface="Arial"/>
                <a:sym typeface="Arial"/>
              </a:rPr>
              <a:t> it is weakened by any other component.</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The Requirement:</a:t>
            </a:r>
            <a:r>
              <a:rPr lang="en" sz="3000">
                <a:solidFill>
                  <a:srgbClr val="1A1C1E"/>
                </a:solidFill>
                <a:highlight>
                  <a:srgbClr val="FFFFFF"/>
                </a:highlight>
                <a:latin typeface="Arial"/>
                <a:ea typeface="Arial"/>
                <a:cs typeface="Arial"/>
                <a:sym typeface="Arial"/>
              </a:rPr>
              <a:t> The </a:t>
            </a:r>
            <a:r>
              <a:rPr b="1" lang="en" sz="3000">
                <a:solidFill>
                  <a:srgbClr val="1A1C1E"/>
                </a:solidFill>
                <a:highlight>
                  <a:srgbClr val="FFFFFF"/>
                </a:highlight>
                <a:latin typeface="Arial"/>
                <a:ea typeface="Arial"/>
                <a:cs typeface="Arial"/>
                <a:sym typeface="Arial"/>
              </a:rPr>
              <a:t>lowest possible Noise Figure</a:t>
            </a:r>
            <a:r>
              <a:rPr lang="en" sz="3000">
                <a:solidFill>
                  <a:srgbClr val="1A1C1E"/>
                </a:solidFill>
                <a:highlight>
                  <a:srgbClr val="FFFFFF"/>
                </a:highlight>
                <a:latin typeface="Arial"/>
                <a:ea typeface="Arial"/>
                <a:cs typeface="Arial"/>
                <a:sym typeface="Arial"/>
              </a:rPr>
              <a:t>. This amplifier's noise performance sets the sensitivity limit for the </a:t>
            </a:r>
            <a:r>
              <a:rPr i="1" lang="en" sz="3000">
                <a:solidFill>
                  <a:srgbClr val="1A1C1E"/>
                </a:solidFill>
                <a:highlight>
                  <a:srgbClr val="FFFFFF"/>
                </a:highlight>
                <a:latin typeface="Arial"/>
                <a:ea typeface="Arial"/>
                <a:cs typeface="Arial"/>
                <a:sym typeface="Arial"/>
              </a:rPr>
              <a:t>entire system</a:t>
            </a:r>
            <a:r>
              <a:rPr lang="en" sz="3000">
                <a:solidFill>
                  <a:srgbClr val="1A1C1E"/>
                </a:solidFill>
                <a:highlight>
                  <a:srgbClr val="FFFFFF"/>
                </a:highlight>
                <a:latin typeface="Arial"/>
                <a:ea typeface="Arial"/>
                <a:cs typeface="Arial"/>
                <a:sym typeface="Arial"/>
              </a:rPr>
              <a:t>.</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Noise Figure (NF) </a:t>
            </a:r>
            <a:r>
              <a:rPr lang="en" sz="3000">
                <a:solidFill>
                  <a:srgbClr val="1A1C1E"/>
                </a:solidFill>
                <a:highlight>
                  <a:srgbClr val="FFFFFF"/>
                </a:highlight>
                <a:latin typeface="Arial"/>
                <a:ea typeface="Arial"/>
                <a:cs typeface="Arial"/>
                <a:sym typeface="Arial"/>
              </a:rPr>
              <a:t>is the ratio of the </a:t>
            </a:r>
            <a:r>
              <a:rPr b="1" lang="en" sz="3000">
                <a:solidFill>
                  <a:srgbClr val="1A1C1E"/>
                </a:solidFill>
                <a:highlight>
                  <a:srgbClr val="FFFFFF"/>
                </a:highlight>
                <a:latin typeface="Arial"/>
                <a:ea typeface="Arial"/>
                <a:cs typeface="Arial"/>
                <a:sym typeface="Arial"/>
              </a:rPr>
              <a:t>Signal-to-Noise Ratio (SNR) at the input</a:t>
            </a:r>
            <a:r>
              <a:rPr lang="en" sz="3000">
                <a:solidFill>
                  <a:srgbClr val="1A1C1E"/>
                </a:solidFill>
                <a:highlight>
                  <a:srgbClr val="FFFFFF"/>
                </a:highlight>
                <a:latin typeface="Arial"/>
                <a:ea typeface="Arial"/>
                <a:cs typeface="Arial"/>
                <a:sym typeface="Arial"/>
              </a:rPr>
              <a:t> to the </a:t>
            </a:r>
            <a:r>
              <a:rPr b="1" lang="en" sz="3000">
                <a:solidFill>
                  <a:srgbClr val="1A1C1E"/>
                </a:solidFill>
                <a:highlight>
                  <a:srgbClr val="FFFFFF"/>
                </a:highlight>
                <a:latin typeface="Arial"/>
                <a:ea typeface="Arial"/>
                <a:cs typeface="Arial"/>
                <a:sym typeface="Arial"/>
              </a:rPr>
              <a:t>Signal-to-Noise Ratio (SNR) at the output</a:t>
            </a:r>
            <a:r>
              <a:rPr lang="en" sz="3000">
                <a:solidFill>
                  <a:srgbClr val="1A1C1E"/>
                </a:solidFill>
                <a:highlight>
                  <a:srgbClr val="FFFFFF"/>
                </a:highlight>
                <a:latin typeface="Arial"/>
                <a:ea typeface="Arial"/>
                <a:cs typeface="Arial"/>
                <a:sym typeface="Arial"/>
              </a:rPr>
              <a:t>, expressed in decibels (dB).</a:t>
            </a:r>
            <a:endParaRPr sz="3000">
              <a:solidFill>
                <a:srgbClr val="1A1C1E"/>
              </a:solidFill>
              <a:highlight>
                <a:srgbClr val="FFFFFF"/>
              </a:highlight>
              <a:latin typeface="Arial"/>
              <a:ea typeface="Arial"/>
              <a:cs typeface="Arial"/>
              <a:sym typeface="Arial"/>
            </a:endParaRPr>
          </a:p>
          <a:p>
            <a:pPr indent="0" lvl="0" marL="0" rtl="0" algn="ctr">
              <a:lnSpc>
                <a:spcPct val="142857"/>
              </a:lnSpc>
              <a:spcBef>
                <a:spcPts val="1100"/>
              </a:spcBef>
              <a:spcAft>
                <a:spcPts val="0"/>
              </a:spcAft>
              <a:buNone/>
            </a:pPr>
            <a:r>
              <a:rPr b="1" lang="en" sz="3000">
                <a:solidFill>
                  <a:srgbClr val="1A1C1E"/>
                </a:solidFill>
                <a:highlight>
                  <a:srgbClr val="FFFFFF"/>
                </a:highlight>
                <a:latin typeface="Courier New"/>
                <a:ea typeface="Courier New"/>
                <a:cs typeface="Courier New"/>
                <a:sym typeface="Courier New"/>
              </a:rPr>
              <a:t>NF (dB) = SNR</a:t>
            </a:r>
            <a:r>
              <a:rPr b="1" baseline="-25000" lang="en" sz="3000">
                <a:solidFill>
                  <a:srgbClr val="1A1C1E"/>
                </a:solidFill>
                <a:highlight>
                  <a:srgbClr val="FFFFFF"/>
                </a:highlight>
                <a:latin typeface="Courier New"/>
                <a:ea typeface="Courier New"/>
                <a:cs typeface="Courier New"/>
                <a:sym typeface="Courier New"/>
              </a:rPr>
              <a:t>input</a:t>
            </a:r>
            <a:r>
              <a:rPr b="1" lang="en" sz="3000">
                <a:solidFill>
                  <a:srgbClr val="1A1C1E"/>
                </a:solidFill>
                <a:highlight>
                  <a:srgbClr val="FFFFFF"/>
                </a:highlight>
                <a:latin typeface="Courier New"/>
                <a:ea typeface="Courier New"/>
                <a:cs typeface="Courier New"/>
                <a:sym typeface="Courier New"/>
              </a:rPr>
              <a:t> (dB) - SNR</a:t>
            </a:r>
            <a:r>
              <a:rPr b="1" baseline="-25000" lang="en" sz="3000">
                <a:solidFill>
                  <a:srgbClr val="1A1C1E"/>
                </a:solidFill>
                <a:highlight>
                  <a:srgbClr val="FFFFFF"/>
                </a:highlight>
                <a:latin typeface="Courier New"/>
                <a:ea typeface="Courier New"/>
                <a:cs typeface="Courier New"/>
                <a:sym typeface="Courier New"/>
              </a:rPr>
              <a:t>output</a:t>
            </a:r>
            <a:r>
              <a:rPr b="1" lang="en" sz="3000">
                <a:solidFill>
                  <a:srgbClr val="1A1C1E"/>
                </a:solidFill>
                <a:highlight>
                  <a:srgbClr val="FFFFFF"/>
                </a:highlight>
                <a:latin typeface="Courier New"/>
                <a:ea typeface="Courier New"/>
                <a:cs typeface="Courier New"/>
                <a:sym typeface="Courier New"/>
              </a:rPr>
              <a:t> (dB)</a:t>
            </a:r>
            <a:endParaRPr b="1" sz="3000">
              <a:solidFill>
                <a:srgbClr val="1A1C1E"/>
              </a:solidFill>
              <a:highlight>
                <a:srgbClr val="FFFFFF"/>
              </a:highlight>
              <a:latin typeface="Arial"/>
              <a:ea typeface="Arial"/>
              <a:cs typeface="Arial"/>
              <a:sym typeface="Arial"/>
            </a:endParaRPr>
          </a:p>
          <a:p>
            <a:pPr indent="0" lvl="0" marL="0" rtl="0" algn="l">
              <a:lnSpc>
                <a:spcPct val="142857"/>
              </a:lnSpc>
              <a:spcBef>
                <a:spcPts val="1400"/>
              </a:spcBef>
              <a:spcAft>
                <a:spcPts val="1100"/>
              </a:spcAft>
              <a:buNone/>
            </a:pPr>
            <a:r>
              <a:t/>
            </a:r>
            <a:endParaRPr sz="3000">
              <a:solidFill>
                <a:srgbClr val="1A1C1E"/>
              </a:solidFill>
              <a:highlight>
                <a:srgbClr val="FFFFFF"/>
              </a:highlight>
              <a:latin typeface="Arial"/>
              <a:ea typeface="Arial"/>
              <a:cs typeface="Arial"/>
              <a:sym typeface="Arial"/>
            </a:endParaRPr>
          </a:p>
        </p:txBody>
      </p:sp>
      <p:sp>
        <p:nvSpPr>
          <p:cNvPr id="223" name="Google Shape;223;p33"/>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24" name="Google Shape;224;p33"/>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LNA: The Heart of Sensitivity</a:t>
            </a:r>
            <a:endParaRPr/>
          </a:p>
        </p:txBody>
      </p:sp>
      <p:pic>
        <p:nvPicPr>
          <p:cNvPr id="225" name="Google Shape;225;p33" title="Screenshot_20250715_083301_Drive.jpg"/>
          <p:cNvPicPr preferRelativeResize="0"/>
          <p:nvPr/>
        </p:nvPicPr>
        <p:blipFill>
          <a:blip r:embed="rId4">
            <a:alphaModFix/>
          </a:blip>
          <a:stretch>
            <a:fillRect/>
          </a:stretch>
        </p:blipFill>
        <p:spPr>
          <a:xfrm>
            <a:off x="12192000" y="1605876"/>
            <a:ext cx="12192000" cy="4214777"/>
          </a:xfrm>
          <a:prstGeom prst="rect">
            <a:avLst/>
          </a:prstGeom>
          <a:noFill/>
          <a:ln>
            <a:noFill/>
          </a:ln>
        </p:spPr>
      </p:pic>
      <p:sp>
        <p:nvSpPr>
          <p:cNvPr id="226" name="Google Shape;226;p33"/>
          <p:cNvSpPr/>
          <p:nvPr/>
        </p:nvSpPr>
        <p:spPr>
          <a:xfrm>
            <a:off x="13139550" y="1671425"/>
            <a:ext cx="4815300" cy="40563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27" name="Google Shape;227;p33"/>
          <p:cNvCxnSpPr>
            <a:stCxn id="228" idx="5"/>
          </p:cNvCxnSpPr>
          <p:nvPr/>
        </p:nvCxnSpPr>
        <p:spPr>
          <a:xfrm>
            <a:off x="14917926" y="3821357"/>
            <a:ext cx="3158700" cy="5075400"/>
          </a:xfrm>
          <a:prstGeom prst="straightConnector1">
            <a:avLst/>
          </a:prstGeom>
          <a:noFill/>
          <a:ln cap="flat" cmpd="sng" w="114300">
            <a:solidFill>
              <a:srgbClr val="0000FF"/>
            </a:solidFill>
            <a:prstDash val="dash"/>
            <a:round/>
            <a:headEnd len="med" w="med" type="none"/>
            <a:tailEnd len="med" w="med" type="triangle"/>
          </a:ln>
        </p:spPr>
      </p:cxnSp>
      <p:sp>
        <p:nvSpPr>
          <p:cNvPr id="228" name="Google Shape;228;p33"/>
          <p:cNvSpPr/>
          <p:nvPr/>
        </p:nvSpPr>
        <p:spPr>
          <a:xfrm>
            <a:off x="13971250" y="2517725"/>
            <a:ext cx="1109100" cy="1527300"/>
          </a:xfrm>
          <a:prstGeom prst="ellipse">
            <a:avLst/>
          </a:prstGeom>
          <a:noFill/>
          <a:ln cap="flat" cmpd="sng" w="762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29" name="Google Shape;229;p33"/>
          <p:cNvCxnSpPr/>
          <p:nvPr/>
        </p:nvCxnSpPr>
        <p:spPr>
          <a:xfrm>
            <a:off x="16763551" y="3821357"/>
            <a:ext cx="1245000" cy="3972300"/>
          </a:xfrm>
          <a:prstGeom prst="straightConnector1">
            <a:avLst/>
          </a:prstGeom>
          <a:noFill/>
          <a:ln cap="flat" cmpd="sng" w="114300">
            <a:solidFill>
              <a:srgbClr val="0000FF"/>
            </a:solidFill>
            <a:prstDash val="dash"/>
            <a:round/>
            <a:headEnd len="med" w="med" type="none"/>
            <a:tailEnd len="med" w="med" type="triangle"/>
          </a:ln>
        </p:spPr>
      </p:cxnSp>
      <p:sp>
        <p:nvSpPr>
          <p:cNvPr id="230" name="Google Shape;230;p33"/>
          <p:cNvSpPr/>
          <p:nvPr/>
        </p:nvSpPr>
        <p:spPr>
          <a:xfrm>
            <a:off x="15942725" y="2517725"/>
            <a:ext cx="1109100" cy="1527300"/>
          </a:xfrm>
          <a:prstGeom prst="ellipse">
            <a:avLst/>
          </a:prstGeom>
          <a:noFill/>
          <a:ln cap="flat" cmpd="sng" w="762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36" name="Google Shape;236;p34"/>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LNA vs. ULN Amplifier</a:t>
            </a:r>
            <a:endParaRPr/>
          </a:p>
        </p:txBody>
      </p:sp>
      <p:graphicFrame>
        <p:nvGraphicFramePr>
          <p:cNvPr id="237" name="Google Shape;237;p34"/>
          <p:cNvGraphicFramePr/>
          <p:nvPr/>
        </p:nvGraphicFramePr>
        <p:xfrm>
          <a:off x="495113" y="4230700"/>
          <a:ext cx="3000000" cy="3000000"/>
        </p:xfrm>
        <a:graphic>
          <a:graphicData uri="http://schemas.openxmlformats.org/drawingml/2006/table">
            <a:tbl>
              <a:tblPr>
                <a:solidFill>
                  <a:srgbClr val="FFFFFF"/>
                </a:solidFill>
                <a:tableStyleId>{805F637F-4CF5-426A-9FC3-FA0B1D980CB4}</a:tableStyleId>
              </a:tblPr>
              <a:tblGrid>
                <a:gridCol w="5397925"/>
                <a:gridCol w="7426450"/>
                <a:gridCol w="10025100"/>
              </a:tblGrid>
              <a:tr h="333375">
                <a:tc>
                  <a:txBody>
                    <a:bodyPr/>
                    <a:lstStyle/>
                    <a:p>
                      <a:pPr indent="0" lvl="0" marL="0" rtl="0" algn="ctr">
                        <a:lnSpc>
                          <a:spcPct val="142857"/>
                        </a:lnSpc>
                        <a:spcBef>
                          <a:spcPts val="1000"/>
                        </a:spcBef>
                        <a:spcAft>
                          <a:spcPts val="0"/>
                        </a:spcAft>
                        <a:buNone/>
                      </a:pPr>
                      <a:r>
                        <a:rPr b="1" lang="en" sz="3300">
                          <a:solidFill>
                            <a:srgbClr val="1A1C1E"/>
                          </a:solidFill>
                        </a:rPr>
                        <a:t>Feature</a:t>
                      </a:r>
                      <a:endParaRPr b="1" sz="33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c>
                  <a:txBody>
                    <a:bodyPr/>
                    <a:lstStyle/>
                    <a:p>
                      <a:pPr indent="0" lvl="0" marL="0" rtl="0" algn="ctr">
                        <a:lnSpc>
                          <a:spcPct val="142857"/>
                        </a:lnSpc>
                        <a:spcBef>
                          <a:spcPts val="1000"/>
                        </a:spcBef>
                        <a:spcAft>
                          <a:spcPts val="0"/>
                        </a:spcAft>
                        <a:buNone/>
                      </a:pPr>
                      <a:r>
                        <a:rPr b="1" lang="en" sz="3300">
                          <a:solidFill>
                            <a:srgbClr val="1A1C1E"/>
                          </a:solidFill>
                        </a:rPr>
                        <a:t>LNA (Standard, Good Performance)</a:t>
                      </a:r>
                      <a:endParaRPr b="1" sz="33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c>
                  <a:txBody>
                    <a:bodyPr/>
                    <a:lstStyle/>
                    <a:p>
                      <a:pPr indent="0" lvl="0" marL="0" rtl="0" algn="ctr">
                        <a:lnSpc>
                          <a:spcPct val="142857"/>
                        </a:lnSpc>
                        <a:spcBef>
                          <a:spcPts val="1000"/>
                        </a:spcBef>
                        <a:spcAft>
                          <a:spcPts val="0"/>
                        </a:spcAft>
                        <a:buNone/>
                      </a:pPr>
                      <a:r>
                        <a:rPr b="1" lang="en" sz="3300">
                          <a:solidFill>
                            <a:srgbClr val="1A1C1E"/>
                          </a:solidFill>
                        </a:rPr>
                        <a:t>ULN Amplifier (Ultra-Low Noise, Elite Performance)</a:t>
                      </a:r>
                      <a:endParaRPr b="1" sz="33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r>
              <a:tr h="333375">
                <a:tc>
                  <a:txBody>
                    <a:bodyPr/>
                    <a:lstStyle/>
                    <a:p>
                      <a:pPr indent="0" lvl="0" marL="0" rtl="0" algn="l">
                        <a:lnSpc>
                          <a:spcPct val="142857"/>
                        </a:lnSpc>
                        <a:spcBef>
                          <a:spcPts val="0"/>
                        </a:spcBef>
                        <a:spcAft>
                          <a:spcPts val="0"/>
                        </a:spcAft>
                        <a:buNone/>
                      </a:pPr>
                      <a:r>
                        <a:rPr b="1" lang="en" sz="3000">
                          <a:solidFill>
                            <a:srgbClr val="1A1C1E"/>
                          </a:solidFill>
                        </a:rPr>
                        <a:t>Primary Goal</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Provide gain with good noise performance.</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Provide gain with the absolute lowest possible noise performance.</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0"/>
                        </a:spcAft>
                        <a:buNone/>
                      </a:pPr>
                      <a:r>
                        <a:rPr b="1" lang="en" sz="3000">
                          <a:solidFill>
                            <a:srgbClr val="1A1C1E"/>
                          </a:solidFill>
                        </a:rPr>
                        <a:t>Typical Noise Figure (NF)</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0.8 dB to 1.5 dB</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&lt; 0.6 dB (often 0.3-0.5 dB)</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34175">
                <a:tc>
                  <a:txBody>
                    <a:bodyPr/>
                    <a:lstStyle/>
                    <a:p>
                      <a:pPr indent="0" lvl="0" marL="0" rtl="0" algn="l">
                        <a:lnSpc>
                          <a:spcPct val="142857"/>
                        </a:lnSpc>
                        <a:spcBef>
                          <a:spcPts val="0"/>
                        </a:spcBef>
                        <a:spcAft>
                          <a:spcPts val="0"/>
                        </a:spcAft>
                        <a:buNone/>
                      </a:pPr>
                      <a:r>
                        <a:rPr b="1" lang="en" sz="3000">
                          <a:solidFill>
                            <a:srgbClr val="1A1C1E"/>
                          </a:solidFill>
                        </a:rPr>
                        <a:t>Gain</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Typically moderate to high (15-30 dB).</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Often slightly lower gain (15-22 dB).</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0"/>
                        </a:spcAft>
                        <a:buNone/>
                      </a:pPr>
                      <a:r>
                        <a:rPr b="1" lang="en" sz="3000">
                          <a:solidFill>
                            <a:srgbClr val="1A1C1E"/>
                          </a:solidFill>
                        </a:rPr>
                        <a:t>Linearity (Robustness to RFI)</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Often higher. Designed for a good balance of noise and strength.</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Often slightly lower. Performance is optimized for noise at the expense of linearity.</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0"/>
                        </a:spcAft>
                        <a:buNone/>
                      </a:pPr>
                      <a:r>
                        <a:rPr b="1" lang="en" sz="3000">
                          <a:solidFill>
                            <a:srgbClr val="1A1C1E"/>
                          </a:solidFill>
                        </a:rPr>
                        <a:t>Technology</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Standard GaAs or HEMT transistors.</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Advanced pHEMT (Pseudomorphic High Electron Mobility Transistor) technology.</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0"/>
                        </a:spcAft>
                        <a:buNone/>
                      </a:pPr>
                      <a:r>
                        <a:rPr b="1" lang="en" sz="3000">
                          <a:solidFill>
                            <a:srgbClr val="1A1C1E"/>
                          </a:solidFill>
                        </a:rPr>
                        <a:t>Cost</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Moderate.</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High. The advanced transistors and design are expensive.</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0"/>
                        </a:spcAft>
                        <a:buNone/>
                      </a:pPr>
                      <a:r>
                        <a:rPr b="1" lang="en" sz="3000">
                          <a:solidFill>
                            <a:srgbClr val="1A1C1E"/>
                          </a:solidFill>
                        </a:rPr>
                        <a:t>Best Use Case</a:t>
                      </a:r>
                      <a:endParaRPr b="1"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General-purpose amplification, second-stage amplification.</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 sz="3000">
                          <a:solidFill>
                            <a:srgbClr val="1A1C1E"/>
                          </a:solidFill>
                        </a:rPr>
                        <a:t>First-stage amplification right at the antenna feedpoint.</a:t>
                      </a:r>
                      <a:endParaRPr sz="3000">
                        <a:solidFill>
                          <a:srgbClr val="1A1C1E"/>
                        </a:solidFill>
                      </a:endParaRPr>
                    </a:p>
                  </a:txBody>
                  <a:tcPr marT="57150" marB="5715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38" name="Google Shape;238;p34"/>
          <p:cNvSpPr txBox="1"/>
          <p:nvPr>
            <p:ph idx="1" type="body"/>
          </p:nvPr>
        </p:nvSpPr>
        <p:spPr>
          <a:xfrm>
            <a:off x="495100" y="1456825"/>
            <a:ext cx="22849500" cy="2773800"/>
          </a:xfrm>
          <a:prstGeom prst="rect">
            <a:avLst/>
          </a:prstGeom>
        </p:spPr>
        <p:txBody>
          <a:bodyPr anchorCtr="0" anchor="ctr" bIns="243800" lIns="243800" spcFirstLastPara="1" rIns="243800" wrap="square" tIns="243800">
            <a:normAutofit/>
          </a:bodyPr>
          <a:lstStyle/>
          <a:p>
            <a:pPr indent="-419100" lvl="0" marL="457200" rtl="0" algn="l">
              <a:lnSpc>
                <a:spcPct val="142857"/>
              </a:lnSpc>
              <a:spcBef>
                <a:spcPts val="1100"/>
              </a:spcBef>
              <a:spcAft>
                <a:spcPts val="0"/>
              </a:spcAft>
              <a:buClr>
                <a:srgbClr val="333333"/>
              </a:buClr>
              <a:buSzPts val="3000"/>
              <a:buFont typeface="Arial"/>
              <a:buChar char="●"/>
            </a:pPr>
            <a:r>
              <a:rPr b="1" lang="en" sz="3000">
                <a:solidFill>
                  <a:srgbClr val="333333"/>
                </a:solidFill>
                <a:latin typeface="Arial"/>
                <a:ea typeface="Arial"/>
                <a:cs typeface="Arial"/>
                <a:sym typeface="Arial"/>
              </a:rPr>
              <a:t>LNA (Low-Noise Amplifier):</a:t>
            </a:r>
            <a:r>
              <a:rPr lang="en" sz="3000">
                <a:solidFill>
                  <a:srgbClr val="333333"/>
                </a:solidFill>
                <a:latin typeface="Arial"/>
                <a:ea typeface="Arial"/>
                <a:cs typeface="Arial"/>
                <a:sym typeface="Arial"/>
              </a:rPr>
              <a:t> An LNA is any amplifier whose primary role is to be the very first active component in a receive chain, designed to amplify a weak signal while adding as little noise as possible. (</a:t>
            </a:r>
            <a:r>
              <a:rPr b="1" lang="en" sz="3000">
                <a:solidFill>
                  <a:srgbClr val="333333"/>
                </a:solidFill>
                <a:latin typeface="Arial"/>
                <a:ea typeface="Arial"/>
                <a:cs typeface="Arial"/>
                <a:sym typeface="Arial"/>
              </a:rPr>
              <a:t>NF= 0.8 to 1.5dB)</a:t>
            </a:r>
            <a:endParaRPr b="1" sz="3000">
              <a:solidFill>
                <a:srgbClr val="333333"/>
              </a:solidFill>
              <a:latin typeface="Arial"/>
              <a:ea typeface="Arial"/>
              <a:cs typeface="Arial"/>
              <a:sym typeface="Arial"/>
            </a:endParaRPr>
          </a:p>
          <a:p>
            <a:pPr indent="-419100" lvl="0" marL="457200" rtl="0" algn="l">
              <a:lnSpc>
                <a:spcPct val="142857"/>
              </a:lnSpc>
              <a:spcBef>
                <a:spcPts val="0"/>
              </a:spcBef>
              <a:spcAft>
                <a:spcPts val="0"/>
              </a:spcAft>
              <a:buClr>
                <a:srgbClr val="333333"/>
              </a:buClr>
              <a:buSzPts val="3000"/>
              <a:buFont typeface="Arial"/>
              <a:buChar char="●"/>
            </a:pPr>
            <a:r>
              <a:rPr b="1" lang="en" sz="3000">
                <a:solidFill>
                  <a:srgbClr val="333333"/>
                </a:solidFill>
                <a:latin typeface="Arial"/>
                <a:ea typeface="Arial"/>
                <a:cs typeface="Arial"/>
                <a:sym typeface="Arial"/>
              </a:rPr>
              <a:t>ULN (Ultra-Low Noise) Amplifier:</a:t>
            </a:r>
            <a:r>
              <a:rPr lang="en" sz="3000">
                <a:solidFill>
                  <a:srgbClr val="333333"/>
                </a:solidFill>
                <a:latin typeface="Arial"/>
                <a:ea typeface="Arial"/>
                <a:cs typeface="Arial"/>
                <a:sym typeface="Arial"/>
              </a:rPr>
              <a:t> </a:t>
            </a:r>
            <a:r>
              <a:rPr b="1" lang="en" sz="3000">
                <a:solidFill>
                  <a:srgbClr val="333333"/>
                </a:solidFill>
                <a:latin typeface="Arial"/>
                <a:ea typeface="Arial"/>
                <a:cs typeface="Arial"/>
                <a:sym typeface="Arial"/>
              </a:rPr>
              <a:t>NF&lt;0.6dB</a:t>
            </a:r>
            <a:endParaRPr>
              <a:solidFill>
                <a:srgbClr val="333333"/>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5" title="Screenshot-2023-11-29-at-19.48.32.png"/>
          <p:cNvPicPr preferRelativeResize="0"/>
          <p:nvPr/>
        </p:nvPicPr>
        <p:blipFill>
          <a:blip r:embed="rId3">
            <a:alphaModFix/>
          </a:blip>
          <a:stretch>
            <a:fillRect/>
          </a:stretch>
        </p:blipFill>
        <p:spPr>
          <a:xfrm>
            <a:off x="13047012" y="6558601"/>
            <a:ext cx="10481975" cy="6498400"/>
          </a:xfrm>
          <a:prstGeom prst="rect">
            <a:avLst/>
          </a:prstGeom>
          <a:noFill/>
          <a:ln>
            <a:noFill/>
          </a:ln>
        </p:spPr>
      </p:pic>
      <p:sp>
        <p:nvSpPr>
          <p:cNvPr id="244" name="Google Shape;244;p35"/>
          <p:cNvSpPr txBox="1"/>
          <p:nvPr>
            <p:ph idx="1" type="body"/>
          </p:nvPr>
        </p:nvSpPr>
        <p:spPr>
          <a:xfrm>
            <a:off x="762775" y="1966400"/>
            <a:ext cx="10835400" cy="11372400"/>
          </a:xfrm>
          <a:prstGeom prst="rect">
            <a:avLst/>
          </a:prstGeom>
        </p:spPr>
        <p:txBody>
          <a:bodyPr anchorCtr="0" anchor="ctr" bIns="243800" lIns="243800" spcFirstLastPara="1" rIns="243800" wrap="square" tIns="243800">
            <a:noAutofit/>
          </a:bodyPr>
          <a:lstStyle/>
          <a:p>
            <a:pPr indent="0" lvl="0" marL="0" rtl="0" algn="l">
              <a:lnSpc>
                <a:spcPct val="142857"/>
              </a:lnSpc>
              <a:spcBef>
                <a:spcPts val="1100"/>
              </a:spcBef>
              <a:spcAft>
                <a:spcPts val="0"/>
              </a:spcAft>
              <a:buNone/>
            </a:pPr>
            <a:r>
              <a:rPr lang="en" sz="3000">
                <a:solidFill>
                  <a:srgbClr val="1A1C1E"/>
                </a:solidFill>
                <a:highlight>
                  <a:srgbClr val="FFFFFF"/>
                </a:highlight>
                <a:latin typeface="Arial"/>
                <a:ea typeface="Arial"/>
                <a:cs typeface="Arial"/>
                <a:sym typeface="Arial"/>
              </a:rPr>
              <a:t>The total Noise Figure of a system with multiple components in a chain (ex.</a:t>
            </a:r>
            <a:r>
              <a:rPr lang="en" sz="3000">
                <a:solidFill>
                  <a:srgbClr val="FF0000"/>
                </a:solidFill>
                <a:highlight>
                  <a:srgbClr val="FFFFFF"/>
                </a:highlight>
                <a:latin typeface="Arial"/>
                <a:ea typeface="Arial"/>
                <a:cs typeface="Arial"/>
                <a:sym typeface="Arial"/>
              </a:rPr>
              <a:t> </a:t>
            </a:r>
            <a:r>
              <a:rPr lang="en" sz="3000">
                <a:solidFill>
                  <a:srgbClr val="FF0000"/>
                </a:solidFill>
                <a:highlight>
                  <a:srgbClr val="FFFFFF"/>
                </a:highlight>
                <a:latin typeface="Courier New"/>
                <a:ea typeface="Courier New"/>
                <a:cs typeface="Courier New"/>
                <a:sym typeface="Courier New"/>
              </a:rPr>
              <a:t>LNA -&gt; Filter -&gt; Cable -&gt; 2nd LNA</a:t>
            </a:r>
            <a:r>
              <a:rPr lang="en" sz="3000">
                <a:solidFill>
                  <a:srgbClr val="1A1C1E"/>
                </a:solidFill>
                <a:highlight>
                  <a:srgbClr val="FFFFFF"/>
                </a:highlight>
                <a:latin typeface="Arial"/>
                <a:ea typeface="Arial"/>
                <a:cs typeface="Arial"/>
                <a:sym typeface="Arial"/>
              </a:rPr>
              <a:t>) is dominated by the performance of the </a:t>
            </a:r>
            <a:r>
              <a:rPr b="1" lang="en" sz="3000">
                <a:solidFill>
                  <a:srgbClr val="1A1C1E"/>
                </a:solidFill>
                <a:highlight>
                  <a:srgbClr val="FFFFFF"/>
                </a:highlight>
                <a:latin typeface="Arial"/>
                <a:ea typeface="Arial"/>
                <a:cs typeface="Arial"/>
                <a:sym typeface="Arial"/>
              </a:rPr>
              <a:t>very first component</a:t>
            </a:r>
            <a:r>
              <a:rPr lang="en" sz="3000">
                <a:solidFill>
                  <a:srgbClr val="1A1C1E"/>
                </a:solidFill>
                <a:highlight>
                  <a:srgbClr val="FFFFFF"/>
                </a:highlight>
                <a:latin typeface="Arial"/>
                <a:ea typeface="Arial"/>
                <a:cs typeface="Arial"/>
                <a:sym typeface="Arial"/>
              </a:rPr>
              <a:t>.</a:t>
            </a:r>
            <a:endParaRPr sz="3000">
              <a:solidFill>
                <a:srgbClr val="1A1C1E"/>
              </a:solidFill>
              <a:highlight>
                <a:srgbClr val="FFFFFF"/>
              </a:highlight>
              <a:latin typeface="Arial"/>
              <a:ea typeface="Arial"/>
              <a:cs typeface="Arial"/>
              <a:sym typeface="Arial"/>
            </a:endParaRPr>
          </a:p>
          <a:p>
            <a:pPr indent="0" lvl="0" marL="0" rtl="0" algn="l">
              <a:lnSpc>
                <a:spcPct val="142857"/>
              </a:lnSpc>
              <a:spcBef>
                <a:spcPts val="1400"/>
              </a:spcBef>
              <a:spcAft>
                <a:spcPts val="0"/>
              </a:spcAft>
              <a:buNone/>
            </a:pPr>
            <a:r>
              <a:rPr lang="en" sz="3000">
                <a:solidFill>
                  <a:srgbClr val="1A1C1E"/>
                </a:solidFill>
                <a:highlight>
                  <a:srgbClr val="FFFFFF"/>
                </a:highlight>
                <a:latin typeface="Arial"/>
                <a:ea typeface="Arial"/>
                <a:cs typeface="Arial"/>
                <a:sym typeface="Arial"/>
              </a:rPr>
              <a:t>The famous "Friis formula" for cascaded noise shows this, but the concept is simple:</a:t>
            </a:r>
            <a:endParaRPr sz="3000">
              <a:solidFill>
                <a:srgbClr val="1A1C1E"/>
              </a:solidFill>
              <a:highlight>
                <a:srgbClr val="FFFFFF"/>
              </a:highlight>
              <a:latin typeface="Arial"/>
              <a:ea typeface="Arial"/>
              <a:cs typeface="Arial"/>
              <a:sym typeface="Arial"/>
            </a:endParaRPr>
          </a:p>
          <a:p>
            <a:pPr indent="0" lvl="0" marL="0" rtl="0" algn="ctr">
              <a:lnSpc>
                <a:spcPct val="142857"/>
              </a:lnSpc>
              <a:spcBef>
                <a:spcPts val="1400"/>
              </a:spcBef>
              <a:spcAft>
                <a:spcPts val="0"/>
              </a:spcAft>
              <a:buClr>
                <a:schemeClr val="dk1"/>
              </a:buClr>
              <a:buSzPts val="1100"/>
              <a:buFont typeface="Arial"/>
              <a:buNone/>
            </a:pPr>
            <a:r>
              <a:rPr b="1" lang="en" sz="3000">
                <a:solidFill>
                  <a:srgbClr val="1A1C1E"/>
                </a:solidFill>
                <a:highlight>
                  <a:srgbClr val="FFFFFF"/>
                </a:highlight>
                <a:latin typeface="Arial"/>
                <a:ea typeface="Arial"/>
                <a:cs typeface="Arial"/>
                <a:sym typeface="Arial"/>
              </a:rPr>
              <a:t>Any noise added by the first amplifier gets amplified by </a:t>
            </a:r>
            <a:r>
              <a:rPr b="1" i="1" lang="en" sz="3000">
                <a:solidFill>
                  <a:srgbClr val="1A1C1E"/>
                </a:solidFill>
                <a:highlight>
                  <a:srgbClr val="FFFFFF"/>
                </a:highlight>
                <a:latin typeface="Arial"/>
                <a:ea typeface="Arial"/>
                <a:cs typeface="Arial"/>
                <a:sym typeface="Arial"/>
              </a:rPr>
              <a:t>all the subsequent stages</a:t>
            </a:r>
            <a:r>
              <a:rPr b="1" lang="en" sz="3000">
                <a:solidFill>
                  <a:srgbClr val="1A1C1E"/>
                </a:solidFill>
                <a:highlight>
                  <a:srgbClr val="FFFFFF"/>
                </a:highlight>
                <a:latin typeface="Arial"/>
                <a:ea typeface="Arial"/>
                <a:cs typeface="Arial"/>
                <a:sym typeface="Arial"/>
              </a:rPr>
              <a:t>.</a:t>
            </a:r>
            <a:endParaRPr b="1" sz="3000">
              <a:solidFill>
                <a:srgbClr val="1A1C1E"/>
              </a:solidFill>
              <a:highlight>
                <a:srgbClr val="FFFFFF"/>
              </a:highlight>
              <a:latin typeface="Arial"/>
              <a:ea typeface="Arial"/>
              <a:cs typeface="Arial"/>
              <a:sym typeface="Arial"/>
            </a:endParaRPr>
          </a:p>
          <a:p>
            <a:pPr indent="0" lvl="0" marL="0" rtl="0" algn="l">
              <a:lnSpc>
                <a:spcPct val="142857"/>
              </a:lnSpc>
              <a:spcBef>
                <a:spcPts val="1400"/>
              </a:spcBef>
              <a:spcAft>
                <a:spcPts val="1400"/>
              </a:spcAft>
              <a:buNone/>
            </a:pPr>
            <a:r>
              <a:rPr lang="en" sz="3000">
                <a:solidFill>
                  <a:srgbClr val="1A1C1E"/>
                </a:solidFill>
                <a:highlight>
                  <a:srgbClr val="FFFFFF"/>
                </a:highlight>
                <a:latin typeface="Arial"/>
                <a:ea typeface="Arial"/>
                <a:cs typeface="Arial"/>
                <a:sym typeface="Arial"/>
              </a:rPr>
              <a:t>This is why the placement and quality of the </a:t>
            </a:r>
            <a:r>
              <a:rPr b="1" lang="en" sz="3000">
                <a:solidFill>
                  <a:srgbClr val="1A1C1E"/>
                </a:solidFill>
                <a:highlight>
                  <a:srgbClr val="FFFFFF"/>
                </a:highlight>
                <a:latin typeface="Arial"/>
                <a:ea typeface="Arial"/>
                <a:cs typeface="Arial"/>
                <a:sym typeface="Arial"/>
              </a:rPr>
              <a:t>First-Stage LNA</a:t>
            </a:r>
            <a:r>
              <a:rPr lang="en" sz="3000">
                <a:solidFill>
                  <a:srgbClr val="1A1C1E"/>
                </a:solidFill>
                <a:highlight>
                  <a:srgbClr val="FFFFFF"/>
                </a:highlight>
                <a:latin typeface="Arial"/>
                <a:ea typeface="Arial"/>
                <a:cs typeface="Arial"/>
                <a:sym typeface="Arial"/>
              </a:rPr>
              <a:t> is the most important decision you will make. Its </a:t>
            </a:r>
            <a:r>
              <a:rPr b="1" lang="en" sz="3000">
                <a:solidFill>
                  <a:srgbClr val="1A1C1E"/>
                </a:solidFill>
                <a:highlight>
                  <a:srgbClr val="FFFFFF"/>
                </a:highlight>
                <a:latin typeface="Arial"/>
                <a:ea typeface="Arial"/>
                <a:cs typeface="Arial"/>
                <a:sym typeface="Arial"/>
              </a:rPr>
              <a:t>Noise Figure</a:t>
            </a:r>
            <a:r>
              <a:rPr lang="en" sz="3000">
                <a:solidFill>
                  <a:srgbClr val="1A1C1E"/>
                </a:solidFill>
                <a:highlight>
                  <a:srgbClr val="FFFFFF"/>
                </a:highlight>
                <a:latin typeface="Arial"/>
                <a:ea typeface="Arial"/>
                <a:cs typeface="Arial"/>
                <a:sym typeface="Arial"/>
              </a:rPr>
              <a:t> sets the noise performance for your entire radio telescope. Any noise it adds can never be removed. The noise from later components has a much smaller effect because the signal has already been significantly amplified.</a:t>
            </a:r>
            <a:endParaRPr sz="3000">
              <a:solidFill>
                <a:srgbClr val="1A1C1E"/>
              </a:solidFill>
              <a:highlight>
                <a:srgbClr val="FFFFFF"/>
              </a:highlight>
              <a:latin typeface="Arial"/>
              <a:ea typeface="Arial"/>
              <a:cs typeface="Arial"/>
              <a:sym typeface="Arial"/>
            </a:endParaRPr>
          </a:p>
        </p:txBody>
      </p:sp>
      <p:sp>
        <p:nvSpPr>
          <p:cNvPr id="245" name="Google Shape;245;p35"/>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46" name="Google Shape;246;p35"/>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Why It's CRITICAL for the First LNA</a:t>
            </a:r>
            <a:endParaRPr/>
          </a:p>
        </p:txBody>
      </p:sp>
      <p:pic>
        <p:nvPicPr>
          <p:cNvPr id="247" name="Google Shape;247;p35" title="Screenshot_20250715_083301_Drive.jpg"/>
          <p:cNvPicPr preferRelativeResize="0"/>
          <p:nvPr/>
        </p:nvPicPr>
        <p:blipFill>
          <a:blip r:embed="rId4">
            <a:alphaModFix/>
          </a:blip>
          <a:stretch>
            <a:fillRect/>
          </a:stretch>
        </p:blipFill>
        <p:spPr>
          <a:xfrm>
            <a:off x="12192000" y="1605876"/>
            <a:ext cx="12192000" cy="4214777"/>
          </a:xfrm>
          <a:prstGeom prst="rect">
            <a:avLst/>
          </a:prstGeom>
          <a:noFill/>
          <a:ln>
            <a:noFill/>
          </a:ln>
        </p:spPr>
      </p:pic>
      <p:sp>
        <p:nvSpPr>
          <p:cNvPr id="248" name="Google Shape;248;p35"/>
          <p:cNvSpPr/>
          <p:nvPr/>
        </p:nvSpPr>
        <p:spPr>
          <a:xfrm>
            <a:off x="13139550" y="1671425"/>
            <a:ext cx="4815300" cy="40563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49" name="Google Shape;249;p35"/>
          <p:cNvCxnSpPr>
            <a:stCxn id="250" idx="5"/>
          </p:cNvCxnSpPr>
          <p:nvPr/>
        </p:nvCxnSpPr>
        <p:spPr>
          <a:xfrm>
            <a:off x="14917926" y="3821357"/>
            <a:ext cx="3158700" cy="5075400"/>
          </a:xfrm>
          <a:prstGeom prst="straightConnector1">
            <a:avLst/>
          </a:prstGeom>
          <a:noFill/>
          <a:ln cap="flat" cmpd="sng" w="114300">
            <a:solidFill>
              <a:srgbClr val="0000FF"/>
            </a:solidFill>
            <a:prstDash val="dash"/>
            <a:round/>
            <a:headEnd len="med" w="med" type="none"/>
            <a:tailEnd len="med" w="med" type="triangle"/>
          </a:ln>
        </p:spPr>
      </p:cxnSp>
      <p:sp>
        <p:nvSpPr>
          <p:cNvPr id="250" name="Google Shape;250;p35"/>
          <p:cNvSpPr/>
          <p:nvPr/>
        </p:nvSpPr>
        <p:spPr>
          <a:xfrm>
            <a:off x="13971250" y="2517725"/>
            <a:ext cx="1109100" cy="1527300"/>
          </a:xfrm>
          <a:prstGeom prst="ellipse">
            <a:avLst/>
          </a:prstGeom>
          <a:noFill/>
          <a:ln cap="flat" cmpd="sng" w="762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Cabling and Power</a:t>
            </a:r>
            <a:endParaRPr/>
          </a:p>
        </p:txBody>
      </p:sp>
      <p:sp>
        <p:nvSpPr>
          <p:cNvPr id="256" name="Google Shape;256;p36"/>
          <p:cNvSpPr txBox="1"/>
          <p:nvPr>
            <p:ph idx="1" type="body"/>
          </p:nvPr>
        </p:nvSpPr>
        <p:spPr>
          <a:xfrm>
            <a:off x="831200" y="2332267"/>
            <a:ext cx="7488000" cy="108471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None/>
            </a:pPr>
            <a:r>
              <a:rPr lang="en" sz="3000">
                <a:solidFill>
                  <a:srgbClr val="1A1C1E"/>
                </a:solidFill>
                <a:highlight>
                  <a:srgbClr val="FFFFFF"/>
                </a:highlight>
                <a:latin typeface="Arial"/>
                <a:ea typeface="Arial"/>
                <a:cs typeface="Arial"/>
                <a:sym typeface="Arial"/>
              </a:rPr>
              <a:t>Using the wrong cable can silently destroy your faint cosmic signal, rendering your expensive, high-performance electronics completely useless. The importance of cabling comes down to one primary factor: </a:t>
            </a:r>
            <a:r>
              <a:rPr b="1" lang="en" sz="3000">
                <a:solidFill>
                  <a:srgbClr val="1A1C1E"/>
                </a:solidFill>
                <a:highlight>
                  <a:srgbClr val="FFFFFF"/>
                </a:highlight>
                <a:latin typeface="Arial"/>
                <a:ea typeface="Arial"/>
                <a:cs typeface="Arial"/>
                <a:sym typeface="Arial"/>
              </a:rPr>
              <a:t>unrecoverable signal loss</a:t>
            </a:r>
            <a:r>
              <a:rPr lang="en" sz="3000">
                <a:solidFill>
                  <a:srgbClr val="1A1C1E"/>
                </a:solidFill>
                <a:highlight>
                  <a:srgbClr val="FFFFFF"/>
                </a:highlight>
                <a:latin typeface="Arial"/>
                <a:ea typeface="Arial"/>
                <a:cs typeface="Arial"/>
                <a:sym typeface="Arial"/>
              </a:rPr>
              <a:t>.</a:t>
            </a:r>
            <a:endParaRPr sz="3000">
              <a:solidFill>
                <a:srgbClr val="1A1C1E"/>
              </a:solidFill>
              <a:highlight>
                <a:srgbClr val="FFFFFF"/>
              </a:highlight>
              <a:latin typeface="Arial"/>
              <a:ea typeface="Arial"/>
              <a:cs typeface="Arial"/>
              <a:sym typeface="Arial"/>
            </a:endParaRPr>
          </a:p>
          <a:p>
            <a:pPr indent="0" lvl="0" marL="0" rtl="0" algn="l">
              <a:spcBef>
                <a:spcPts val="0"/>
              </a:spcBef>
              <a:spcAft>
                <a:spcPts val="0"/>
              </a:spcAft>
              <a:buNone/>
            </a:pPr>
            <a:r>
              <a:t/>
            </a:r>
            <a:endParaRPr sz="3000">
              <a:solidFill>
                <a:srgbClr val="1A1C1E"/>
              </a:solidFill>
              <a:highlight>
                <a:srgbClr val="FFFFFF"/>
              </a:highlight>
              <a:latin typeface="Arial"/>
              <a:ea typeface="Arial"/>
              <a:cs typeface="Arial"/>
              <a:sym typeface="Arial"/>
            </a:endParaRPr>
          </a:p>
          <a:p>
            <a:pPr indent="0" lvl="0" marL="0" rtl="0" algn="l">
              <a:spcBef>
                <a:spcPts val="0"/>
              </a:spcBef>
              <a:spcAft>
                <a:spcPts val="0"/>
              </a:spcAft>
              <a:buNone/>
            </a:pPr>
            <a:r>
              <a:rPr lang="en" sz="3000">
                <a:solidFill>
                  <a:srgbClr val="1A1C1E"/>
                </a:solidFill>
                <a:highlight>
                  <a:srgbClr val="FFFFFF"/>
                </a:highlight>
                <a:latin typeface="Arial"/>
                <a:ea typeface="Arial"/>
                <a:cs typeface="Arial"/>
                <a:sym typeface="Arial"/>
              </a:rPr>
              <a:t>Imagine your faint astronomical signal is a tiny, precious drop of a rare liquid that you have collected in a bucket (your antenna). Your goal is to transport this single drop from the bucket, across a field, to a laboratory for analysis (your receiver).</a:t>
            </a:r>
            <a:endParaRPr sz="3000">
              <a:solidFill>
                <a:srgbClr val="1A1C1E"/>
              </a:solidFill>
              <a:highlight>
                <a:srgbClr val="FFFFFF"/>
              </a:highlight>
              <a:latin typeface="Arial"/>
              <a:ea typeface="Arial"/>
              <a:cs typeface="Arial"/>
              <a:sym typeface="Arial"/>
            </a:endParaRPr>
          </a:p>
          <a:p>
            <a:pPr indent="0" lvl="0" marL="0" rtl="0" algn="l">
              <a:spcBef>
                <a:spcPts val="0"/>
              </a:spcBef>
              <a:spcAft>
                <a:spcPts val="0"/>
              </a:spcAft>
              <a:buNone/>
            </a:pPr>
            <a:r>
              <a:t/>
            </a:r>
            <a:endParaRPr sz="3000">
              <a:solidFill>
                <a:srgbClr val="1A1C1E"/>
              </a:solidFill>
              <a:highlight>
                <a:srgbClr val="FFFFFF"/>
              </a:highlight>
              <a:latin typeface="Arial"/>
              <a:ea typeface="Arial"/>
              <a:cs typeface="Arial"/>
              <a:sym typeface="Arial"/>
            </a:endParaRPr>
          </a:p>
          <a:p>
            <a:pPr indent="0" lvl="0" marL="0" rtl="0" algn="l">
              <a:spcBef>
                <a:spcPts val="0"/>
              </a:spcBef>
              <a:spcAft>
                <a:spcPts val="0"/>
              </a:spcAft>
              <a:buNone/>
            </a:pPr>
            <a:r>
              <a:rPr b="1" lang="en" sz="3000">
                <a:solidFill>
                  <a:srgbClr val="1A1C1E"/>
                </a:solidFill>
                <a:highlight>
                  <a:srgbClr val="FFFFFF"/>
                </a:highlight>
                <a:latin typeface="Arial"/>
                <a:ea typeface="Arial"/>
                <a:cs typeface="Arial"/>
                <a:sym typeface="Arial"/>
              </a:rPr>
              <a:t>The cable is the pipe you use to transport it.</a:t>
            </a:r>
            <a:endParaRPr b="1" sz="3000">
              <a:solidFill>
                <a:srgbClr val="1A1C1E"/>
              </a:solidFill>
              <a:highlight>
                <a:srgbClr val="FFFFFF"/>
              </a:highlight>
              <a:latin typeface="Arial"/>
              <a:ea typeface="Arial"/>
              <a:cs typeface="Arial"/>
              <a:sym typeface="Arial"/>
            </a:endParaRPr>
          </a:p>
          <a:p>
            <a:pPr indent="0" lvl="0" marL="0" rtl="0" algn="l">
              <a:spcBef>
                <a:spcPts val="0"/>
              </a:spcBef>
              <a:spcAft>
                <a:spcPts val="0"/>
              </a:spcAft>
              <a:buNone/>
            </a:pPr>
            <a:r>
              <a:t/>
            </a:r>
            <a:endParaRPr sz="3000">
              <a:solidFill>
                <a:srgbClr val="1A1C1E"/>
              </a:solidFill>
              <a:highlight>
                <a:srgbClr val="FFFFFF"/>
              </a:highlight>
              <a:latin typeface="Arial"/>
              <a:ea typeface="Arial"/>
              <a:cs typeface="Arial"/>
              <a:sym typeface="Arial"/>
            </a:endParaRPr>
          </a:p>
        </p:txBody>
      </p:sp>
      <p:sp>
        <p:nvSpPr>
          <p:cNvPr id="257" name="Google Shape;257;p36"/>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pic>
        <p:nvPicPr>
          <p:cNvPr id="258" name="Google Shape;258;p36" title="Screenshot_20250715_083301_Drive.jpg"/>
          <p:cNvPicPr preferRelativeResize="0"/>
          <p:nvPr/>
        </p:nvPicPr>
        <p:blipFill>
          <a:blip r:embed="rId3">
            <a:alphaModFix/>
          </a:blip>
          <a:stretch>
            <a:fillRect/>
          </a:stretch>
        </p:blipFill>
        <p:spPr>
          <a:xfrm>
            <a:off x="12192000" y="1605876"/>
            <a:ext cx="12192000" cy="4214777"/>
          </a:xfrm>
          <a:prstGeom prst="rect">
            <a:avLst/>
          </a:prstGeom>
          <a:noFill/>
          <a:ln>
            <a:noFill/>
          </a:ln>
        </p:spPr>
      </p:pic>
      <p:sp>
        <p:nvSpPr>
          <p:cNvPr id="259" name="Google Shape;259;p36"/>
          <p:cNvSpPr/>
          <p:nvPr/>
        </p:nvSpPr>
        <p:spPr>
          <a:xfrm>
            <a:off x="13139550" y="1671425"/>
            <a:ext cx="4815300" cy="40563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60" name="Google Shape;260;p36"/>
          <p:cNvSpPr/>
          <p:nvPr/>
        </p:nvSpPr>
        <p:spPr>
          <a:xfrm>
            <a:off x="17035475" y="2663650"/>
            <a:ext cx="1109100" cy="1527300"/>
          </a:xfrm>
          <a:prstGeom prst="ellipse">
            <a:avLst/>
          </a:prstGeom>
          <a:noFill/>
          <a:ln cap="flat" cmpd="sng" w="762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pic>
        <p:nvPicPr>
          <p:cNvPr id="261" name="Google Shape;261;p36"/>
          <p:cNvPicPr preferRelativeResize="0"/>
          <p:nvPr/>
        </p:nvPicPr>
        <p:blipFill>
          <a:blip r:embed="rId4">
            <a:alphaModFix/>
          </a:blip>
          <a:stretch>
            <a:fillRect/>
          </a:stretch>
        </p:blipFill>
        <p:spPr>
          <a:xfrm>
            <a:off x="11484850" y="6286925"/>
            <a:ext cx="4815300" cy="3611483"/>
          </a:xfrm>
          <a:prstGeom prst="rect">
            <a:avLst/>
          </a:prstGeom>
          <a:noFill/>
          <a:ln>
            <a:noFill/>
          </a:ln>
        </p:spPr>
      </p:pic>
      <p:pic>
        <p:nvPicPr>
          <p:cNvPr id="262" name="Google Shape;262;p36" title="61S3vXpWGKL._AC_SL1500_.jpg"/>
          <p:cNvPicPr preferRelativeResize="0"/>
          <p:nvPr/>
        </p:nvPicPr>
        <p:blipFill>
          <a:blip r:embed="rId5">
            <a:alphaModFix/>
          </a:blip>
          <a:stretch>
            <a:fillRect/>
          </a:stretch>
        </p:blipFill>
        <p:spPr>
          <a:xfrm>
            <a:off x="17035475" y="5973053"/>
            <a:ext cx="6309791" cy="63097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txBox="1"/>
          <p:nvPr>
            <p:ph idx="1" type="body"/>
          </p:nvPr>
        </p:nvSpPr>
        <p:spPr>
          <a:xfrm>
            <a:off x="977125" y="3089225"/>
            <a:ext cx="12372000" cy="8222400"/>
          </a:xfrm>
          <a:prstGeom prst="rect">
            <a:avLst/>
          </a:prstGeom>
        </p:spPr>
        <p:txBody>
          <a:bodyPr anchorCtr="0" anchor="ctr" bIns="243800" lIns="243800" spcFirstLastPara="1" rIns="243800" wrap="square" tIns="243800">
            <a:noAutofit/>
          </a:bodyPr>
          <a:lstStyle/>
          <a:p>
            <a:pPr indent="0" lvl="0" marL="0" rtl="0" algn="l">
              <a:lnSpc>
                <a:spcPct val="150000"/>
              </a:lnSpc>
              <a:spcBef>
                <a:spcPts val="0"/>
              </a:spcBef>
              <a:spcAft>
                <a:spcPts val="0"/>
              </a:spcAft>
              <a:buClr>
                <a:schemeClr val="dk1"/>
              </a:buClr>
              <a:buSzPts val="1100"/>
              <a:buFont typeface="Arial"/>
              <a:buNone/>
            </a:pPr>
            <a:r>
              <a:t/>
            </a:r>
            <a:endParaRPr b="1" sz="3000">
              <a:solidFill>
                <a:srgbClr val="1A1C1E"/>
              </a:solidFill>
              <a:highlight>
                <a:srgbClr val="FFFFFF"/>
              </a:highlight>
              <a:latin typeface="Arial"/>
              <a:ea typeface="Arial"/>
              <a:cs typeface="Arial"/>
              <a:sym typeface="Arial"/>
            </a:endParaRPr>
          </a:p>
          <a:p>
            <a:pPr indent="0" lvl="0" marL="0" rtl="0" algn="l">
              <a:lnSpc>
                <a:spcPct val="142857"/>
              </a:lnSpc>
              <a:spcBef>
                <a:spcPts val="1100"/>
              </a:spcBef>
              <a:spcAft>
                <a:spcPts val="0"/>
              </a:spcAft>
              <a:buNone/>
            </a:pPr>
            <a:r>
              <a:rPr lang="en" sz="3000">
                <a:solidFill>
                  <a:srgbClr val="1A1C1E"/>
                </a:solidFill>
                <a:highlight>
                  <a:srgbClr val="FFFFFF"/>
                </a:highlight>
                <a:latin typeface="Arial"/>
                <a:ea typeface="Arial"/>
                <a:cs typeface="Arial"/>
                <a:sym typeface="Arial"/>
              </a:rPr>
              <a:t>This is the short jumper cable between your antenna and your first Low-Noise Amplifier (LNA).</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1400"/>
              </a:spcBef>
              <a:spcAft>
                <a:spcPts val="0"/>
              </a:spcAft>
              <a:buClr>
                <a:srgbClr val="1A1C1E"/>
              </a:buClr>
              <a:buSzPts val="3000"/>
              <a:buFont typeface="Arial"/>
              <a:buChar char="●"/>
            </a:pPr>
            <a:r>
              <a:rPr lang="en" sz="3000">
                <a:solidFill>
                  <a:srgbClr val="1A1C1E"/>
                </a:solidFill>
                <a:highlight>
                  <a:srgbClr val="FFFFFF"/>
                </a:highlight>
                <a:latin typeface="Arial"/>
                <a:ea typeface="Arial"/>
                <a:cs typeface="Arial"/>
                <a:sym typeface="Arial"/>
              </a:rPr>
              <a:t>Every decibel of loss in the cable </a:t>
            </a:r>
            <a:r>
              <a:rPr i="1" lang="en" sz="3000">
                <a:solidFill>
                  <a:srgbClr val="1A1C1E"/>
                </a:solidFill>
                <a:highlight>
                  <a:srgbClr val="FFFFFF"/>
                </a:highlight>
                <a:latin typeface="Arial"/>
                <a:ea typeface="Arial"/>
                <a:cs typeface="Arial"/>
                <a:sym typeface="Arial"/>
              </a:rPr>
              <a:t>before</a:t>
            </a:r>
            <a:r>
              <a:rPr lang="en" sz="3000">
                <a:solidFill>
                  <a:srgbClr val="1A1C1E"/>
                </a:solidFill>
                <a:highlight>
                  <a:srgbClr val="FFFFFF"/>
                </a:highlight>
                <a:latin typeface="Arial"/>
                <a:ea typeface="Arial"/>
                <a:cs typeface="Arial"/>
                <a:sym typeface="Arial"/>
              </a:rPr>
              <a:t> the first LNA directly adds to the </a:t>
            </a:r>
            <a:r>
              <a:rPr b="1" lang="en" sz="3000">
                <a:solidFill>
                  <a:srgbClr val="1A1C1E"/>
                </a:solidFill>
                <a:highlight>
                  <a:srgbClr val="FFFFFF"/>
                </a:highlight>
                <a:latin typeface="Arial"/>
                <a:ea typeface="Arial"/>
                <a:cs typeface="Arial"/>
                <a:sym typeface="Arial"/>
              </a:rPr>
              <a:t>Noise Figure of your entire system</a:t>
            </a:r>
            <a:r>
              <a:rPr lang="en" sz="3000">
                <a:solidFill>
                  <a:srgbClr val="1A1C1E"/>
                </a:solidFill>
                <a:highlight>
                  <a:srgbClr val="FFFFFF"/>
                </a:highlight>
                <a:latin typeface="Arial"/>
                <a:ea typeface="Arial"/>
                <a:cs typeface="Arial"/>
                <a:sym typeface="Arial"/>
              </a:rPr>
              <a:t>. If you use a poor-quality cable with 1 dB of loss here, you have just made your entire multi-thousand-dollar telescope system 1 dB "noisier" (i.e., less sensitive). This loss is permanent and can never be recovered.</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The Right Choice:</a:t>
            </a:r>
            <a:r>
              <a:rPr lang="en" sz="3000">
                <a:solidFill>
                  <a:srgbClr val="1A1C1E"/>
                </a:solidFill>
                <a:highlight>
                  <a:srgbClr val="FFFFFF"/>
                </a:highlight>
                <a:latin typeface="Arial"/>
                <a:ea typeface="Arial"/>
                <a:cs typeface="Arial"/>
                <a:sym typeface="Arial"/>
              </a:rPr>
              <a:t> ultra-low-loss, flexible cable like </a:t>
            </a:r>
            <a:r>
              <a:rPr b="1" lang="en" sz="3000">
                <a:solidFill>
                  <a:srgbClr val="1A1C1E"/>
                </a:solidFill>
                <a:highlight>
                  <a:srgbClr val="FFFFFF"/>
                </a:highlight>
                <a:latin typeface="Arial"/>
                <a:ea typeface="Arial"/>
                <a:cs typeface="Arial"/>
                <a:sym typeface="Arial"/>
              </a:rPr>
              <a:t>LMR-240-UF</a:t>
            </a:r>
            <a:r>
              <a:rPr lang="en" sz="3000">
                <a:solidFill>
                  <a:srgbClr val="1A1C1E"/>
                </a:solidFill>
                <a:highlight>
                  <a:srgbClr val="FFFFFF"/>
                </a:highlight>
                <a:latin typeface="Arial"/>
                <a:ea typeface="Arial"/>
                <a:cs typeface="Arial"/>
                <a:sym typeface="Arial"/>
              </a:rPr>
              <a:t> or a high-quality </a:t>
            </a:r>
            <a:r>
              <a:rPr b="1" lang="en" sz="3000">
                <a:solidFill>
                  <a:srgbClr val="1A1C1E"/>
                </a:solidFill>
                <a:highlight>
                  <a:srgbClr val="FFFFFF"/>
                </a:highlight>
                <a:latin typeface="Arial"/>
                <a:ea typeface="Arial"/>
                <a:cs typeface="Arial"/>
                <a:sym typeface="Arial"/>
              </a:rPr>
              <a:t>Mini-Circuits Hand-Flex</a:t>
            </a:r>
            <a:r>
              <a:rPr lang="en" sz="3000">
                <a:solidFill>
                  <a:srgbClr val="1A1C1E"/>
                </a:solidFill>
                <a:highlight>
                  <a:srgbClr val="FFFFFF"/>
                </a:highlight>
                <a:latin typeface="Arial"/>
                <a:ea typeface="Arial"/>
                <a:cs typeface="Arial"/>
                <a:sym typeface="Arial"/>
              </a:rPr>
              <a:t> jumper. The goal is to make this "pipe" as short and as perfectly sealed as possible.</a:t>
            </a:r>
            <a:endParaRPr sz="3000"/>
          </a:p>
        </p:txBody>
      </p:sp>
      <p:sp>
        <p:nvSpPr>
          <p:cNvPr id="268" name="Google Shape;268;p37"/>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69" name="Google Shape;269;p37"/>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Loss Before Amplification (The Most Critical Stage)</a:t>
            </a:r>
            <a:endParaRPr/>
          </a:p>
        </p:txBody>
      </p:sp>
      <p:pic>
        <p:nvPicPr>
          <p:cNvPr id="270" name="Google Shape;270;p37"/>
          <p:cNvPicPr preferRelativeResize="0"/>
          <p:nvPr/>
        </p:nvPicPr>
        <p:blipFill>
          <a:blip r:embed="rId3">
            <a:alphaModFix/>
          </a:blip>
          <a:stretch>
            <a:fillRect/>
          </a:stretch>
        </p:blipFill>
        <p:spPr>
          <a:xfrm>
            <a:off x="13636600" y="4870117"/>
            <a:ext cx="8956625" cy="5960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8"/>
          <p:cNvSpPr txBox="1"/>
          <p:nvPr>
            <p:ph idx="1" type="body"/>
          </p:nvPr>
        </p:nvSpPr>
        <p:spPr>
          <a:xfrm>
            <a:off x="977125" y="3089225"/>
            <a:ext cx="12372000" cy="8222400"/>
          </a:xfrm>
          <a:prstGeom prst="rect">
            <a:avLst/>
          </a:prstGeom>
        </p:spPr>
        <p:txBody>
          <a:bodyPr anchorCtr="0" anchor="ctr" bIns="243800" lIns="243800" spcFirstLastPara="1" rIns="243800" wrap="square" tIns="243800">
            <a:noAutofit/>
          </a:bodyPr>
          <a:lstStyle/>
          <a:p>
            <a:pPr indent="0" lvl="0" marL="0" rtl="0" algn="l">
              <a:lnSpc>
                <a:spcPct val="142857"/>
              </a:lnSpc>
              <a:spcBef>
                <a:spcPts val="1100"/>
              </a:spcBef>
              <a:spcAft>
                <a:spcPts val="0"/>
              </a:spcAft>
              <a:buNone/>
            </a:pPr>
            <a:r>
              <a:rPr lang="en" sz="2400">
                <a:solidFill>
                  <a:srgbClr val="1A1C1E"/>
                </a:solidFill>
                <a:highlight>
                  <a:srgbClr val="FFFFFF"/>
                </a:highlight>
                <a:latin typeface="Arial"/>
                <a:ea typeface="Arial"/>
                <a:cs typeface="Arial"/>
                <a:sym typeface="Arial"/>
              </a:rPr>
              <a:t>This is the long  cable that runs from your mast-mounted LNA down to your indoor lab. At this point, the LNA has already amplified your "single drop" into a full cup of liquid.</a:t>
            </a:r>
            <a:endParaRPr sz="2400">
              <a:solidFill>
                <a:srgbClr val="1A1C1E"/>
              </a:solidFill>
              <a:highlight>
                <a:srgbClr val="FFFFFF"/>
              </a:highlight>
              <a:latin typeface="Arial"/>
              <a:ea typeface="Arial"/>
              <a:cs typeface="Arial"/>
              <a:sym typeface="Arial"/>
            </a:endParaRPr>
          </a:p>
          <a:p>
            <a:pPr indent="-381000" lvl="0" marL="457200" rtl="0" algn="l">
              <a:lnSpc>
                <a:spcPct val="142857"/>
              </a:lnSpc>
              <a:spcBef>
                <a:spcPts val="140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The Physics:</a:t>
            </a:r>
            <a:r>
              <a:rPr lang="en" sz="2400">
                <a:solidFill>
                  <a:srgbClr val="1A1C1E"/>
                </a:solidFill>
                <a:highlight>
                  <a:srgbClr val="FFFFFF"/>
                </a:highlight>
                <a:latin typeface="Arial"/>
                <a:ea typeface="Arial"/>
                <a:cs typeface="Arial"/>
                <a:sym typeface="Arial"/>
              </a:rPr>
              <a:t> The signal is now strong, but the long cable still introduces significant attenuation (loss). The goal is to preserve as much of that amplified signal as possible.</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A 15-meter run of </a:t>
            </a:r>
            <a:r>
              <a:rPr b="1" lang="en" sz="2400">
                <a:solidFill>
                  <a:srgbClr val="1A1C1E"/>
                </a:solidFill>
                <a:highlight>
                  <a:srgbClr val="FFFFFF"/>
                </a:highlight>
                <a:latin typeface="Arial"/>
                <a:ea typeface="Arial"/>
                <a:cs typeface="Arial"/>
                <a:sym typeface="Arial"/>
              </a:rPr>
              <a:t>RG-58</a:t>
            </a:r>
            <a:r>
              <a:rPr lang="en" sz="2400">
                <a:solidFill>
                  <a:srgbClr val="1A1C1E"/>
                </a:solidFill>
                <a:highlight>
                  <a:srgbClr val="FFFFFF"/>
                </a:highlight>
                <a:latin typeface="Arial"/>
                <a:ea typeface="Arial"/>
                <a:cs typeface="Arial"/>
                <a:sym typeface="Arial"/>
              </a:rPr>
              <a:t> would lose about </a:t>
            </a:r>
            <a:r>
              <a:rPr b="1" lang="en" sz="2400">
                <a:solidFill>
                  <a:srgbClr val="1A1C1E"/>
                </a:solidFill>
                <a:highlight>
                  <a:srgbClr val="FFFFFF"/>
                </a:highlight>
                <a:latin typeface="Arial"/>
                <a:ea typeface="Arial"/>
                <a:cs typeface="Arial"/>
                <a:sym typeface="Arial"/>
              </a:rPr>
              <a:t>-10 dB</a:t>
            </a:r>
            <a:r>
              <a:rPr lang="en" sz="2400">
                <a:solidFill>
                  <a:srgbClr val="1A1C1E"/>
                </a:solidFill>
                <a:highlight>
                  <a:srgbClr val="FFFFFF"/>
                </a:highlight>
                <a:latin typeface="Arial"/>
                <a:ea typeface="Arial"/>
                <a:cs typeface="Arial"/>
                <a:sym typeface="Arial"/>
              </a:rPr>
              <a:t> at 700 MHz. </a:t>
            </a:r>
            <a:r>
              <a:rPr b="1" lang="en" sz="2400">
                <a:solidFill>
                  <a:srgbClr val="1A1C1E"/>
                </a:solidFill>
                <a:highlight>
                  <a:srgbClr val="FFFFFF"/>
                </a:highlight>
                <a:latin typeface="Arial"/>
                <a:ea typeface="Arial"/>
                <a:cs typeface="Arial"/>
                <a:sym typeface="Arial"/>
              </a:rPr>
              <a:t>You would lose 90% of your signal.</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A 15-meter run of </a:t>
            </a:r>
            <a:r>
              <a:rPr b="1" lang="en" sz="2400">
                <a:solidFill>
                  <a:srgbClr val="1A1C1E"/>
                </a:solidFill>
                <a:highlight>
                  <a:srgbClr val="FFFFFF"/>
                </a:highlight>
                <a:latin typeface="Arial"/>
                <a:ea typeface="Arial"/>
                <a:cs typeface="Arial"/>
                <a:sym typeface="Arial"/>
              </a:rPr>
              <a:t>LMR-400</a:t>
            </a:r>
            <a:r>
              <a:rPr lang="en" sz="2400">
                <a:solidFill>
                  <a:srgbClr val="1A1C1E"/>
                </a:solidFill>
                <a:highlight>
                  <a:srgbClr val="FFFFFF"/>
                </a:highlight>
                <a:latin typeface="Arial"/>
                <a:ea typeface="Arial"/>
                <a:cs typeface="Arial"/>
                <a:sym typeface="Arial"/>
              </a:rPr>
              <a:t> loses only about </a:t>
            </a:r>
            <a:r>
              <a:rPr b="1" lang="en" sz="2400">
                <a:solidFill>
                  <a:srgbClr val="1A1C1E"/>
                </a:solidFill>
                <a:highlight>
                  <a:srgbClr val="FFFFFF"/>
                </a:highlight>
                <a:latin typeface="Arial"/>
                <a:ea typeface="Arial"/>
                <a:cs typeface="Arial"/>
                <a:sym typeface="Arial"/>
              </a:rPr>
              <a:t>-2.1 dB</a:t>
            </a:r>
            <a:r>
              <a:rPr lang="en" sz="2400">
                <a:solidFill>
                  <a:srgbClr val="1A1C1E"/>
                </a:solidFill>
                <a:highlight>
                  <a:srgbClr val="FFFFFF"/>
                </a:highlight>
                <a:latin typeface="Arial"/>
                <a:ea typeface="Arial"/>
                <a:cs typeface="Arial"/>
                <a:sym typeface="Arial"/>
              </a:rPr>
              <a:t>. You preserve over 60% of your signal.</a:t>
            </a:r>
            <a:endParaRPr sz="2400">
              <a:solidFill>
                <a:srgbClr val="1A1C1E"/>
              </a:solidFill>
              <a:highlight>
                <a:srgbClr val="FFFFFF"/>
              </a:highlight>
              <a:latin typeface="Arial"/>
              <a:ea typeface="Arial"/>
              <a:cs typeface="Arial"/>
              <a:sym typeface="Arial"/>
            </a:endParaRPr>
          </a:p>
          <a:p>
            <a:pPr indent="-381000" lvl="0" marL="4572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The Right Choice:</a:t>
            </a:r>
            <a:r>
              <a:rPr lang="en" sz="2400">
                <a:solidFill>
                  <a:srgbClr val="1A1C1E"/>
                </a:solidFill>
                <a:highlight>
                  <a:srgbClr val="FFFFFF"/>
                </a:highlight>
                <a:latin typeface="Arial"/>
                <a:ea typeface="Arial"/>
                <a:cs typeface="Arial"/>
                <a:sym typeface="Arial"/>
              </a:rPr>
              <a:t> This is why </a:t>
            </a:r>
            <a:r>
              <a:rPr b="1" lang="en" sz="2400">
                <a:solidFill>
                  <a:srgbClr val="1A1C1E"/>
                </a:solidFill>
                <a:highlight>
                  <a:srgbClr val="FFFFFF"/>
                </a:highlight>
                <a:latin typeface="Arial"/>
                <a:ea typeface="Arial"/>
                <a:cs typeface="Arial"/>
                <a:sym typeface="Arial"/>
              </a:rPr>
              <a:t>LMR-400</a:t>
            </a:r>
            <a:r>
              <a:rPr lang="en" sz="2400">
                <a:solidFill>
                  <a:srgbClr val="1A1C1E"/>
                </a:solidFill>
                <a:highlight>
                  <a:srgbClr val="FFFFFF"/>
                </a:highlight>
                <a:latin typeface="Arial"/>
                <a:ea typeface="Arial"/>
                <a:cs typeface="Arial"/>
                <a:sym typeface="Arial"/>
              </a:rPr>
              <a:t> (or an equivalent) is the non-negotiable choice for this long run. The difference in signal preservation is not small; it's a factor of hundreds of percent.</a:t>
            </a:r>
            <a:endParaRPr sz="2400">
              <a:solidFill>
                <a:srgbClr val="1A1C1E"/>
              </a:solidFill>
              <a:highlight>
                <a:srgbClr val="FFFFFF"/>
              </a:highlight>
              <a:latin typeface="Arial"/>
              <a:ea typeface="Arial"/>
              <a:cs typeface="Arial"/>
              <a:sym typeface="Arial"/>
            </a:endParaRPr>
          </a:p>
          <a:p>
            <a:pPr indent="0" lvl="0" marL="0" rtl="0" algn="l">
              <a:spcBef>
                <a:spcPts val="1100"/>
              </a:spcBef>
              <a:spcAft>
                <a:spcPts val="0"/>
              </a:spcAft>
              <a:buNone/>
            </a:pPr>
            <a:r>
              <a:t/>
            </a:r>
            <a:endParaRPr b="1" sz="2400">
              <a:solidFill>
                <a:srgbClr val="1A1C1E"/>
              </a:solidFill>
              <a:highlight>
                <a:srgbClr val="FFFFFF"/>
              </a:highlight>
              <a:latin typeface="Arial"/>
              <a:ea typeface="Arial"/>
              <a:cs typeface="Arial"/>
              <a:sym typeface="Arial"/>
            </a:endParaRPr>
          </a:p>
        </p:txBody>
      </p:sp>
      <p:sp>
        <p:nvSpPr>
          <p:cNvPr id="276" name="Google Shape;276;p38"/>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77" name="Google Shape;277;p38"/>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Loss After Amplification (The Long Run)</a:t>
            </a:r>
            <a:endParaRPr/>
          </a:p>
        </p:txBody>
      </p:sp>
      <p:pic>
        <p:nvPicPr>
          <p:cNvPr id="278" name="Google Shape;278;p38" title="61S3vXpWGKL._AC_SL1500_.jpg"/>
          <p:cNvPicPr preferRelativeResize="0"/>
          <p:nvPr/>
        </p:nvPicPr>
        <p:blipFill>
          <a:blip r:embed="rId3">
            <a:alphaModFix/>
          </a:blip>
          <a:stretch>
            <a:fillRect/>
          </a:stretch>
        </p:blipFill>
        <p:spPr>
          <a:xfrm>
            <a:off x="14487104" y="2374678"/>
            <a:ext cx="8966651" cy="89666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9"/>
          <p:cNvSpPr txBox="1"/>
          <p:nvPr>
            <p:ph idx="1" type="body"/>
          </p:nvPr>
        </p:nvSpPr>
        <p:spPr>
          <a:xfrm>
            <a:off x="1356475" y="2186350"/>
            <a:ext cx="9599700" cy="10847100"/>
          </a:xfrm>
          <a:prstGeom prst="rect">
            <a:avLst/>
          </a:prstGeom>
        </p:spPr>
        <p:txBody>
          <a:bodyPr anchorCtr="0" anchor="ctr" bIns="243800" lIns="243800" spcFirstLastPara="1" rIns="243800" wrap="square" tIns="243800">
            <a:noAutofit/>
          </a:bodyPr>
          <a:lstStyle/>
          <a:p>
            <a:pPr indent="0" lvl="0" marL="0" rtl="0" algn="l">
              <a:lnSpc>
                <a:spcPct val="142857"/>
              </a:lnSpc>
              <a:spcBef>
                <a:spcPts val="1100"/>
              </a:spcBef>
              <a:spcAft>
                <a:spcPts val="0"/>
              </a:spcAft>
              <a:buClr>
                <a:schemeClr val="dk1"/>
              </a:buClr>
              <a:buSzPts val="1100"/>
              <a:buFont typeface="Arial"/>
              <a:buNone/>
            </a:pPr>
            <a:r>
              <a:rPr lang="en" sz="3000">
                <a:solidFill>
                  <a:srgbClr val="1A1C1E"/>
                </a:solidFill>
                <a:highlight>
                  <a:srgbClr val="FFFFFF"/>
                </a:highlight>
                <a:latin typeface="Arial"/>
                <a:ea typeface="Arial"/>
                <a:cs typeface="Arial"/>
                <a:sym typeface="Arial"/>
              </a:rPr>
              <a:t>First, we need to understand the unit we use. We use the </a:t>
            </a:r>
            <a:r>
              <a:rPr b="1" lang="en" sz="3000">
                <a:solidFill>
                  <a:srgbClr val="1A1C1E"/>
                </a:solidFill>
                <a:highlight>
                  <a:srgbClr val="FFFFFF"/>
                </a:highlight>
                <a:latin typeface="Arial"/>
                <a:ea typeface="Arial"/>
                <a:cs typeface="Arial"/>
                <a:sym typeface="Arial"/>
              </a:rPr>
              <a:t>decibel (dB)</a:t>
            </a:r>
            <a:r>
              <a:rPr lang="en" sz="3000">
                <a:solidFill>
                  <a:srgbClr val="1A1C1E"/>
                </a:solidFill>
                <a:highlight>
                  <a:srgbClr val="FFFFFF"/>
                </a:highlight>
                <a:latin typeface="Arial"/>
                <a:ea typeface="Arial"/>
                <a:cs typeface="Arial"/>
                <a:sym typeface="Arial"/>
              </a:rPr>
              <a:t> because it's a logarithmic scale that makes it easy to add and subtract gains and losses.</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140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Gain (Positive dB):</a:t>
            </a:r>
            <a:endParaRPr b="1" sz="3000">
              <a:solidFill>
                <a:srgbClr val="1A1C1E"/>
              </a:solidFill>
              <a:highlight>
                <a:srgbClr val="FFFFFF"/>
              </a:highlight>
              <a:latin typeface="Arial"/>
              <a:ea typeface="Arial"/>
              <a:cs typeface="Arial"/>
              <a:sym typeface="Arial"/>
            </a:endParaRPr>
          </a:p>
          <a:p>
            <a:pPr indent="-419100" lvl="1" marL="9144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+3 dB</a:t>
            </a:r>
            <a:r>
              <a:rPr lang="en" sz="3000">
                <a:solidFill>
                  <a:srgbClr val="1A1C1E"/>
                </a:solidFill>
                <a:highlight>
                  <a:srgbClr val="FFFFFF"/>
                </a:highlight>
                <a:latin typeface="Arial"/>
                <a:ea typeface="Arial"/>
                <a:cs typeface="Arial"/>
                <a:sym typeface="Arial"/>
              </a:rPr>
              <a:t> = 2x the power</a:t>
            </a:r>
            <a:endParaRPr sz="3000">
              <a:solidFill>
                <a:srgbClr val="1A1C1E"/>
              </a:solidFill>
              <a:highlight>
                <a:srgbClr val="FFFFFF"/>
              </a:highlight>
              <a:latin typeface="Arial"/>
              <a:ea typeface="Arial"/>
              <a:cs typeface="Arial"/>
              <a:sym typeface="Arial"/>
            </a:endParaRPr>
          </a:p>
          <a:p>
            <a:pPr indent="-419100" lvl="1" marL="9144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+10 dB</a:t>
            </a:r>
            <a:r>
              <a:rPr lang="en" sz="3000">
                <a:solidFill>
                  <a:srgbClr val="1A1C1E"/>
                </a:solidFill>
                <a:highlight>
                  <a:srgbClr val="FFFFFF"/>
                </a:highlight>
                <a:latin typeface="Arial"/>
                <a:ea typeface="Arial"/>
                <a:cs typeface="Arial"/>
                <a:sym typeface="Arial"/>
              </a:rPr>
              <a:t> = 10x the power</a:t>
            </a:r>
            <a:endParaRPr sz="3000">
              <a:solidFill>
                <a:srgbClr val="1A1C1E"/>
              </a:solidFill>
              <a:highlight>
                <a:srgbClr val="FFFFFF"/>
              </a:highlight>
              <a:latin typeface="Arial"/>
              <a:ea typeface="Arial"/>
              <a:cs typeface="Arial"/>
              <a:sym typeface="Arial"/>
            </a:endParaRPr>
          </a:p>
          <a:p>
            <a:pPr indent="-419100" lvl="1" marL="9144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+20 dB</a:t>
            </a:r>
            <a:r>
              <a:rPr lang="en" sz="3000">
                <a:solidFill>
                  <a:srgbClr val="1A1C1E"/>
                </a:solidFill>
                <a:highlight>
                  <a:srgbClr val="FFFFFF"/>
                </a:highlight>
                <a:latin typeface="Arial"/>
                <a:ea typeface="Arial"/>
                <a:cs typeface="Arial"/>
                <a:sym typeface="Arial"/>
              </a:rPr>
              <a:t> = 100x the power</a:t>
            </a:r>
            <a:endParaRPr sz="3000">
              <a:solidFill>
                <a:srgbClr val="1A1C1E"/>
              </a:solidFill>
              <a:highlight>
                <a:srgbClr val="FFFFFF"/>
              </a:highlight>
              <a:latin typeface="Arial"/>
              <a:ea typeface="Arial"/>
              <a:cs typeface="Arial"/>
              <a:sym typeface="Arial"/>
            </a:endParaRPr>
          </a:p>
          <a:p>
            <a:pPr indent="0" lvl="0" marL="0" rtl="0" algn="l">
              <a:lnSpc>
                <a:spcPct val="142857"/>
              </a:lnSpc>
              <a:spcBef>
                <a:spcPts val="1100"/>
              </a:spcBef>
              <a:spcAft>
                <a:spcPts val="0"/>
              </a:spcAft>
              <a:buNone/>
            </a:pPr>
            <a:r>
              <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110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Loss (Negative dB):</a:t>
            </a:r>
            <a:endParaRPr b="1" sz="3000">
              <a:solidFill>
                <a:srgbClr val="1A1C1E"/>
              </a:solidFill>
              <a:highlight>
                <a:srgbClr val="FFFFFF"/>
              </a:highlight>
              <a:latin typeface="Arial"/>
              <a:ea typeface="Arial"/>
              <a:cs typeface="Arial"/>
              <a:sym typeface="Arial"/>
            </a:endParaRPr>
          </a:p>
          <a:p>
            <a:pPr indent="-419100" lvl="1" marL="9144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-3 dB</a:t>
            </a:r>
            <a:r>
              <a:rPr lang="en" sz="3000">
                <a:solidFill>
                  <a:srgbClr val="1A1C1E"/>
                </a:solidFill>
                <a:highlight>
                  <a:srgbClr val="FFFFFF"/>
                </a:highlight>
                <a:latin typeface="Arial"/>
                <a:ea typeface="Arial"/>
                <a:cs typeface="Arial"/>
                <a:sym typeface="Arial"/>
              </a:rPr>
              <a:t> = 1/2 the power (50% loss)</a:t>
            </a:r>
            <a:endParaRPr sz="3000">
              <a:solidFill>
                <a:srgbClr val="1A1C1E"/>
              </a:solidFill>
              <a:highlight>
                <a:srgbClr val="FFFFFF"/>
              </a:highlight>
              <a:latin typeface="Arial"/>
              <a:ea typeface="Arial"/>
              <a:cs typeface="Arial"/>
              <a:sym typeface="Arial"/>
            </a:endParaRPr>
          </a:p>
          <a:p>
            <a:pPr indent="-419100" lvl="1" marL="9144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-10 dB</a:t>
            </a:r>
            <a:r>
              <a:rPr lang="en" sz="3000">
                <a:solidFill>
                  <a:srgbClr val="1A1C1E"/>
                </a:solidFill>
                <a:highlight>
                  <a:srgbClr val="FFFFFF"/>
                </a:highlight>
                <a:latin typeface="Arial"/>
                <a:ea typeface="Arial"/>
                <a:cs typeface="Arial"/>
                <a:sym typeface="Arial"/>
              </a:rPr>
              <a:t> = 1/10th the power (90% loss)</a:t>
            </a:r>
            <a:endParaRPr sz="3000">
              <a:solidFill>
                <a:srgbClr val="1A1C1E"/>
              </a:solidFill>
              <a:highlight>
                <a:srgbClr val="FFFFFF"/>
              </a:highlight>
              <a:latin typeface="Arial"/>
              <a:ea typeface="Arial"/>
              <a:cs typeface="Arial"/>
              <a:sym typeface="Arial"/>
            </a:endParaRPr>
          </a:p>
          <a:p>
            <a:pPr indent="-419100" lvl="1" marL="914400" rtl="0" algn="l">
              <a:lnSpc>
                <a:spcPct val="142857"/>
              </a:lnSpc>
              <a:spcBef>
                <a:spcPts val="0"/>
              </a:spcBef>
              <a:spcAft>
                <a:spcPts val="0"/>
              </a:spcAft>
              <a:buClr>
                <a:srgbClr val="1A1C1E"/>
              </a:buClr>
              <a:buSzPts val="3000"/>
              <a:buFont typeface="Arial"/>
              <a:buChar char="○"/>
            </a:pPr>
            <a:r>
              <a:rPr b="1" lang="en" sz="3000">
                <a:solidFill>
                  <a:srgbClr val="1A1C1E"/>
                </a:solidFill>
                <a:highlight>
                  <a:srgbClr val="FFFFFF"/>
                </a:highlight>
                <a:latin typeface="Arial"/>
                <a:ea typeface="Arial"/>
                <a:cs typeface="Arial"/>
                <a:sym typeface="Arial"/>
              </a:rPr>
              <a:t>-20 dB</a:t>
            </a:r>
            <a:r>
              <a:rPr lang="en" sz="3000">
                <a:solidFill>
                  <a:srgbClr val="1A1C1E"/>
                </a:solidFill>
                <a:highlight>
                  <a:srgbClr val="FFFFFF"/>
                </a:highlight>
                <a:latin typeface="Arial"/>
                <a:ea typeface="Arial"/>
                <a:cs typeface="Arial"/>
                <a:sym typeface="Arial"/>
              </a:rPr>
              <a:t> = 1/100th the power (99% loss)</a:t>
            </a:r>
            <a:endParaRPr sz="3000">
              <a:solidFill>
                <a:srgbClr val="1A1C1E"/>
              </a:solidFill>
              <a:highlight>
                <a:srgbClr val="FFFFFF"/>
              </a:highlight>
              <a:latin typeface="Arial"/>
              <a:ea typeface="Arial"/>
              <a:cs typeface="Arial"/>
              <a:sym typeface="Arial"/>
            </a:endParaRPr>
          </a:p>
          <a:p>
            <a:pPr indent="0" lvl="0" marL="0" rtl="0" algn="l">
              <a:spcBef>
                <a:spcPts val="1100"/>
              </a:spcBef>
              <a:spcAft>
                <a:spcPts val="0"/>
              </a:spcAft>
              <a:buNone/>
            </a:pPr>
            <a:r>
              <a:t/>
            </a:r>
            <a:endParaRPr b="1" sz="3000">
              <a:solidFill>
                <a:srgbClr val="1A1C1E"/>
              </a:solidFill>
              <a:highlight>
                <a:srgbClr val="FFFFFF"/>
              </a:highlight>
              <a:latin typeface="Arial"/>
              <a:ea typeface="Arial"/>
              <a:cs typeface="Arial"/>
              <a:sym typeface="Arial"/>
            </a:endParaRPr>
          </a:p>
        </p:txBody>
      </p:sp>
      <p:sp>
        <p:nvSpPr>
          <p:cNvPr id="284" name="Google Shape;284;p39"/>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85" name="Google Shape;285;p39"/>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Signal Loss and Gain</a:t>
            </a:r>
            <a:endParaRPr/>
          </a:p>
        </p:txBody>
      </p:sp>
      <p:pic>
        <p:nvPicPr>
          <p:cNvPr id="286" name="Google Shape;286;p39" title="lacoste-347-Figure_4.png"/>
          <p:cNvPicPr preferRelativeResize="0"/>
          <p:nvPr/>
        </p:nvPicPr>
        <p:blipFill>
          <a:blip r:embed="rId3">
            <a:alphaModFix/>
          </a:blip>
          <a:stretch>
            <a:fillRect/>
          </a:stretch>
        </p:blipFill>
        <p:spPr>
          <a:xfrm>
            <a:off x="11137775" y="4012541"/>
            <a:ext cx="13085800" cy="8035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idx="1" type="body"/>
          </p:nvPr>
        </p:nvSpPr>
        <p:spPr>
          <a:xfrm>
            <a:off x="831200" y="2332275"/>
            <a:ext cx="12895200" cy="10847100"/>
          </a:xfrm>
          <a:prstGeom prst="rect">
            <a:avLst/>
          </a:prstGeom>
        </p:spPr>
        <p:txBody>
          <a:bodyPr anchorCtr="0" anchor="ctr" bIns="243800" lIns="243800" spcFirstLastPara="1" rIns="243800" wrap="square" tIns="243800">
            <a:noAutofit/>
          </a:bodyPr>
          <a:lstStyle/>
          <a:p>
            <a:pPr indent="0" lvl="0" marL="0" rtl="0" algn="l">
              <a:spcBef>
                <a:spcPts val="0"/>
              </a:spcBef>
              <a:spcAft>
                <a:spcPts val="0"/>
              </a:spcAft>
              <a:buNone/>
            </a:pPr>
            <a:r>
              <a:rPr lang="en" sz="2400">
                <a:solidFill>
                  <a:srgbClr val="1A1C1E"/>
                </a:solidFill>
                <a:highlight>
                  <a:srgbClr val="FFFFFF"/>
                </a:highlight>
                <a:latin typeface="Arial"/>
                <a:ea typeface="Arial"/>
                <a:cs typeface="Arial"/>
                <a:sym typeface="Arial"/>
              </a:rPr>
              <a:t>Let's assume the raw signal power captured by the antenna is </a:t>
            </a:r>
            <a:r>
              <a:rPr b="1" lang="en" sz="2400">
                <a:solidFill>
                  <a:srgbClr val="1A1C1E"/>
                </a:solidFill>
                <a:highlight>
                  <a:srgbClr val="FFFFFF"/>
                </a:highlight>
                <a:latin typeface="Arial"/>
                <a:ea typeface="Arial"/>
                <a:cs typeface="Arial"/>
                <a:sym typeface="Arial"/>
              </a:rPr>
              <a:t>-110 dBm</a:t>
            </a:r>
            <a:r>
              <a:rPr lang="en" sz="2400">
                <a:solidFill>
                  <a:srgbClr val="1A1C1E"/>
                </a:solidFill>
                <a:highlight>
                  <a:srgbClr val="FFFFFF"/>
                </a:highlight>
                <a:latin typeface="Arial"/>
                <a:ea typeface="Arial"/>
                <a:cs typeface="Arial"/>
                <a:sym typeface="Arial"/>
              </a:rPr>
              <a:t> (a common power level for a faint radio source).</a:t>
            </a:r>
            <a:endParaRPr sz="2400">
              <a:solidFill>
                <a:srgbClr val="1A1C1E"/>
              </a:solidFill>
              <a:highlight>
                <a:srgbClr val="FFFFFF"/>
              </a:highlight>
              <a:latin typeface="Arial"/>
              <a:ea typeface="Arial"/>
              <a:cs typeface="Arial"/>
              <a:sym typeface="Arial"/>
            </a:endParaRPr>
          </a:p>
          <a:p>
            <a:pPr indent="0" lvl="0" marL="0" rtl="0" algn="l">
              <a:spcBef>
                <a:spcPts val="0"/>
              </a:spcBef>
              <a:spcAft>
                <a:spcPts val="0"/>
              </a:spcAft>
              <a:buNone/>
            </a:pPr>
            <a:r>
              <a:t/>
            </a:r>
            <a:endParaRPr sz="2400">
              <a:solidFill>
                <a:srgbClr val="1A1C1E"/>
              </a:solidFill>
              <a:highlight>
                <a:srgbClr val="FFFFFF"/>
              </a:highlight>
              <a:latin typeface="Arial"/>
              <a:ea typeface="Arial"/>
              <a:cs typeface="Arial"/>
              <a:sym typeface="Arial"/>
            </a:endParaRPr>
          </a:p>
          <a:p>
            <a:pPr indent="0" lvl="0" marL="0" rtl="0" algn="ctr">
              <a:spcBef>
                <a:spcPts val="0"/>
              </a:spcBef>
              <a:spcAft>
                <a:spcPts val="0"/>
              </a:spcAft>
              <a:buNone/>
            </a:pPr>
            <a:r>
              <a:rPr lang="en" sz="3000">
                <a:solidFill>
                  <a:srgbClr val="FF0000"/>
                </a:solidFill>
                <a:highlight>
                  <a:srgbClr val="FFFFFF"/>
                </a:highlight>
                <a:latin typeface="Courier New"/>
                <a:ea typeface="Courier New"/>
                <a:cs typeface="Courier New"/>
                <a:sym typeface="Courier New"/>
              </a:rPr>
              <a:t>[Antenna]</a:t>
            </a:r>
            <a:r>
              <a:rPr lang="en" sz="3000">
                <a:solidFill>
                  <a:srgbClr val="FF0000"/>
                </a:solidFill>
                <a:highlight>
                  <a:schemeClr val="lt1"/>
                </a:highlight>
                <a:latin typeface="Arial"/>
                <a:ea typeface="Arial"/>
                <a:cs typeface="Arial"/>
                <a:sym typeface="Arial"/>
              </a:rPr>
              <a:t> -&gt; </a:t>
            </a:r>
            <a:r>
              <a:rPr lang="en" sz="3000">
                <a:solidFill>
                  <a:srgbClr val="FF0000"/>
                </a:solidFill>
                <a:highlight>
                  <a:schemeClr val="lt1"/>
                </a:highlight>
                <a:latin typeface="Courier New"/>
                <a:ea typeface="Courier New"/>
                <a:cs typeface="Courier New"/>
                <a:sym typeface="Courier New"/>
              </a:rPr>
              <a:t>[LNA]</a:t>
            </a:r>
            <a:r>
              <a:rPr lang="en" sz="3000">
                <a:solidFill>
                  <a:srgbClr val="FF0000"/>
                </a:solidFill>
                <a:highlight>
                  <a:srgbClr val="FFFFFF"/>
                </a:highlight>
                <a:latin typeface="Arial"/>
                <a:ea typeface="Arial"/>
                <a:cs typeface="Arial"/>
                <a:sym typeface="Arial"/>
              </a:rPr>
              <a:t> -&gt; </a:t>
            </a:r>
            <a:r>
              <a:rPr lang="en" sz="3000">
                <a:solidFill>
                  <a:srgbClr val="FF0000"/>
                </a:solidFill>
                <a:highlight>
                  <a:srgbClr val="FFFFFF"/>
                </a:highlight>
                <a:latin typeface="Courier New"/>
                <a:ea typeface="Courier New"/>
                <a:cs typeface="Courier New"/>
                <a:sym typeface="Courier New"/>
              </a:rPr>
              <a:t>[Filter]</a:t>
            </a:r>
            <a:r>
              <a:rPr lang="en" sz="3000">
                <a:solidFill>
                  <a:srgbClr val="FF0000"/>
                </a:solidFill>
                <a:highlight>
                  <a:srgbClr val="FFFFFF"/>
                </a:highlight>
                <a:latin typeface="Arial"/>
                <a:ea typeface="Arial"/>
                <a:cs typeface="Arial"/>
                <a:sym typeface="Arial"/>
              </a:rPr>
              <a:t> -&gt; </a:t>
            </a:r>
            <a:r>
              <a:rPr lang="en" sz="3000">
                <a:solidFill>
                  <a:srgbClr val="FF0000"/>
                </a:solidFill>
                <a:highlight>
                  <a:srgbClr val="FFFFFF"/>
                </a:highlight>
                <a:latin typeface="Courier New"/>
                <a:ea typeface="Courier New"/>
                <a:cs typeface="Courier New"/>
                <a:sym typeface="Courier New"/>
              </a:rPr>
              <a:t>[2</a:t>
            </a:r>
            <a:r>
              <a:rPr baseline="30000" lang="en" sz="3000">
                <a:solidFill>
                  <a:srgbClr val="FF0000"/>
                </a:solidFill>
                <a:highlight>
                  <a:srgbClr val="FFFFFF"/>
                </a:highlight>
                <a:latin typeface="Courier New"/>
                <a:ea typeface="Courier New"/>
                <a:cs typeface="Courier New"/>
                <a:sym typeface="Courier New"/>
              </a:rPr>
              <a:t>nd</a:t>
            </a:r>
            <a:r>
              <a:rPr lang="en" sz="3000">
                <a:solidFill>
                  <a:srgbClr val="FF0000"/>
                </a:solidFill>
                <a:highlight>
                  <a:srgbClr val="FFFFFF"/>
                </a:highlight>
                <a:latin typeface="Courier New"/>
                <a:ea typeface="Courier New"/>
                <a:cs typeface="Courier New"/>
                <a:sym typeface="Courier New"/>
              </a:rPr>
              <a:t> LNA]</a:t>
            </a:r>
            <a:r>
              <a:rPr lang="en" sz="3000">
                <a:solidFill>
                  <a:srgbClr val="FF0000"/>
                </a:solidFill>
                <a:highlight>
                  <a:srgbClr val="FFFFFF"/>
                </a:highlight>
                <a:latin typeface="Arial"/>
                <a:ea typeface="Arial"/>
                <a:cs typeface="Arial"/>
                <a:sym typeface="Arial"/>
              </a:rPr>
              <a:t> -&gt; </a:t>
            </a:r>
            <a:r>
              <a:rPr lang="en" sz="3000">
                <a:solidFill>
                  <a:srgbClr val="FF0000"/>
                </a:solidFill>
                <a:highlight>
                  <a:srgbClr val="FFFFFF"/>
                </a:highlight>
                <a:latin typeface="Courier New"/>
                <a:ea typeface="Courier New"/>
                <a:cs typeface="Courier New"/>
                <a:sym typeface="Courier New"/>
              </a:rPr>
              <a:t>[Long Cable]</a:t>
            </a:r>
            <a:endParaRPr sz="3000">
              <a:solidFill>
                <a:srgbClr val="FF0000"/>
              </a:solidFill>
              <a:highlight>
                <a:srgbClr val="FFFFFF"/>
              </a:highlight>
              <a:latin typeface="Courier New"/>
              <a:ea typeface="Courier New"/>
              <a:cs typeface="Courier New"/>
              <a:sym typeface="Courier New"/>
            </a:endParaRPr>
          </a:p>
          <a:p>
            <a:pPr indent="0" lvl="0" marL="0" rtl="0" algn="ctr">
              <a:spcBef>
                <a:spcPts val="0"/>
              </a:spcBef>
              <a:spcAft>
                <a:spcPts val="0"/>
              </a:spcAft>
              <a:buNone/>
            </a:pPr>
            <a:r>
              <a:t/>
            </a:r>
            <a:endParaRPr sz="3000">
              <a:solidFill>
                <a:srgbClr val="FF0000"/>
              </a:solidFill>
              <a:highlight>
                <a:srgbClr val="FFFFFF"/>
              </a:highlight>
              <a:latin typeface="Courier New"/>
              <a:ea typeface="Courier New"/>
              <a:cs typeface="Courier New"/>
              <a:sym typeface="Courier New"/>
            </a:endParaRPr>
          </a:p>
          <a:p>
            <a:pPr indent="-381000" lvl="0" marL="457200" rtl="0" algn="l">
              <a:lnSpc>
                <a:spcPct val="142857"/>
              </a:lnSpc>
              <a:spcBef>
                <a:spcPts val="1100"/>
              </a:spcBef>
              <a:spcAft>
                <a:spcPts val="0"/>
              </a:spcAft>
              <a:buClr>
                <a:srgbClr val="1A1C1E"/>
              </a:buClr>
              <a:buSzPts val="2400"/>
              <a:buFont typeface="Arial"/>
              <a:buAutoNum type="arabicPeriod"/>
            </a:pPr>
            <a:r>
              <a:rPr b="1" lang="en" sz="2400">
                <a:solidFill>
                  <a:srgbClr val="1A1C1E"/>
                </a:solidFill>
                <a:highlight>
                  <a:srgbClr val="FFFFFF"/>
                </a:highlight>
                <a:latin typeface="Arial"/>
                <a:ea typeface="Arial"/>
                <a:cs typeface="Arial"/>
                <a:sym typeface="Arial"/>
              </a:rPr>
              <a:t>The Antenna (LPDA)</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Function:</a:t>
            </a:r>
            <a:r>
              <a:rPr lang="en" sz="2400">
                <a:solidFill>
                  <a:srgbClr val="1A1C1E"/>
                </a:solidFill>
                <a:highlight>
                  <a:srgbClr val="FFFFFF"/>
                </a:highlight>
                <a:latin typeface="Arial"/>
                <a:ea typeface="Arial"/>
                <a:cs typeface="Arial"/>
                <a:sym typeface="Arial"/>
              </a:rPr>
              <a:t> Captures the signal and provides directional </a:t>
            </a:r>
            <a:r>
              <a:rPr b="1" lang="en" sz="2400">
                <a:solidFill>
                  <a:srgbClr val="1A1C1E"/>
                </a:solidFill>
                <a:highlight>
                  <a:srgbClr val="FFFFFF"/>
                </a:highlight>
                <a:latin typeface="Arial"/>
                <a:ea typeface="Arial"/>
                <a:cs typeface="Arial"/>
                <a:sym typeface="Arial"/>
              </a:rPr>
              <a:t>gain</a:t>
            </a:r>
            <a:r>
              <a:rPr lang="en" sz="2400">
                <a:solidFill>
                  <a:srgbClr val="1A1C1E"/>
                </a:solidFill>
                <a:highlight>
                  <a:srgbClr val="FFFFFF"/>
                </a:highlight>
                <a:latin typeface="Arial"/>
                <a:ea typeface="Arial"/>
                <a:cs typeface="Arial"/>
                <a:sym typeface="Arial"/>
              </a:rPr>
              <a:t>.</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Effect:</a:t>
            </a:r>
            <a:r>
              <a:rPr lang="en" sz="2400">
                <a:solidFill>
                  <a:srgbClr val="1A1C1E"/>
                </a:solidFill>
                <a:highlight>
                  <a:srgbClr val="FFFFFF"/>
                </a:highlight>
                <a:latin typeface="Arial"/>
                <a:ea typeface="Arial"/>
                <a:cs typeface="Arial"/>
                <a:sym typeface="Arial"/>
              </a:rPr>
              <a:t> A good LPDA has a gain of about </a:t>
            </a:r>
            <a:r>
              <a:rPr b="1" lang="en" sz="2400">
                <a:solidFill>
                  <a:srgbClr val="1A1C1E"/>
                </a:solidFill>
                <a:highlight>
                  <a:srgbClr val="FFFFFF"/>
                </a:highlight>
                <a:latin typeface="Arial"/>
                <a:ea typeface="Arial"/>
                <a:cs typeface="Arial"/>
                <a:sym typeface="Arial"/>
              </a:rPr>
              <a:t>+7 dBi</a:t>
            </a:r>
            <a:r>
              <a:rPr lang="en" sz="2400">
                <a:solidFill>
                  <a:srgbClr val="1A1C1E"/>
                </a:solidFill>
                <a:highlight>
                  <a:srgbClr val="FFFFFF"/>
                </a:highlight>
                <a:latin typeface="Arial"/>
                <a:ea typeface="Arial"/>
                <a:cs typeface="Arial"/>
                <a:sym typeface="Arial"/>
              </a:rPr>
              <a:t>. This focuses the energy, effectively boosting the signal relative to noise from other directions.</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Signal Level:</a:t>
            </a:r>
            <a:r>
              <a:rPr lang="en" sz="2400">
                <a:solidFill>
                  <a:srgbClr val="1A1C1E"/>
                </a:solidFill>
                <a:highlight>
                  <a:srgbClr val="FFFFFF"/>
                </a:highlight>
                <a:latin typeface="Arial"/>
                <a:ea typeface="Arial"/>
                <a:cs typeface="Arial"/>
                <a:sym typeface="Arial"/>
              </a:rPr>
              <a:t> -110 dBm + 7 dB = </a:t>
            </a:r>
            <a:r>
              <a:rPr b="1" lang="en" sz="2400">
                <a:solidFill>
                  <a:srgbClr val="1A1C1E"/>
                </a:solidFill>
                <a:highlight>
                  <a:srgbClr val="FFFFFF"/>
                </a:highlight>
                <a:latin typeface="Arial"/>
                <a:ea typeface="Arial"/>
                <a:cs typeface="Arial"/>
                <a:sym typeface="Arial"/>
              </a:rPr>
              <a:t>-103 dBm</a:t>
            </a:r>
            <a:endParaRPr b="1" sz="2400">
              <a:solidFill>
                <a:srgbClr val="1A1C1E"/>
              </a:solidFill>
              <a:highlight>
                <a:srgbClr val="FFFFFF"/>
              </a:highlight>
              <a:latin typeface="Arial"/>
              <a:ea typeface="Arial"/>
              <a:cs typeface="Arial"/>
              <a:sym typeface="Arial"/>
            </a:endParaRPr>
          </a:p>
          <a:p>
            <a:pPr indent="-381000" lvl="0" marL="457200" rtl="0" algn="l">
              <a:lnSpc>
                <a:spcPct val="142857"/>
              </a:lnSpc>
              <a:spcBef>
                <a:spcPts val="0"/>
              </a:spcBef>
              <a:spcAft>
                <a:spcPts val="0"/>
              </a:spcAft>
              <a:buClr>
                <a:srgbClr val="1A1C1E"/>
              </a:buClr>
              <a:buSzPts val="2400"/>
              <a:buFont typeface="Arial"/>
              <a:buAutoNum type="arabicPeriod"/>
            </a:pPr>
            <a:r>
              <a:rPr b="1" lang="en" sz="2400">
                <a:solidFill>
                  <a:srgbClr val="1A1C1E"/>
                </a:solidFill>
                <a:highlight>
                  <a:srgbClr val="FFFFFF"/>
                </a:highlight>
                <a:latin typeface="Arial"/>
                <a:ea typeface="Arial"/>
                <a:cs typeface="Arial"/>
                <a:sym typeface="Arial"/>
              </a:rPr>
              <a:t>The Jumper Cable &amp; Filter</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Function:</a:t>
            </a:r>
            <a:r>
              <a:rPr lang="en" sz="2400">
                <a:solidFill>
                  <a:srgbClr val="1A1C1E"/>
                </a:solidFill>
                <a:highlight>
                  <a:srgbClr val="FFFFFF"/>
                </a:highlight>
                <a:latin typeface="Arial"/>
                <a:ea typeface="Arial"/>
                <a:cs typeface="Arial"/>
                <a:sym typeface="Arial"/>
              </a:rPr>
              <a:t> These are passive components. They don't add power; they only take it away. This is </a:t>
            </a:r>
            <a:r>
              <a:rPr b="1" lang="en" sz="2400">
                <a:solidFill>
                  <a:srgbClr val="1A1C1E"/>
                </a:solidFill>
                <a:highlight>
                  <a:srgbClr val="FFFFFF"/>
                </a:highlight>
                <a:latin typeface="Arial"/>
                <a:ea typeface="Arial"/>
                <a:cs typeface="Arial"/>
                <a:sym typeface="Arial"/>
              </a:rPr>
              <a:t>insertion loss</a:t>
            </a:r>
            <a:r>
              <a:rPr lang="en" sz="2400">
                <a:solidFill>
                  <a:srgbClr val="1A1C1E"/>
                </a:solidFill>
                <a:highlight>
                  <a:srgbClr val="FFFFFF"/>
                </a:highlight>
                <a:latin typeface="Arial"/>
                <a:ea typeface="Arial"/>
                <a:cs typeface="Arial"/>
                <a:sym typeface="Arial"/>
              </a:rPr>
              <a:t>.</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Effect:</a:t>
            </a:r>
            <a:r>
              <a:rPr lang="en" sz="2400">
                <a:solidFill>
                  <a:srgbClr val="1A1C1E"/>
                </a:solidFill>
                <a:highlight>
                  <a:srgbClr val="FFFFFF"/>
                </a:highlight>
                <a:latin typeface="Arial"/>
                <a:ea typeface="Arial"/>
                <a:cs typeface="Arial"/>
                <a:sym typeface="Arial"/>
              </a:rPr>
              <a:t> A short jumper and a good filter might have a combined loss of </a:t>
            </a:r>
            <a:r>
              <a:rPr b="1" lang="en" sz="2400">
                <a:solidFill>
                  <a:srgbClr val="1A1C1E"/>
                </a:solidFill>
                <a:highlight>
                  <a:srgbClr val="FFFFFF"/>
                </a:highlight>
                <a:latin typeface="Arial"/>
                <a:ea typeface="Arial"/>
                <a:cs typeface="Arial"/>
                <a:sym typeface="Arial"/>
              </a:rPr>
              <a:t>-1.0 dB</a:t>
            </a:r>
            <a:r>
              <a:rPr lang="en" sz="2400">
                <a:solidFill>
                  <a:srgbClr val="1A1C1E"/>
                </a:solidFill>
                <a:highlight>
                  <a:srgbClr val="FFFFFF"/>
                </a:highlight>
                <a:latin typeface="Arial"/>
                <a:ea typeface="Arial"/>
                <a:cs typeface="Arial"/>
                <a:sym typeface="Arial"/>
              </a:rPr>
              <a:t>. This is unavoidable loss </a:t>
            </a:r>
            <a:r>
              <a:rPr i="1" lang="en" sz="2400">
                <a:solidFill>
                  <a:srgbClr val="1A1C1E"/>
                </a:solidFill>
                <a:highlight>
                  <a:srgbClr val="FFFFFF"/>
                </a:highlight>
                <a:latin typeface="Arial"/>
                <a:ea typeface="Arial"/>
                <a:cs typeface="Arial"/>
                <a:sym typeface="Arial"/>
              </a:rPr>
              <a:t>before</a:t>
            </a:r>
            <a:r>
              <a:rPr lang="en" sz="2400">
                <a:solidFill>
                  <a:srgbClr val="1A1C1E"/>
                </a:solidFill>
                <a:highlight>
                  <a:srgbClr val="FFFFFF"/>
                </a:highlight>
                <a:latin typeface="Arial"/>
                <a:ea typeface="Arial"/>
                <a:cs typeface="Arial"/>
                <a:sym typeface="Arial"/>
              </a:rPr>
              <a:t> our first amplifier.</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Signal Level:</a:t>
            </a:r>
            <a:r>
              <a:rPr lang="en" sz="2400">
                <a:solidFill>
                  <a:srgbClr val="1A1C1E"/>
                </a:solidFill>
                <a:highlight>
                  <a:srgbClr val="FFFFFF"/>
                </a:highlight>
                <a:latin typeface="Arial"/>
                <a:ea typeface="Arial"/>
                <a:cs typeface="Arial"/>
                <a:sym typeface="Arial"/>
              </a:rPr>
              <a:t> -103 dBm - 1.0 dB = </a:t>
            </a:r>
            <a:r>
              <a:rPr b="1" lang="en" sz="2400">
                <a:solidFill>
                  <a:srgbClr val="1A1C1E"/>
                </a:solidFill>
                <a:highlight>
                  <a:srgbClr val="FFFFFF"/>
                </a:highlight>
                <a:latin typeface="Arial"/>
                <a:ea typeface="Arial"/>
                <a:cs typeface="Arial"/>
                <a:sym typeface="Arial"/>
              </a:rPr>
              <a:t>-104 dBm</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CRITICAL POINT:</a:t>
            </a:r>
            <a:r>
              <a:rPr lang="en" sz="2400">
                <a:solidFill>
                  <a:srgbClr val="1A1C1E"/>
                </a:solidFill>
                <a:highlight>
                  <a:srgbClr val="FFFFFF"/>
                </a:highlight>
                <a:latin typeface="Arial"/>
                <a:ea typeface="Arial"/>
                <a:cs typeface="Arial"/>
                <a:sym typeface="Arial"/>
              </a:rPr>
              <a:t> The Signal-to-Noise Ratio is now permanently set. The signal is at its absolute weakest point relative to the background thermal noise.</a:t>
            </a:r>
            <a:endParaRPr sz="2400">
              <a:solidFill>
                <a:srgbClr val="1A1C1E"/>
              </a:solidFill>
              <a:highlight>
                <a:srgbClr val="FFFFFF"/>
              </a:highlight>
              <a:latin typeface="Courier New"/>
              <a:ea typeface="Courier New"/>
              <a:cs typeface="Courier New"/>
              <a:sym typeface="Courier New"/>
            </a:endParaRPr>
          </a:p>
        </p:txBody>
      </p:sp>
      <p:sp>
        <p:nvSpPr>
          <p:cNvPr id="292" name="Google Shape;292;p40"/>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293" name="Google Shape;293;p40"/>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Tracing the Signal: A Journey of Loss and Gain</a:t>
            </a:r>
            <a:endParaRPr/>
          </a:p>
        </p:txBody>
      </p:sp>
      <p:pic>
        <p:nvPicPr>
          <p:cNvPr id="294" name="Google Shape;294;p40" title="Screenshot_20250715_083301_Drive.jpg"/>
          <p:cNvPicPr preferRelativeResize="0"/>
          <p:nvPr/>
        </p:nvPicPr>
        <p:blipFill rotWithShape="1">
          <a:blip r:embed="rId3">
            <a:alphaModFix/>
          </a:blip>
          <a:srcRect b="0" l="0" r="52487" t="0"/>
          <a:stretch/>
        </p:blipFill>
        <p:spPr>
          <a:xfrm>
            <a:off x="13558248" y="3114926"/>
            <a:ext cx="10825754" cy="787681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1"/>
          <p:cNvSpPr txBox="1"/>
          <p:nvPr>
            <p:ph idx="1" type="body"/>
          </p:nvPr>
        </p:nvSpPr>
        <p:spPr>
          <a:xfrm>
            <a:off x="831200" y="2332275"/>
            <a:ext cx="12559500" cy="10847100"/>
          </a:xfrm>
          <a:prstGeom prst="rect">
            <a:avLst/>
          </a:prstGeom>
        </p:spPr>
        <p:txBody>
          <a:bodyPr anchorCtr="0" anchor="ctr" bIns="243800" lIns="243800" spcFirstLastPara="1" rIns="243800" wrap="square" tIns="243800">
            <a:noAutofit/>
          </a:bodyPr>
          <a:lstStyle/>
          <a:p>
            <a:pPr indent="0" lvl="0" marL="0" rtl="0" algn="l">
              <a:spcBef>
                <a:spcPts val="0"/>
              </a:spcBef>
              <a:spcAft>
                <a:spcPts val="0"/>
              </a:spcAft>
              <a:buNone/>
            </a:pPr>
            <a:r>
              <a:rPr lang="en" sz="2400">
                <a:solidFill>
                  <a:srgbClr val="1A1C1E"/>
                </a:solidFill>
                <a:highlight>
                  <a:srgbClr val="FFFFFF"/>
                </a:highlight>
                <a:latin typeface="Arial"/>
                <a:ea typeface="Arial"/>
                <a:cs typeface="Arial"/>
                <a:sym typeface="Arial"/>
              </a:rPr>
              <a:t>Let's assume the raw signal power captured by the antenna is </a:t>
            </a:r>
            <a:r>
              <a:rPr b="1" lang="en" sz="2400">
                <a:solidFill>
                  <a:srgbClr val="1A1C1E"/>
                </a:solidFill>
                <a:highlight>
                  <a:srgbClr val="FFFFFF"/>
                </a:highlight>
                <a:latin typeface="Arial"/>
                <a:ea typeface="Arial"/>
                <a:cs typeface="Arial"/>
                <a:sym typeface="Arial"/>
              </a:rPr>
              <a:t>-110 dBm</a:t>
            </a:r>
            <a:r>
              <a:rPr lang="en" sz="2400">
                <a:solidFill>
                  <a:srgbClr val="1A1C1E"/>
                </a:solidFill>
                <a:highlight>
                  <a:srgbClr val="FFFFFF"/>
                </a:highlight>
                <a:latin typeface="Arial"/>
                <a:ea typeface="Arial"/>
                <a:cs typeface="Arial"/>
                <a:sym typeface="Arial"/>
              </a:rPr>
              <a:t> (a common power level for a faint radio source).</a:t>
            </a:r>
            <a:endParaRPr sz="2400">
              <a:solidFill>
                <a:srgbClr val="1A1C1E"/>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2400">
                <a:solidFill>
                  <a:srgbClr val="1A1C1E"/>
                </a:solidFill>
                <a:highlight>
                  <a:srgbClr val="FFFFFF"/>
                </a:highlight>
                <a:latin typeface="Courier New"/>
                <a:ea typeface="Courier New"/>
                <a:cs typeface="Courier New"/>
                <a:sym typeface="Courier New"/>
              </a:rPr>
              <a:t>[Antenna]</a:t>
            </a:r>
            <a:r>
              <a:rPr lang="en" sz="2400">
                <a:solidFill>
                  <a:srgbClr val="1A1C1E"/>
                </a:solidFill>
                <a:highlight>
                  <a:srgbClr val="FFFFFF"/>
                </a:highlight>
                <a:latin typeface="Arial"/>
                <a:ea typeface="Arial"/>
                <a:cs typeface="Arial"/>
                <a:sym typeface="Arial"/>
              </a:rPr>
              <a:t> -&gt; </a:t>
            </a:r>
            <a:r>
              <a:rPr lang="en" sz="2400">
                <a:solidFill>
                  <a:srgbClr val="1A1C1E"/>
                </a:solidFill>
                <a:highlight>
                  <a:srgbClr val="FFFFFF"/>
                </a:highlight>
                <a:latin typeface="Courier New"/>
                <a:ea typeface="Courier New"/>
                <a:cs typeface="Courier New"/>
                <a:sym typeface="Courier New"/>
              </a:rPr>
              <a:t>[Filter]</a:t>
            </a:r>
            <a:r>
              <a:rPr lang="en" sz="2400">
                <a:solidFill>
                  <a:srgbClr val="1A1C1E"/>
                </a:solidFill>
                <a:highlight>
                  <a:srgbClr val="FFFFFF"/>
                </a:highlight>
                <a:latin typeface="Arial"/>
                <a:ea typeface="Arial"/>
                <a:cs typeface="Arial"/>
                <a:sym typeface="Arial"/>
              </a:rPr>
              <a:t> -&gt; </a:t>
            </a:r>
            <a:r>
              <a:rPr lang="en" sz="2400">
                <a:solidFill>
                  <a:srgbClr val="1A1C1E"/>
                </a:solidFill>
                <a:highlight>
                  <a:srgbClr val="FFFFFF"/>
                </a:highlight>
                <a:latin typeface="Courier New"/>
                <a:ea typeface="Courier New"/>
                <a:cs typeface="Courier New"/>
                <a:sym typeface="Courier New"/>
              </a:rPr>
              <a:t>[LNA]</a:t>
            </a:r>
            <a:r>
              <a:rPr lang="en" sz="2400">
                <a:solidFill>
                  <a:srgbClr val="1A1C1E"/>
                </a:solidFill>
                <a:highlight>
                  <a:srgbClr val="FFFFFF"/>
                </a:highlight>
                <a:latin typeface="Arial"/>
                <a:ea typeface="Arial"/>
                <a:cs typeface="Arial"/>
                <a:sym typeface="Arial"/>
              </a:rPr>
              <a:t> -&gt; </a:t>
            </a:r>
            <a:r>
              <a:rPr lang="en" sz="2400">
                <a:solidFill>
                  <a:srgbClr val="1A1C1E"/>
                </a:solidFill>
                <a:highlight>
                  <a:srgbClr val="FFFFFF"/>
                </a:highlight>
                <a:latin typeface="Courier New"/>
                <a:ea typeface="Courier New"/>
                <a:cs typeface="Courier New"/>
                <a:sym typeface="Courier New"/>
              </a:rPr>
              <a:t>[Long Cable]</a:t>
            </a:r>
            <a:endParaRPr sz="2400">
              <a:solidFill>
                <a:srgbClr val="1A1C1E"/>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2400">
              <a:solidFill>
                <a:srgbClr val="1A1C1E"/>
              </a:solidFill>
              <a:highlight>
                <a:srgbClr val="FFFFFF"/>
              </a:highlight>
              <a:latin typeface="Courier New"/>
              <a:ea typeface="Courier New"/>
              <a:cs typeface="Courier New"/>
              <a:sym typeface="Courier New"/>
            </a:endParaRPr>
          </a:p>
          <a:p>
            <a:pPr indent="0" lvl="0" marL="0" rtl="0" algn="l">
              <a:lnSpc>
                <a:spcPct val="142857"/>
              </a:lnSpc>
              <a:spcBef>
                <a:spcPts val="1100"/>
              </a:spcBef>
              <a:spcAft>
                <a:spcPts val="0"/>
              </a:spcAft>
              <a:buNone/>
            </a:pPr>
            <a:r>
              <a:rPr b="1" lang="en" sz="2400">
                <a:solidFill>
                  <a:srgbClr val="1A1C1E"/>
                </a:solidFill>
                <a:highlight>
                  <a:srgbClr val="FFFFFF"/>
                </a:highlight>
                <a:latin typeface="Arial"/>
                <a:ea typeface="Arial"/>
                <a:cs typeface="Arial"/>
                <a:sym typeface="Arial"/>
              </a:rPr>
              <a:t>3. </a:t>
            </a:r>
            <a:r>
              <a:rPr b="1" lang="en" sz="2400">
                <a:solidFill>
                  <a:srgbClr val="1A1C1E"/>
                </a:solidFill>
                <a:highlight>
                  <a:srgbClr val="FFFFFF"/>
                </a:highlight>
                <a:latin typeface="Arial"/>
                <a:ea typeface="Arial"/>
                <a:cs typeface="Arial"/>
                <a:sym typeface="Arial"/>
              </a:rPr>
              <a:t>The First-Stage LNA (ULN amp)</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110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Function:</a:t>
            </a:r>
            <a:r>
              <a:rPr lang="en" sz="2400">
                <a:solidFill>
                  <a:srgbClr val="1A1C1E"/>
                </a:solidFill>
                <a:highlight>
                  <a:srgbClr val="FFFFFF"/>
                </a:highlight>
                <a:latin typeface="Arial"/>
                <a:ea typeface="Arial"/>
                <a:cs typeface="Arial"/>
                <a:sym typeface="Arial"/>
              </a:rPr>
              <a:t> This is our first and most important source of </a:t>
            </a:r>
            <a:r>
              <a:rPr b="1" lang="en" sz="2400">
                <a:solidFill>
                  <a:srgbClr val="1A1C1E"/>
                </a:solidFill>
                <a:highlight>
                  <a:srgbClr val="FFFFFF"/>
                </a:highlight>
                <a:latin typeface="Arial"/>
                <a:ea typeface="Arial"/>
                <a:cs typeface="Arial"/>
                <a:sym typeface="Arial"/>
              </a:rPr>
              <a:t>gain</a:t>
            </a:r>
            <a:r>
              <a:rPr lang="en" sz="2400">
                <a:solidFill>
                  <a:srgbClr val="1A1C1E"/>
                </a:solidFill>
                <a:highlight>
                  <a:srgbClr val="FFFFFF"/>
                </a:highlight>
                <a:latin typeface="Arial"/>
                <a:ea typeface="Arial"/>
                <a:cs typeface="Arial"/>
                <a:sym typeface="Arial"/>
              </a:rPr>
              <a:t>. Its job is to dramatically strengthen the signal.</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Effect:</a:t>
            </a:r>
            <a:r>
              <a:rPr lang="en" sz="2400">
                <a:solidFill>
                  <a:srgbClr val="1A1C1E"/>
                </a:solidFill>
                <a:highlight>
                  <a:srgbClr val="FFFFFF"/>
                </a:highlight>
                <a:latin typeface="Arial"/>
                <a:ea typeface="Arial"/>
                <a:cs typeface="Arial"/>
                <a:sym typeface="Arial"/>
              </a:rPr>
              <a:t> A typical </a:t>
            </a:r>
            <a:r>
              <a:rPr b="1" lang="en" sz="2400">
                <a:solidFill>
                  <a:srgbClr val="1A1C1E"/>
                </a:solidFill>
                <a:highlight>
                  <a:srgbClr val="FFFFFF"/>
                </a:highlight>
                <a:latin typeface="Arial"/>
                <a:ea typeface="Arial"/>
                <a:cs typeface="Arial"/>
                <a:sym typeface="Arial"/>
              </a:rPr>
              <a:t>Mini-Circuits ZX60-P33ULN+</a:t>
            </a:r>
            <a:r>
              <a:rPr lang="en" sz="2400">
                <a:solidFill>
                  <a:srgbClr val="1A1C1E"/>
                </a:solidFill>
                <a:highlight>
                  <a:srgbClr val="FFFFFF"/>
                </a:highlight>
                <a:latin typeface="Arial"/>
                <a:ea typeface="Arial"/>
                <a:cs typeface="Arial"/>
                <a:sym typeface="Arial"/>
              </a:rPr>
              <a:t> has a gain of about </a:t>
            </a:r>
            <a:r>
              <a:rPr b="1" lang="en" sz="2400">
                <a:solidFill>
                  <a:srgbClr val="1A1C1E"/>
                </a:solidFill>
                <a:highlight>
                  <a:srgbClr val="FFFFFF"/>
                </a:highlight>
                <a:latin typeface="Arial"/>
                <a:ea typeface="Arial"/>
                <a:cs typeface="Arial"/>
                <a:sym typeface="Arial"/>
              </a:rPr>
              <a:t>+20 dB</a:t>
            </a:r>
            <a:r>
              <a:rPr lang="en" sz="2400">
                <a:solidFill>
                  <a:srgbClr val="1A1C1E"/>
                </a:solidFill>
                <a:highlight>
                  <a:srgbClr val="FFFFFF"/>
                </a:highlight>
                <a:latin typeface="Arial"/>
                <a:ea typeface="Arial"/>
                <a:cs typeface="Arial"/>
                <a:sym typeface="Arial"/>
              </a:rPr>
              <a:t>.</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b="1" lang="en" sz="2400">
                <a:solidFill>
                  <a:srgbClr val="1A1C1E"/>
                </a:solidFill>
                <a:highlight>
                  <a:srgbClr val="FFFFFF"/>
                </a:highlight>
                <a:latin typeface="Arial"/>
                <a:ea typeface="Arial"/>
                <a:cs typeface="Arial"/>
                <a:sym typeface="Arial"/>
              </a:rPr>
              <a:t>Signal Level:</a:t>
            </a:r>
            <a:r>
              <a:rPr lang="en" sz="2400">
                <a:solidFill>
                  <a:srgbClr val="1A1C1E"/>
                </a:solidFill>
                <a:highlight>
                  <a:srgbClr val="FFFFFF"/>
                </a:highlight>
                <a:latin typeface="Arial"/>
                <a:ea typeface="Arial"/>
                <a:cs typeface="Arial"/>
                <a:sym typeface="Arial"/>
              </a:rPr>
              <a:t> -104 dBm + 20 dB = </a:t>
            </a:r>
            <a:r>
              <a:rPr b="1" lang="en" sz="2400">
                <a:solidFill>
                  <a:srgbClr val="1A1C1E"/>
                </a:solidFill>
                <a:highlight>
                  <a:srgbClr val="FFFFFF"/>
                </a:highlight>
                <a:latin typeface="Arial"/>
                <a:ea typeface="Arial"/>
                <a:cs typeface="Arial"/>
                <a:sym typeface="Arial"/>
              </a:rPr>
              <a:t>-84 dBm</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The signal is now much stronger, but the LNA has also added its own tiny bit of noise (its Noise Figure).</a:t>
            </a:r>
            <a:endParaRPr sz="2400">
              <a:solidFill>
                <a:srgbClr val="1A1C1E"/>
              </a:solidFill>
              <a:highlight>
                <a:srgbClr val="FFFFFF"/>
              </a:highlight>
              <a:latin typeface="Arial"/>
              <a:ea typeface="Arial"/>
              <a:cs typeface="Arial"/>
              <a:sym typeface="Arial"/>
            </a:endParaRPr>
          </a:p>
          <a:p>
            <a:pPr indent="0" lvl="0" marL="0" rtl="0" algn="l">
              <a:lnSpc>
                <a:spcPct val="142857"/>
              </a:lnSpc>
              <a:spcBef>
                <a:spcPts val="1100"/>
              </a:spcBef>
              <a:spcAft>
                <a:spcPts val="0"/>
              </a:spcAft>
              <a:buNone/>
            </a:pPr>
            <a:r>
              <a:rPr b="1" lang="en" sz="2400">
                <a:solidFill>
                  <a:srgbClr val="1A1C1E"/>
                </a:solidFill>
                <a:highlight>
                  <a:srgbClr val="FFFFFF"/>
                </a:highlight>
                <a:latin typeface="Arial"/>
                <a:ea typeface="Arial"/>
                <a:cs typeface="Arial"/>
                <a:sym typeface="Arial"/>
              </a:rPr>
              <a:t>4. </a:t>
            </a:r>
            <a:r>
              <a:rPr b="1" lang="en" sz="2400">
                <a:solidFill>
                  <a:srgbClr val="1A1C1E"/>
                </a:solidFill>
                <a:highlight>
                  <a:srgbClr val="FFFFFF"/>
                </a:highlight>
                <a:latin typeface="Arial"/>
                <a:ea typeface="Arial"/>
                <a:cs typeface="Arial"/>
                <a:sym typeface="Arial"/>
              </a:rPr>
              <a:t>The Long LMR-400 Cable (15 meters)</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110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Function: This is a major source of loss.</a:t>
            </a:r>
            <a:endParaRPr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Effect: As we calculated, a 15m run of LMR-400 at these frequencies has a loss of about </a:t>
            </a:r>
            <a:r>
              <a:rPr b="1" lang="en" sz="2400">
                <a:solidFill>
                  <a:srgbClr val="1A1C1E"/>
                </a:solidFill>
                <a:highlight>
                  <a:srgbClr val="FFFFFF"/>
                </a:highlight>
                <a:latin typeface="Arial"/>
                <a:ea typeface="Arial"/>
                <a:cs typeface="Arial"/>
                <a:sym typeface="Arial"/>
              </a:rPr>
              <a:t>-2.1 dB.</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Signal Level: -84 dBm - 2.1 dB = </a:t>
            </a:r>
            <a:r>
              <a:rPr b="1" lang="en" sz="2400">
                <a:solidFill>
                  <a:srgbClr val="1A1C1E"/>
                </a:solidFill>
                <a:highlight>
                  <a:srgbClr val="FFFFFF"/>
                </a:highlight>
                <a:latin typeface="Arial"/>
                <a:ea typeface="Arial"/>
                <a:cs typeface="Arial"/>
                <a:sym typeface="Arial"/>
              </a:rPr>
              <a:t>-86.1 dBm</a:t>
            </a:r>
            <a:endParaRPr b="1" sz="2400">
              <a:solidFill>
                <a:srgbClr val="1A1C1E"/>
              </a:solidFill>
              <a:highlight>
                <a:srgbClr val="FFFFFF"/>
              </a:highlight>
              <a:latin typeface="Arial"/>
              <a:ea typeface="Arial"/>
              <a:cs typeface="Arial"/>
              <a:sym typeface="Arial"/>
            </a:endParaRPr>
          </a:p>
          <a:p>
            <a:pPr indent="-381000" lvl="1" marL="914400" rtl="0" algn="l">
              <a:lnSpc>
                <a:spcPct val="142857"/>
              </a:lnSpc>
              <a:spcBef>
                <a:spcPts val="0"/>
              </a:spcBef>
              <a:spcAft>
                <a:spcPts val="0"/>
              </a:spcAft>
              <a:buClr>
                <a:srgbClr val="1A1C1E"/>
              </a:buClr>
              <a:buSzPts val="2400"/>
              <a:buFont typeface="Arial"/>
              <a:buChar char="○"/>
            </a:pPr>
            <a:r>
              <a:rPr lang="en" sz="2400">
                <a:solidFill>
                  <a:srgbClr val="1A1C1E"/>
                </a:solidFill>
                <a:highlight>
                  <a:srgbClr val="FFFFFF"/>
                </a:highlight>
                <a:latin typeface="Arial"/>
                <a:ea typeface="Arial"/>
                <a:cs typeface="Arial"/>
                <a:sym typeface="Arial"/>
              </a:rPr>
              <a:t>This is why we amplify before the long cable. If we didn't, the </a:t>
            </a:r>
            <a:r>
              <a:rPr b="1" lang="en" sz="2400">
                <a:solidFill>
                  <a:srgbClr val="1A1C1E"/>
                </a:solidFill>
                <a:highlight>
                  <a:srgbClr val="FFFFFF"/>
                </a:highlight>
                <a:latin typeface="Arial"/>
                <a:ea typeface="Arial"/>
                <a:cs typeface="Arial"/>
                <a:sym typeface="Arial"/>
              </a:rPr>
              <a:t>-104 dBm </a:t>
            </a:r>
            <a:r>
              <a:rPr lang="en" sz="2400">
                <a:solidFill>
                  <a:srgbClr val="1A1C1E"/>
                </a:solidFill>
                <a:highlight>
                  <a:srgbClr val="FFFFFF"/>
                </a:highlight>
                <a:latin typeface="Arial"/>
                <a:ea typeface="Arial"/>
                <a:cs typeface="Arial"/>
                <a:sym typeface="Arial"/>
              </a:rPr>
              <a:t>signal would drop to </a:t>
            </a:r>
            <a:r>
              <a:rPr b="1" lang="en" sz="2400">
                <a:solidFill>
                  <a:srgbClr val="1A1C1E"/>
                </a:solidFill>
                <a:highlight>
                  <a:srgbClr val="FFFFFF"/>
                </a:highlight>
                <a:latin typeface="Arial"/>
                <a:ea typeface="Arial"/>
                <a:cs typeface="Arial"/>
                <a:sym typeface="Arial"/>
              </a:rPr>
              <a:t>-106.1 dBm</a:t>
            </a:r>
            <a:r>
              <a:rPr lang="en" sz="2400">
                <a:solidFill>
                  <a:srgbClr val="1A1C1E"/>
                </a:solidFill>
                <a:highlight>
                  <a:srgbClr val="FFFFFF"/>
                </a:highlight>
                <a:latin typeface="Arial"/>
                <a:ea typeface="Arial"/>
                <a:cs typeface="Arial"/>
                <a:sym typeface="Arial"/>
              </a:rPr>
              <a:t>, making it much harder to distinguish from noise later on.</a:t>
            </a:r>
            <a:endParaRPr sz="2400">
              <a:solidFill>
                <a:srgbClr val="1A1C1E"/>
              </a:solidFill>
              <a:highlight>
                <a:srgbClr val="FFFFFF"/>
              </a:highlight>
              <a:latin typeface="Arial"/>
              <a:ea typeface="Arial"/>
              <a:cs typeface="Arial"/>
              <a:sym typeface="Arial"/>
            </a:endParaRPr>
          </a:p>
          <a:p>
            <a:pPr indent="0" lvl="0" marL="0" rtl="0" algn="l">
              <a:spcBef>
                <a:spcPts val="1100"/>
              </a:spcBef>
              <a:spcAft>
                <a:spcPts val="0"/>
              </a:spcAft>
              <a:buNone/>
            </a:pPr>
            <a:r>
              <a:t/>
            </a:r>
            <a:endParaRPr sz="2400">
              <a:solidFill>
                <a:srgbClr val="1A1C1E"/>
              </a:solidFill>
              <a:highlight>
                <a:srgbClr val="FFFFFF"/>
              </a:highlight>
              <a:latin typeface="Courier New"/>
              <a:ea typeface="Courier New"/>
              <a:cs typeface="Courier New"/>
              <a:sym typeface="Courier New"/>
            </a:endParaRPr>
          </a:p>
        </p:txBody>
      </p:sp>
      <p:sp>
        <p:nvSpPr>
          <p:cNvPr id="300" name="Google Shape;300;p41"/>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1"/>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Tracing the Signal: A Journey of Loss and Gain</a:t>
            </a:r>
            <a:endParaRPr/>
          </a:p>
        </p:txBody>
      </p:sp>
      <p:pic>
        <p:nvPicPr>
          <p:cNvPr id="302" name="Google Shape;302;p41" title="Screenshot_20250715_083301_Drive.jpg"/>
          <p:cNvPicPr preferRelativeResize="0"/>
          <p:nvPr/>
        </p:nvPicPr>
        <p:blipFill rotWithShape="1">
          <a:blip r:embed="rId3">
            <a:alphaModFix/>
          </a:blip>
          <a:srcRect b="0" l="0" r="52487" t="0"/>
          <a:stretch/>
        </p:blipFill>
        <p:spPr>
          <a:xfrm>
            <a:off x="13558248" y="3114926"/>
            <a:ext cx="10825754" cy="787681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idx="1" type="body"/>
          </p:nvPr>
        </p:nvSpPr>
        <p:spPr>
          <a:xfrm>
            <a:off x="831200" y="10179375"/>
            <a:ext cx="12559500" cy="3000000"/>
          </a:xfrm>
          <a:prstGeom prst="rect">
            <a:avLst/>
          </a:prstGeom>
        </p:spPr>
        <p:txBody>
          <a:bodyPr anchorCtr="0" anchor="ctr" bIns="243800" lIns="243800" spcFirstLastPara="1" rIns="243800" wrap="square" tIns="243800">
            <a:noAutofit/>
          </a:bodyPr>
          <a:lstStyle/>
          <a:p>
            <a:pPr indent="0" lvl="0" marL="0" rtl="0" algn="l">
              <a:spcBef>
                <a:spcPts val="0"/>
              </a:spcBef>
              <a:spcAft>
                <a:spcPts val="0"/>
              </a:spcAft>
              <a:buNone/>
            </a:pPr>
            <a:r>
              <a:t/>
            </a:r>
            <a:endParaRPr sz="2400">
              <a:solidFill>
                <a:srgbClr val="1A1C1E"/>
              </a:solidFill>
              <a:highlight>
                <a:srgbClr val="FFFFFF"/>
              </a:highlight>
              <a:latin typeface="Courier New"/>
              <a:ea typeface="Courier New"/>
              <a:cs typeface="Courier New"/>
              <a:sym typeface="Courier New"/>
            </a:endParaRPr>
          </a:p>
        </p:txBody>
      </p:sp>
      <p:sp>
        <p:nvSpPr>
          <p:cNvPr id="308" name="Google Shape;308;p42"/>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2"/>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"Signal Budget" Summary</a:t>
            </a:r>
            <a:endParaRPr/>
          </a:p>
        </p:txBody>
      </p:sp>
      <p:pic>
        <p:nvPicPr>
          <p:cNvPr id="310" name="Google Shape;310;p42" title="Screenshot_20250715_083301_Drive.jpg"/>
          <p:cNvPicPr preferRelativeResize="0"/>
          <p:nvPr/>
        </p:nvPicPr>
        <p:blipFill rotWithShape="1">
          <a:blip r:embed="rId3">
            <a:alphaModFix/>
          </a:blip>
          <a:srcRect b="0" l="0" r="52487" t="0"/>
          <a:stretch/>
        </p:blipFill>
        <p:spPr>
          <a:xfrm>
            <a:off x="13390698" y="2356176"/>
            <a:ext cx="10825754" cy="7876813"/>
          </a:xfrm>
          <a:prstGeom prst="rect">
            <a:avLst/>
          </a:prstGeom>
          <a:noFill/>
          <a:ln>
            <a:noFill/>
          </a:ln>
        </p:spPr>
      </p:pic>
      <p:graphicFrame>
        <p:nvGraphicFramePr>
          <p:cNvPr id="311" name="Google Shape;311;p42"/>
          <p:cNvGraphicFramePr/>
          <p:nvPr/>
        </p:nvGraphicFramePr>
        <p:xfrm>
          <a:off x="998725" y="2356175"/>
          <a:ext cx="3000000" cy="3000000"/>
        </p:xfrm>
        <a:graphic>
          <a:graphicData uri="http://schemas.openxmlformats.org/drawingml/2006/table">
            <a:tbl>
              <a:tblPr>
                <a:noFill/>
                <a:tableStyleId>{805F637F-4CF5-426A-9FC3-FA0B1D980CB4}</a:tableStyleId>
              </a:tblPr>
              <a:tblGrid>
                <a:gridCol w="2876275"/>
                <a:gridCol w="1815000"/>
                <a:gridCol w="4091900"/>
              </a:tblGrid>
              <a:tr h="333375">
                <a:tc>
                  <a:txBody>
                    <a:bodyPr/>
                    <a:lstStyle/>
                    <a:p>
                      <a:pPr indent="0" lvl="0" marL="0" rtl="0" algn="l">
                        <a:lnSpc>
                          <a:spcPct val="142857"/>
                        </a:lnSpc>
                        <a:spcBef>
                          <a:spcPts val="0"/>
                        </a:spcBef>
                        <a:spcAft>
                          <a:spcPts val="1200"/>
                        </a:spcAft>
                        <a:buNone/>
                      </a:pPr>
                      <a:r>
                        <a:rPr b="1" lang="en" sz="2400">
                          <a:solidFill>
                            <a:srgbClr val="1A1C1E"/>
                          </a:solidFill>
                        </a:rPr>
                        <a:t>Component</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c>
                  <a:txBody>
                    <a:bodyPr/>
                    <a:lstStyle/>
                    <a:p>
                      <a:pPr indent="0" lvl="0" marL="0" rtl="0" algn="l">
                        <a:lnSpc>
                          <a:spcPct val="142857"/>
                        </a:lnSpc>
                        <a:spcBef>
                          <a:spcPts val="0"/>
                        </a:spcBef>
                        <a:spcAft>
                          <a:spcPts val="1200"/>
                        </a:spcAft>
                        <a:buNone/>
                      </a:pPr>
                      <a:r>
                        <a:rPr b="1" lang="en" sz="2400">
                          <a:solidFill>
                            <a:srgbClr val="1A1C1E"/>
                          </a:solidFill>
                        </a:rPr>
                        <a:t>Gain/Loss (dB)</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c>
                  <a:txBody>
                    <a:bodyPr/>
                    <a:lstStyle/>
                    <a:p>
                      <a:pPr indent="0" lvl="0" marL="0" rtl="0" algn="l">
                        <a:lnSpc>
                          <a:spcPct val="142857"/>
                        </a:lnSpc>
                        <a:spcBef>
                          <a:spcPts val="0"/>
                        </a:spcBef>
                        <a:spcAft>
                          <a:spcPts val="1200"/>
                        </a:spcAft>
                        <a:buNone/>
                      </a:pPr>
                      <a:r>
                        <a:rPr b="1" lang="en" sz="2400">
                          <a:solidFill>
                            <a:srgbClr val="1A1C1E"/>
                          </a:solidFill>
                        </a:rPr>
                        <a:t>Cumulative Signal Level (dBm)</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r>
              <a:tr h="333375">
                <a:tc>
                  <a:txBody>
                    <a:bodyPr/>
                    <a:lstStyle/>
                    <a:p>
                      <a:pPr indent="0" lvl="0" marL="0" rtl="0" algn="l">
                        <a:lnSpc>
                          <a:spcPct val="142857"/>
                        </a:lnSpc>
                        <a:spcBef>
                          <a:spcPts val="0"/>
                        </a:spcBef>
                        <a:spcAft>
                          <a:spcPts val="1200"/>
                        </a:spcAft>
                        <a:buNone/>
                      </a:pPr>
                      <a:r>
                        <a:rPr b="1" lang="en" sz="2400">
                          <a:solidFill>
                            <a:srgbClr val="1A1C1E"/>
                          </a:solidFill>
                        </a:rPr>
                        <a:t>Initial Signal</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-110.0</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1200"/>
                        </a:spcAft>
                        <a:buNone/>
                      </a:pPr>
                      <a:r>
                        <a:rPr lang="en" sz="2400">
                          <a:solidFill>
                            <a:srgbClr val="1A1C1E"/>
                          </a:solidFill>
                        </a:rPr>
                        <a:t>Antenna Gain</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+7.0</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-103.0</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1200"/>
                        </a:spcAft>
                        <a:buNone/>
                      </a:pPr>
                      <a:r>
                        <a:rPr lang="en" sz="2400">
                          <a:solidFill>
                            <a:srgbClr val="1A1C1E"/>
                          </a:solidFill>
                        </a:rPr>
                        <a:t>Filter/Jumper Loss</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-1.0</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-104.0 (SNR is now fixed)</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1200"/>
                        </a:spcAft>
                        <a:buNone/>
                      </a:pPr>
                      <a:r>
                        <a:rPr b="1" lang="en" sz="2400">
                          <a:solidFill>
                            <a:srgbClr val="1A1C1E"/>
                          </a:solidFill>
                        </a:rPr>
                        <a:t>LNA Gain</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b="1" lang="en" sz="2400">
                          <a:solidFill>
                            <a:srgbClr val="1A1C1E"/>
                          </a:solidFill>
                        </a:rPr>
                        <a:t>+20.0</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-84.0</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1200"/>
                        </a:spcAft>
                        <a:buNone/>
                      </a:pPr>
                      <a:r>
                        <a:rPr lang="en" sz="2400">
                          <a:solidFill>
                            <a:srgbClr val="1A1C1E"/>
                          </a:solidFill>
                        </a:rPr>
                        <a:t>Long Cable Loss</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-2.1</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-86.1</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1200"/>
                        </a:spcAft>
                        <a:buNone/>
                      </a:pPr>
                      <a:r>
                        <a:rPr lang="en" sz="2400">
                          <a:solidFill>
                            <a:srgbClr val="1A1C1E"/>
                          </a:solidFill>
                        </a:rPr>
                        <a:t>Bias Tee/Jumper Loss</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-0.5</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-86.6</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42857"/>
                        </a:lnSpc>
                        <a:spcBef>
                          <a:spcPts val="0"/>
                        </a:spcBef>
                        <a:spcAft>
                          <a:spcPts val="1200"/>
                        </a:spcAft>
                        <a:buNone/>
                      </a:pPr>
                      <a:r>
                        <a:rPr b="1" lang="en" sz="2400">
                          <a:solidFill>
                            <a:srgbClr val="1A1C1E"/>
                          </a:solidFill>
                        </a:rPr>
                        <a:t>Final Level at SDR</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lang="en" sz="2400">
                          <a:solidFill>
                            <a:srgbClr val="1A1C1E"/>
                          </a:solidFill>
                        </a:rPr>
                        <a:t>---</a:t>
                      </a:r>
                      <a:endParaRPr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1200"/>
                        </a:spcAft>
                        <a:buNone/>
                      </a:pPr>
                      <a:r>
                        <a:rPr b="1" lang="en" sz="2400">
                          <a:solidFill>
                            <a:srgbClr val="1A1C1E"/>
                          </a:solidFill>
                        </a:rPr>
                        <a:t>-86.6</a:t>
                      </a:r>
                      <a:endParaRPr b="1" sz="2400">
                        <a:solidFill>
                          <a:srgbClr val="1A1C1E"/>
                        </a:solidFill>
                      </a:endParaRPr>
                    </a:p>
                  </a:txBody>
                  <a:tcPr marT="57150" marB="57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12" name="Google Shape;312;p42"/>
          <p:cNvSpPr txBox="1"/>
          <p:nvPr/>
        </p:nvSpPr>
        <p:spPr>
          <a:xfrm>
            <a:off x="13962450" y="3267325"/>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42857"/>
              </a:lnSpc>
              <a:spcBef>
                <a:spcPts val="1100"/>
              </a:spcBef>
              <a:spcAft>
                <a:spcPts val="1400"/>
              </a:spcAft>
              <a:buNone/>
            </a:pPr>
            <a:r>
              <a:t/>
            </a:r>
            <a:endParaRPr sz="2400">
              <a:solidFill>
                <a:srgbClr val="1A1C1E"/>
              </a:solidFill>
              <a:highlight>
                <a:srgbClr val="FFFFFF"/>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3"/>
          <p:cNvSpPr txBox="1"/>
          <p:nvPr>
            <p:ph idx="1" type="body"/>
          </p:nvPr>
        </p:nvSpPr>
        <p:spPr>
          <a:xfrm>
            <a:off x="831200" y="3147600"/>
            <a:ext cx="12559500" cy="10031700"/>
          </a:xfrm>
          <a:prstGeom prst="rect">
            <a:avLst/>
          </a:prstGeom>
        </p:spPr>
        <p:txBody>
          <a:bodyPr anchorCtr="0" anchor="ctr" bIns="243800" lIns="243800" spcFirstLastPara="1" rIns="243800" wrap="square" tIns="243800">
            <a:noAutofit/>
          </a:bodyPr>
          <a:lstStyle/>
          <a:p>
            <a:pPr indent="0" lvl="0" marL="0" rtl="0" algn="l">
              <a:lnSpc>
                <a:spcPct val="142857"/>
              </a:lnSpc>
              <a:spcBef>
                <a:spcPts val="1100"/>
              </a:spcBef>
              <a:spcAft>
                <a:spcPts val="0"/>
              </a:spcAft>
              <a:buClr>
                <a:schemeClr val="dk1"/>
              </a:buClr>
              <a:buSzPts val="1100"/>
              <a:buFont typeface="Arial"/>
              <a:buNone/>
            </a:pPr>
            <a:r>
              <a:rPr lang="en" sz="3000">
                <a:solidFill>
                  <a:srgbClr val="1A1C1E"/>
                </a:solidFill>
                <a:highlight>
                  <a:srgbClr val="FFFFFF"/>
                </a:highlight>
                <a:latin typeface="Arial"/>
                <a:ea typeface="Arial"/>
                <a:cs typeface="Arial"/>
                <a:sym typeface="Arial"/>
              </a:rPr>
              <a:t>Now, imagine the professional two-stage system from the BURSTT system.</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1400"/>
              </a:spcBef>
              <a:spcAft>
                <a:spcPts val="0"/>
              </a:spcAft>
              <a:buClr>
                <a:srgbClr val="1A1C1E"/>
              </a:buClr>
              <a:buSzPts val="3000"/>
              <a:buFont typeface="Arial"/>
              <a:buChar char="●"/>
            </a:pPr>
            <a:r>
              <a:rPr lang="en" sz="3000">
                <a:solidFill>
                  <a:srgbClr val="1A1C1E"/>
                </a:solidFill>
                <a:highlight>
                  <a:srgbClr val="FFFFFF"/>
                </a:highlight>
                <a:latin typeface="Arial"/>
                <a:ea typeface="Arial"/>
                <a:cs typeface="Arial"/>
                <a:sym typeface="Arial"/>
              </a:rPr>
              <a:t>The first LNA provides +20 dB of gain.</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lang="en" sz="3000">
                <a:solidFill>
                  <a:srgbClr val="1A1C1E"/>
                </a:solidFill>
                <a:highlight>
                  <a:srgbClr val="FFFFFF"/>
                </a:highlight>
                <a:latin typeface="Arial"/>
                <a:ea typeface="Arial"/>
                <a:cs typeface="Arial"/>
                <a:sym typeface="Arial"/>
              </a:rPr>
              <a:t>The signal suffers the -2.1 dB of cable loss.</a:t>
            </a:r>
            <a:endParaRPr sz="3000">
              <a:solidFill>
                <a:srgbClr val="1A1C1E"/>
              </a:solidFill>
              <a:highlight>
                <a:srgbClr val="FFFFFF"/>
              </a:highlight>
              <a:latin typeface="Arial"/>
              <a:ea typeface="Arial"/>
              <a:cs typeface="Arial"/>
              <a:sym typeface="Arial"/>
            </a:endParaRPr>
          </a:p>
          <a:p>
            <a:pPr indent="-419100" lvl="0" marL="457200" rtl="0" algn="l">
              <a:lnSpc>
                <a:spcPct val="142857"/>
              </a:lnSpc>
              <a:spcBef>
                <a:spcPts val="0"/>
              </a:spcBef>
              <a:spcAft>
                <a:spcPts val="0"/>
              </a:spcAft>
              <a:buClr>
                <a:srgbClr val="1A1C1E"/>
              </a:buClr>
              <a:buSzPts val="3000"/>
              <a:buFont typeface="Arial"/>
              <a:buChar char="●"/>
            </a:pPr>
            <a:r>
              <a:rPr lang="en" sz="3000">
                <a:solidFill>
                  <a:srgbClr val="1A1C1E"/>
                </a:solidFill>
                <a:highlight>
                  <a:srgbClr val="FFFFFF"/>
                </a:highlight>
                <a:latin typeface="Arial"/>
                <a:ea typeface="Arial"/>
                <a:cs typeface="Arial"/>
                <a:sym typeface="Arial"/>
              </a:rPr>
              <a:t>The second LNA (indoors) provides another +30 dB of gain.</a:t>
            </a:r>
            <a:endParaRPr sz="3000">
              <a:solidFill>
                <a:srgbClr val="1A1C1E"/>
              </a:solidFill>
              <a:highlight>
                <a:srgbClr val="FFFFFF"/>
              </a:highlight>
              <a:latin typeface="Arial"/>
              <a:ea typeface="Arial"/>
              <a:cs typeface="Arial"/>
              <a:sym typeface="Arial"/>
            </a:endParaRPr>
          </a:p>
          <a:p>
            <a:pPr indent="0" lvl="0" marL="0" rtl="0" algn="l">
              <a:lnSpc>
                <a:spcPct val="142857"/>
              </a:lnSpc>
              <a:spcBef>
                <a:spcPts val="1100"/>
              </a:spcBef>
              <a:spcAft>
                <a:spcPts val="1400"/>
              </a:spcAft>
              <a:buNone/>
            </a:pPr>
            <a:r>
              <a:rPr lang="en" sz="3000">
                <a:solidFill>
                  <a:srgbClr val="1A1C1E"/>
                </a:solidFill>
                <a:highlight>
                  <a:srgbClr val="FFFFFF"/>
                </a:highlight>
                <a:latin typeface="Arial"/>
                <a:ea typeface="Arial"/>
                <a:cs typeface="Arial"/>
                <a:sym typeface="Arial"/>
              </a:rPr>
              <a:t>The final signal arriving at the SDR would be </a:t>
            </a:r>
            <a:r>
              <a:rPr b="1" lang="en" sz="3000">
                <a:solidFill>
                  <a:srgbClr val="1A1C1E"/>
                </a:solidFill>
                <a:highlight>
                  <a:srgbClr val="FFFFFF"/>
                </a:highlight>
                <a:latin typeface="Arial"/>
                <a:ea typeface="Arial"/>
                <a:cs typeface="Arial"/>
                <a:sym typeface="Arial"/>
              </a:rPr>
              <a:t>-68.6 dBm</a:t>
            </a:r>
            <a:r>
              <a:rPr lang="en" sz="3000">
                <a:solidFill>
                  <a:srgbClr val="1A1C1E"/>
                </a:solidFill>
                <a:highlight>
                  <a:srgbClr val="FFFFFF"/>
                </a:highlight>
                <a:latin typeface="Arial"/>
                <a:ea typeface="Arial"/>
                <a:cs typeface="Arial"/>
                <a:sym typeface="Arial"/>
              </a:rPr>
              <a:t>, which is </a:t>
            </a:r>
            <a:r>
              <a:rPr b="1" lang="en" sz="3000">
                <a:solidFill>
                  <a:srgbClr val="1A1C1E"/>
                </a:solidFill>
                <a:highlight>
                  <a:srgbClr val="FFFFFF"/>
                </a:highlight>
                <a:latin typeface="Arial"/>
                <a:ea typeface="Arial"/>
                <a:cs typeface="Arial"/>
                <a:sym typeface="Arial"/>
              </a:rPr>
              <a:t>100 times more powerful</a:t>
            </a:r>
            <a:r>
              <a:rPr lang="en" sz="3000">
                <a:solidFill>
                  <a:srgbClr val="1A1C1E"/>
                </a:solidFill>
                <a:highlight>
                  <a:srgbClr val="FFFFFF"/>
                </a:highlight>
                <a:latin typeface="Arial"/>
                <a:ea typeface="Arial"/>
                <a:cs typeface="Arial"/>
                <a:sym typeface="Arial"/>
              </a:rPr>
              <a:t> than in the single-stage system. This much stronger signal is easier for the SDR to digitize accurately and is far more resilient to any electronic noise generated inside the NUC computer case.</a:t>
            </a:r>
            <a:endParaRPr sz="3000">
              <a:solidFill>
                <a:srgbClr val="1A1C1E"/>
              </a:solidFill>
              <a:highlight>
                <a:srgbClr val="FFFFFF"/>
              </a:highlight>
              <a:latin typeface="Courier New"/>
              <a:ea typeface="Courier New"/>
              <a:cs typeface="Courier New"/>
              <a:sym typeface="Courier New"/>
            </a:endParaRPr>
          </a:p>
        </p:txBody>
      </p:sp>
      <p:sp>
        <p:nvSpPr>
          <p:cNvPr id="318" name="Google Shape;318;p43"/>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3"/>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Why the Two-Stage Amplification is Better</a:t>
            </a:r>
            <a:endParaRPr/>
          </a:p>
        </p:txBody>
      </p:sp>
      <p:pic>
        <p:nvPicPr>
          <p:cNvPr id="320" name="Google Shape;320;p43" title="Screenshot_20250715_083301_Drive.jpg"/>
          <p:cNvPicPr preferRelativeResize="0"/>
          <p:nvPr/>
        </p:nvPicPr>
        <p:blipFill rotWithShape="1">
          <a:blip r:embed="rId3">
            <a:alphaModFix/>
          </a:blip>
          <a:srcRect b="0" l="0" r="52487" t="0"/>
          <a:stretch/>
        </p:blipFill>
        <p:spPr>
          <a:xfrm>
            <a:off x="13069673" y="3756951"/>
            <a:ext cx="10825754" cy="7876813"/>
          </a:xfrm>
          <a:prstGeom prst="rect">
            <a:avLst/>
          </a:prstGeom>
          <a:noFill/>
          <a:ln>
            <a:noFill/>
          </a:ln>
        </p:spPr>
      </p:pic>
      <p:sp>
        <p:nvSpPr>
          <p:cNvPr id="321" name="Google Shape;321;p43"/>
          <p:cNvSpPr txBox="1"/>
          <p:nvPr/>
        </p:nvSpPr>
        <p:spPr>
          <a:xfrm>
            <a:off x="13962450" y="3267325"/>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42857"/>
              </a:lnSpc>
              <a:spcBef>
                <a:spcPts val="1100"/>
              </a:spcBef>
              <a:spcAft>
                <a:spcPts val="1400"/>
              </a:spcAft>
              <a:buNone/>
            </a:pPr>
            <a:r>
              <a:t/>
            </a:r>
            <a:endParaRPr sz="2400">
              <a:solidFill>
                <a:srgbClr val="1A1C1E"/>
              </a:solidFill>
              <a:highlight>
                <a:srgbClr val="FFFFFF"/>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 type="body"/>
          </p:nvPr>
        </p:nvSpPr>
        <p:spPr>
          <a:xfrm>
            <a:off x="10670925" y="11510947"/>
            <a:ext cx="7488000" cy="19740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None/>
            </a:pPr>
            <a:r>
              <a:rPr lang="en"/>
              <a:t>Image: Hiroto 2024.</a:t>
            </a:r>
            <a:endParaRPr/>
          </a:p>
        </p:txBody>
      </p:sp>
      <p:sp>
        <p:nvSpPr>
          <p:cNvPr id="327" name="Google Shape;327;p44"/>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
        <p:nvSpPr>
          <p:cNvPr id="328" name="Google Shape;328;p44"/>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BURSTT Testbed</a:t>
            </a:r>
            <a:endParaRPr/>
          </a:p>
        </p:txBody>
      </p:sp>
      <p:pic>
        <p:nvPicPr>
          <p:cNvPr id="329" name="Google Shape;329;p44" title="Screenshot_20250716_120419_Drive.jpg"/>
          <p:cNvPicPr preferRelativeResize="0"/>
          <p:nvPr/>
        </p:nvPicPr>
        <p:blipFill>
          <a:blip r:embed="rId3">
            <a:alphaModFix/>
          </a:blip>
          <a:stretch>
            <a:fillRect/>
          </a:stretch>
        </p:blipFill>
        <p:spPr>
          <a:xfrm>
            <a:off x="990125" y="2207758"/>
            <a:ext cx="8486775" cy="11553825"/>
          </a:xfrm>
          <a:prstGeom prst="rect">
            <a:avLst/>
          </a:prstGeom>
          <a:noFill/>
          <a:ln>
            <a:noFill/>
          </a:ln>
        </p:spPr>
      </p:pic>
      <p:pic>
        <p:nvPicPr>
          <p:cNvPr id="330" name="Google Shape;330;p44" title="20250707_165802.jpg"/>
          <p:cNvPicPr preferRelativeResize="0"/>
          <p:nvPr/>
        </p:nvPicPr>
        <p:blipFill>
          <a:blip r:embed="rId4">
            <a:alphaModFix/>
          </a:blip>
          <a:stretch>
            <a:fillRect/>
          </a:stretch>
        </p:blipFill>
        <p:spPr>
          <a:xfrm>
            <a:off x="10989400" y="1131542"/>
            <a:ext cx="12201702" cy="915127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5"/>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Conclusion</a:t>
            </a:r>
            <a:r>
              <a:rPr lang="en"/>
              <a:t> &amp; Project Kick-off</a:t>
            </a:r>
            <a:endParaRPr/>
          </a:p>
        </p:txBody>
      </p:sp>
      <p:sp>
        <p:nvSpPr>
          <p:cNvPr id="336" name="Google Shape;336;p45"/>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pic>
        <p:nvPicPr>
          <p:cNvPr id="337" name="Google Shape;337;p45"/>
          <p:cNvPicPr preferRelativeResize="0"/>
          <p:nvPr/>
        </p:nvPicPr>
        <p:blipFill>
          <a:blip r:embed="rId3">
            <a:alphaModFix/>
          </a:blip>
          <a:stretch>
            <a:fillRect/>
          </a:stretch>
        </p:blipFill>
        <p:spPr>
          <a:xfrm>
            <a:off x="12571375" y="1671425"/>
            <a:ext cx="11604624" cy="5396150"/>
          </a:xfrm>
          <a:prstGeom prst="rect">
            <a:avLst/>
          </a:prstGeom>
          <a:noFill/>
          <a:ln>
            <a:noFill/>
          </a:ln>
        </p:spPr>
      </p:pic>
      <p:graphicFrame>
        <p:nvGraphicFramePr>
          <p:cNvPr id="338" name="Google Shape;338;p45"/>
          <p:cNvGraphicFramePr/>
          <p:nvPr/>
        </p:nvGraphicFramePr>
        <p:xfrm>
          <a:off x="3" y="5766938"/>
          <a:ext cx="3000000" cy="3000000"/>
        </p:xfrm>
        <a:graphic>
          <a:graphicData uri="http://schemas.openxmlformats.org/drawingml/2006/table">
            <a:tbl>
              <a:tblPr>
                <a:noFill/>
                <a:tableStyleId>{805F637F-4CF5-426A-9FC3-FA0B1D980CB4}</a:tableStyleId>
              </a:tblPr>
              <a:tblGrid>
                <a:gridCol w="690250"/>
                <a:gridCol w="1573125"/>
                <a:gridCol w="2136350"/>
                <a:gridCol w="6304125"/>
                <a:gridCol w="630350"/>
                <a:gridCol w="940300"/>
              </a:tblGrid>
              <a:tr h="504825">
                <a:tc>
                  <a:txBody>
                    <a:bodyPr/>
                    <a:lstStyle/>
                    <a:p>
                      <a:pPr indent="0" lvl="0" marL="0" rtl="0" algn="ctr">
                        <a:lnSpc>
                          <a:spcPct val="115000"/>
                        </a:lnSpc>
                        <a:spcBef>
                          <a:spcPts val="0"/>
                        </a:spcBef>
                        <a:spcAft>
                          <a:spcPts val="0"/>
                        </a:spcAft>
                        <a:buNone/>
                      </a:pPr>
                      <a:r>
                        <a:rPr b="1" lang="en" sz="2400"/>
                        <a:t>STT</a:t>
                      </a:r>
                      <a:endParaRPr b="1"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solidFill>
                      <a:srgbClr val="CCCCCC"/>
                    </a:solidFill>
                  </a:tcPr>
                </a:tc>
                <a:tc>
                  <a:txBody>
                    <a:bodyPr/>
                    <a:lstStyle/>
                    <a:p>
                      <a:pPr indent="0" lvl="0" marL="0" rtl="0" algn="ctr">
                        <a:lnSpc>
                          <a:spcPct val="115000"/>
                        </a:lnSpc>
                        <a:spcBef>
                          <a:spcPts val="0"/>
                        </a:spcBef>
                        <a:spcAft>
                          <a:spcPts val="0"/>
                        </a:spcAft>
                        <a:buNone/>
                      </a:pPr>
                      <a:r>
                        <a:rPr b="1" lang="en" sz="2400"/>
                        <a:t>Component</a:t>
                      </a:r>
                      <a:endParaRPr b="1"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solidFill>
                      <a:srgbClr val="CCCCCC"/>
                    </a:solidFill>
                  </a:tcPr>
                </a:tc>
                <a:tc>
                  <a:txBody>
                    <a:bodyPr/>
                    <a:lstStyle/>
                    <a:p>
                      <a:pPr indent="0" lvl="0" marL="0" rtl="0" algn="ctr">
                        <a:lnSpc>
                          <a:spcPct val="115000"/>
                        </a:lnSpc>
                        <a:spcBef>
                          <a:spcPts val="0"/>
                        </a:spcBef>
                        <a:spcAft>
                          <a:spcPts val="0"/>
                        </a:spcAft>
                        <a:buNone/>
                      </a:pPr>
                      <a:r>
                        <a:rPr b="1" lang="en" sz="2400"/>
                        <a:t>Model</a:t>
                      </a:r>
                      <a:endParaRPr b="1"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solidFill>
                      <a:srgbClr val="CCCCCC"/>
                    </a:solidFill>
                  </a:tcPr>
                </a:tc>
                <a:tc>
                  <a:txBody>
                    <a:bodyPr/>
                    <a:lstStyle/>
                    <a:p>
                      <a:pPr indent="0" lvl="0" marL="0" rtl="0" algn="ctr">
                        <a:lnSpc>
                          <a:spcPct val="115000"/>
                        </a:lnSpc>
                        <a:spcBef>
                          <a:spcPts val="0"/>
                        </a:spcBef>
                        <a:spcAft>
                          <a:spcPts val="0"/>
                        </a:spcAft>
                        <a:buNone/>
                      </a:pPr>
                      <a:r>
                        <a:rPr b="1" lang="en" sz="2400"/>
                        <a:t>Notes</a:t>
                      </a:r>
                      <a:endParaRPr b="1"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solidFill>
                      <a:srgbClr val="CCCCCC"/>
                    </a:solidFill>
                  </a:tcPr>
                </a:tc>
                <a:tc>
                  <a:txBody>
                    <a:bodyPr/>
                    <a:lstStyle/>
                    <a:p>
                      <a:pPr indent="0" lvl="0" marL="0" rtl="0" algn="ctr">
                        <a:lnSpc>
                          <a:spcPct val="115000"/>
                        </a:lnSpc>
                        <a:spcBef>
                          <a:spcPts val="0"/>
                        </a:spcBef>
                        <a:spcAft>
                          <a:spcPts val="0"/>
                        </a:spcAft>
                        <a:buNone/>
                      </a:pPr>
                      <a:r>
                        <a:rPr b="1" lang="en" sz="2400"/>
                        <a:t>Qty</a:t>
                      </a:r>
                      <a:endParaRPr b="1"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solidFill>
                      <a:srgbClr val="CCCCCC"/>
                    </a:solidFill>
                  </a:tcPr>
                </a:tc>
                <a:tc>
                  <a:txBody>
                    <a:bodyPr/>
                    <a:lstStyle/>
                    <a:p>
                      <a:pPr indent="0" lvl="0" marL="0" rtl="0" algn="ctr">
                        <a:lnSpc>
                          <a:spcPct val="115000"/>
                        </a:lnSpc>
                        <a:spcBef>
                          <a:spcPts val="0"/>
                        </a:spcBef>
                        <a:spcAft>
                          <a:spcPts val="0"/>
                        </a:spcAft>
                        <a:buNone/>
                      </a:pPr>
                      <a:r>
                        <a:rPr b="1" lang="en" sz="2400"/>
                        <a:t>Unit</a:t>
                      </a:r>
                      <a:endParaRPr b="1"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solidFill>
                      <a:srgbClr val="CCCCCC"/>
                    </a:solidFill>
                  </a:tcPr>
                </a:tc>
              </a:tr>
              <a:tr h="504825">
                <a:tc>
                  <a:txBody>
                    <a:bodyPr/>
                    <a:lstStyle/>
                    <a:p>
                      <a:pPr indent="0" lvl="0" marL="0" rtl="0" algn="ctr">
                        <a:lnSpc>
                          <a:spcPct val="115000"/>
                        </a:lnSpc>
                        <a:spcBef>
                          <a:spcPts val="0"/>
                        </a:spcBef>
                        <a:spcAft>
                          <a:spcPts val="0"/>
                        </a:spcAft>
                        <a:buNone/>
                      </a:pPr>
                      <a:r>
                        <a:rPr lang="en" sz="2400"/>
                        <a:t>1</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Antenna</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LPDA</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Provides 4-7 dBi gain across the 300-800 MHz band.</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2</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item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r>
              <a:tr h="962025">
                <a:tc>
                  <a:txBody>
                    <a:bodyPr/>
                    <a:lstStyle/>
                    <a:p>
                      <a:pPr indent="0" lvl="0" marL="0" rtl="0" algn="ctr">
                        <a:lnSpc>
                          <a:spcPct val="115000"/>
                        </a:lnSpc>
                        <a:spcBef>
                          <a:spcPts val="0"/>
                        </a:spcBef>
                        <a:spcAft>
                          <a:spcPts val="0"/>
                        </a:spcAft>
                        <a:buNone/>
                      </a:pPr>
                      <a:r>
                        <a:rPr lang="en" sz="2400"/>
                        <a:t>2</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LNA</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Mini-Circuits ZX60-P33ULN+</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50Ω, 0.4 to 3.0 GHz, Ultra Low Noise Figure, world-class ~0.45 dB Noise Figure and ~19 dB gain in the range.</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2</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item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r>
              <a:tr h="809625">
                <a:tc>
                  <a:txBody>
                    <a:bodyPr/>
                    <a:lstStyle/>
                    <a:p>
                      <a:pPr indent="0" lvl="0" marL="0" rtl="0" algn="ctr">
                        <a:lnSpc>
                          <a:spcPct val="115000"/>
                        </a:lnSpc>
                        <a:spcBef>
                          <a:spcPts val="0"/>
                        </a:spcBef>
                        <a:spcAft>
                          <a:spcPts val="0"/>
                        </a:spcAft>
                        <a:buNone/>
                      </a:pPr>
                      <a:r>
                        <a:rPr lang="en" sz="2400"/>
                        <a:t>3</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Bias Tee</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0.1-4.2GHz</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Powers the LNA. excellent low insertion loss (~0.3 dB), high current capacity (500mA)</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4</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item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r>
              <a:tr h="962025">
                <a:tc>
                  <a:txBody>
                    <a:bodyPr/>
                    <a:lstStyle/>
                    <a:p>
                      <a:pPr indent="0" lvl="0" marL="0" rtl="0" algn="ctr">
                        <a:lnSpc>
                          <a:spcPct val="115000"/>
                        </a:lnSpc>
                        <a:spcBef>
                          <a:spcPts val="0"/>
                        </a:spcBef>
                        <a:spcAft>
                          <a:spcPts val="0"/>
                        </a:spcAft>
                        <a:buNone/>
                      </a:pPr>
                      <a:r>
                        <a:rPr lang="en" sz="2400"/>
                        <a:t>4</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SDR Sampler</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Nuand bladeRF 2.0 micro xA4</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Dual-channel, phase-coherent receiver. The xA4's FPGA is crucial for future on-device processing and data reduction.</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1</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item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r>
              <a:tr h="962025">
                <a:tc>
                  <a:txBody>
                    <a:bodyPr/>
                    <a:lstStyle/>
                    <a:p>
                      <a:pPr indent="0" lvl="0" marL="0" rtl="0" algn="ctr">
                        <a:lnSpc>
                          <a:spcPct val="115000"/>
                        </a:lnSpc>
                        <a:spcBef>
                          <a:spcPts val="0"/>
                        </a:spcBef>
                        <a:spcAft>
                          <a:spcPts val="0"/>
                        </a:spcAft>
                        <a:buNone/>
                      </a:pPr>
                      <a:r>
                        <a:rPr lang="en" sz="2400"/>
                        <a:t>5</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solidFill>
                            <a:schemeClr val="dk1"/>
                          </a:solidFill>
                        </a:rPr>
                        <a:t>Mini-PC Kit</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intel NUC i7</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1</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item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r>
              <a:tr h="962025">
                <a:tc>
                  <a:txBody>
                    <a:bodyPr/>
                    <a:lstStyle/>
                    <a:p>
                      <a:pPr indent="0" lvl="0" marL="0" rtl="0" algn="ctr">
                        <a:lnSpc>
                          <a:spcPct val="115000"/>
                        </a:lnSpc>
                        <a:spcBef>
                          <a:spcPts val="0"/>
                        </a:spcBef>
                        <a:spcAft>
                          <a:spcPts val="0"/>
                        </a:spcAft>
                        <a:buNone/>
                      </a:pPr>
                      <a:r>
                        <a:rPr lang="en" sz="2400"/>
                        <a:t>6</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solidFill>
                            <a:schemeClr val="dk1"/>
                          </a:solidFill>
                        </a:rPr>
                        <a:t>Cable (main run)</a:t>
                      </a:r>
                      <a:endParaRPr sz="2400">
                        <a:solidFill>
                          <a:schemeClr val="dk1"/>
                        </a:solidFill>
                      </a:endParaRPr>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LMR-400</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2400"/>
                        <a:t>15m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1</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2400"/>
                        <a:t>item</a:t>
                      </a:r>
                      <a:endParaRPr sz="2400"/>
                    </a:p>
                  </a:txBody>
                  <a:tcPr marT="19050" marB="19050" marR="28575" marL="28575" anchor="ctr">
                    <a:lnL cap="flat" cmpd="sng" w="5450">
                      <a:solidFill>
                        <a:srgbClr val="000000"/>
                      </a:solidFill>
                      <a:prstDash val="solid"/>
                      <a:round/>
                      <a:headEnd len="sm" w="sm" type="none"/>
                      <a:tailEnd len="sm" w="sm" type="none"/>
                    </a:lnL>
                    <a:lnR cap="flat" cmpd="sng" w="5450">
                      <a:solidFill>
                        <a:srgbClr val="000000"/>
                      </a:solidFill>
                      <a:prstDash val="solid"/>
                      <a:round/>
                      <a:headEnd len="sm" w="sm" type="none"/>
                      <a:tailEnd len="sm" w="sm" type="none"/>
                    </a:lnR>
                    <a:lnT cap="flat" cmpd="sng" w="5450">
                      <a:solidFill>
                        <a:srgbClr val="000000"/>
                      </a:solidFill>
                      <a:prstDash val="solid"/>
                      <a:round/>
                      <a:headEnd len="sm" w="sm" type="none"/>
                      <a:tailEnd len="sm" w="sm" type="none"/>
                    </a:lnT>
                    <a:lnB cap="flat" cmpd="sng" w="5450">
                      <a:solidFill>
                        <a:srgbClr val="000000"/>
                      </a:solidFill>
                      <a:prstDash val="solid"/>
                      <a:round/>
                      <a:headEnd len="sm" w="sm" type="none"/>
                      <a:tailEnd len="sm" w="sm" type="none"/>
                    </a:lnB>
                  </a:tcPr>
                </a:tc>
              </a:tr>
            </a:tbl>
          </a:graphicData>
        </a:graphic>
      </p:graphicFrame>
      <p:sp>
        <p:nvSpPr>
          <p:cNvPr id="339" name="Google Shape;339;p45"/>
          <p:cNvSpPr txBox="1"/>
          <p:nvPr>
            <p:ph idx="1" type="body"/>
          </p:nvPr>
        </p:nvSpPr>
        <p:spPr>
          <a:xfrm>
            <a:off x="568125" y="1914525"/>
            <a:ext cx="9758700" cy="33549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None/>
            </a:pPr>
            <a:r>
              <a:rPr lang="en"/>
              <a:t>Set up 01 antenna system and make observations. What should be improved?</a:t>
            </a:r>
            <a:endParaRPr/>
          </a:p>
        </p:txBody>
      </p:sp>
      <p:pic>
        <p:nvPicPr>
          <p:cNvPr id="340" name="Google Shape;340;p45" title="20250707_170821.jpg"/>
          <p:cNvPicPr preferRelativeResize="0"/>
          <p:nvPr/>
        </p:nvPicPr>
        <p:blipFill rotWithShape="1">
          <a:blip r:embed="rId4">
            <a:alphaModFix/>
          </a:blip>
          <a:srcRect b="12163" l="0" r="0" t="16494"/>
          <a:stretch/>
        </p:blipFill>
        <p:spPr>
          <a:xfrm>
            <a:off x="13828200" y="7519550"/>
            <a:ext cx="9525002" cy="5096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6"/>
          <p:cNvSpPr txBox="1"/>
          <p:nvPr>
            <p:ph type="title"/>
          </p:nvPr>
        </p:nvSpPr>
        <p:spPr>
          <a:xfrm>
            <a:off x="174200" y="144133"/>
            <a:ext cx="23016900" cy="1527300"/>
          </a:xfrm>
          <a:prstGeom prst="rect">
            <a:avLst/>
          </a:prstGeom>
        </p:spPr>
        <p:txBody>
          <a:bodyPr anchorCtr="0" anchor="t" bIns="243800" lIns="243800" spcFirstLastPara="1" rIns="243800" wrap="square" tIns="243800">
            <a:normAutofit fontScale="90000"/>
          </a:bodyPr>
          <a:lstStyle/>
          <a:p>
            <a:pPr indent="0" lvl="0" marL="0" rtl="0" algn="l">
              <a:spcBef>
                <a:spcPts val="0"/>
              </a:spcBef>
              <a:spcAft>
                <a:spcPts val="0"/>
              </a:spcAft>
              <a:buNone/>
            </a:pPr>
            <a:r>
              <a:rPr lang="en"/>
              <a:t>The alternative system</a:t>
            </a:r>
            <a:endParaRPr/>
          </a:p>
        </p:txBody>
      </p:sp>
      <p:sp>
        <p:nvSpPr>
          <p:cNvPr id="346" name="Google Shape;346;p46"/>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graphicFrame>
        <p:nvGraphicFramePr>
          <p:cNvPr id="347" name="Google Shape;347;p46"/>
          <p:cNvGraphicFramePr/>
          <p:nvPr/>
        </p:nvGraphicFramePr>
        <p:xfrm>
          <a:off x="723489" y="2216125"/>
          <a:ext cx="3000000" cy="3000000"/>
        </p:xfrm>
        <a:graphic>
          <a:graphicData uri="http://schemas.openxmlformats.org/drawingml/2006/table">
            <a:tbl>
              <a:tblPr>
                <a:noFill/>
                <a:tableStyleId>{87C3C918-BF5B-4AA9-8226-F4381CCDB6A7}</a:tableStyleId>
              </a:tblPr>
              <a:tblGrid>
                <a:gridCol w="861950"/>
                <a:gridCol w="2124825"/>
                <a:gridCol w="7049075"/>
                <a:gridCol w="1407375"/>
                <a:gridCol w="1407375"/>
              </a:tblGrid>
              <a:tr h="266700">
                <a:tc>
                  <a:txBody>
                    <a:bodyPr/>
                    <a:lstStyle/>
                    <a:p>
                      <a:pPr indent="0" lvl="0" marL="0" rtl="0" algn="ctr">
                        <a:lnSpc>
                          <a:spcPct val="115000"/>
                        </a:lnSpc>
                        <a:spcBef>
                          <a:spcPts val="0"/>
                        </a:spcBef>
                        <a:spcAft>
                          <a:spcPts val="0"/>
                        </a:spcAft>
                        <a:buNone/>
                      </a:pPr>
                      <a:r>
                        <a:t/>
                      </a:r>
                      <a:endParaRPr b="1" sz="2400"/>
                    </a:p>
                  </a:txBody>
                  <a:tcPr marT="63500" marB="63500" marR="63500" marL="63500" anchor="ctr">
                    <a:solidFill>
                      <a:srgbClr val="EAD1DC"/>
                    </a:solidFill>
                  </a:tcPr>
                </a:tc>
                <a:tc>
                  <a:txBody>
                    <a:bodyPr/>
                    <a:lstStyle/>
                    <a:p>
                      <a:pPr indent="0" lvl="0" marL="0" rtl="0" algn="l">
                        <a:lnSpc>
                          <a:spcPct val="115000"/>
                        </a:lnSpc>
                        <a:spcBef>
                          <a:spcPts val="0"/>
                        </a:spcBef>
                        <a:spcAft>
                          <a:spcPts val="0"/>
                        </a:spcAft>
                        <a:buNone/>
                      </a:pPr>
                      <a:r>
                        <a:rPr b="1" lang="en" sz="2400"/>
                        <a:t>Type</a:t>
                      </a:r>
                      <a:endParaRPr b="1" sz="2400"/>
                    </a:p>
                  </a:txBody>
                  <a:tcPr marT="63500" marB="63500" marR="63500" marL="63500" anchor="ctr">
                    <a:solidFill>
                      <a:srgbClr val="EAD1DC"/>
                    </a:solidFill>
                  </a:tcPr>
                </a:tc>
                <a:tc>
                  <a:txBody>
                    <a:bodyPr/>
                    <a:lstStyle/>
                    <a:p>
                      <a:pPr indent="0" lvl="0" marL="0" rtl="0" algn="l">
                        <a:lnSpc>
                          <a:spcPct val="115000"/>
                        </a:lnSpc>
                        <a:spcBef>
                          <a:spcPts val="0"/>
                        </a:spcBef>
                        <a:spcAft>
                          <a:spcPts val="0"/>
                        </a:spcAft>
                        <a:buNone/>
                      </a:pPr>
                      <a:r>
                        <a:rPr b="1" lang="en" sz="2400"/>
                        <a:t>Name</a:t>
                      </a:r>
                      <a:endParaRPr b="1" sz="2400"/>
                    </a:p>
                  </a:txBody>
                  <a:tcPr marT="63500" marB="63500" marR="63500" marL="63500" anchor="ctr">
                    <a:solidFill>
                      <a:srgbClr val="EAD1DC"/>
                    </a:solidFill>
                  </a:tcPr>
                </a:tc>
                <a:tc>
                  <a:txBody>
                    <a:bodyPr/>
                    <a:lstStyle/>
                    <a:p>
                      <a:pPr indent="0" lvl="0" marL="0" rtl="0" algn="l">
                        <a:lnSpc>
                          <a:spcPct val="115000"/>
                        </a:lnSpc>
                        <a:spcBef>
                          <a:spcPts val="0"/>
                        </a:spcBef>
                        <a:spcAft>
                          <a:spcPts val="0"/>
                        </a:spcAft>
                        <a:buNone/>
                      </a:pPr>
                      <a:r>
                        <a:t/>
                      </a:r>
                      <a:endParaRPr b="1" sz="2400"/>
                    </a:p>
                  </a:txBody>
                  <a:tcPr marT="63500" marB="63500" marR="63500" marL="63500" anchor="ctr">
                    <a:solidFill>
                      <a:srgbClr val="EAD1DC"/>
                    </a:solidFill>
                  </a:tcPr>
                </a:tc>
                <a:tc>
                  <a:txBody>
                    <a:bodyPr/>
                    <a:lstStyle/>
                    <a:p>
                      <a:pPr indent="0" lvl="0" marL="0" rtl="0" algn="l">
                        <a:lnSpc>
                          <a:spcPct val="115000"/>
                        </a:lnSpc>
                        <a:spcBef>
                          <a:spcPts val="0"/>
                        </a:spcBef>
                        <a:spcAft>
                          <a:spcPts val="0"/>
                        </a:spcAft>
                        <a:buNone/>
                      </a:pPr>
                      <a:r>
                        <a:t/>
                      </a:r>
                      <a:endParaRPr b="1" sz="2400"/>
                    </a:p>
                  </a:txBody>
                  <a:tcPr marT="63500" marB="63500" marR="63500" marL="63500" anchor="ctr">
                    <a:solidFill>
                      <a:srgbClr val="EAD1DC"/>
                    </a:solidFill>
                  </a:tcPr>
                </a:tc>
              </a:tr>
              <a:tr h="939800">
                <a:tc>
                  <a:txBody>
                    <a:bodyPr/>
                    <a:lstStyle/>
                    <a:p>
                      <a:pPr indent="0" lvl="0" marL="0" rtl="0" algn="ctr">
                        <a:lnSpc>
                          <a:spcPct val="115000"/>
                        </a:lnSpc>
                        <a:spcBef>
                          <a:spcPts val="0"/>
                        </a:spcBef>
                        <a:spcAft>
                          <a:spcPts val="0"/>
                        </a:spcAft>
                        <a:buNone/>
                      </a:pPr>
                      <a:r>
                        <a:rPr lang="en" sz="2400"/>
                        <a:t>1</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Balun</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adf4350 ADF4355 balun 1:1 100KHZ-3GHZ</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3GHz</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2</a:t>
                      </a:r>
                      <a:endParaRPr sz="2400"/>
                    </a:p>
                  </a:txBody>
                  <a:tcPr marT="63500" marB="63500" marR="63500" marL="63500" anchor="ctr">
                    <a:solidFill>
                      <a:srgbClr val="FFFFFF"/>
                    </a:solidFill>
                  </a:tcPr>
                </a:tc>
              </a:tr>
              <a:tr h="939800">
                <a:tc>
                  <a:txBody>
                    <a:bodyPr/>
                    <a:lstStyle/>
                    <a:p>
                      <a:pPr indent="0" lvl="0" marL="0" rtl="0" algn="ctr">
                        <a:lnSpc>
                          <a:spcPct val="115000"/>
                        </a:lnSpc>
                        <a:spcBef>
                          <a:spcPts val="0"/>
                        </a:spcBef>
                        <a:spcAft>
                          <a:spcPts val="0"/>
                        </a:spcAft>
                        <a:buNone/>
                      </a:pPr>
                      <a:r>
                        <a:rPr lang="en" sz="2400"/>
                        <a:t>2</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Bias Tee</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2400">
                          <a:solidFill>
                            <a:schemeClr val="dk1"/>
                          </a:solidFill>
                        </a:rPr>
                        <a:t>10M-6GHz low insertion loss</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0.01 - 6GHz</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4</a:t>
                      </a:r>
                      <a:endParaRPr sz="2400"/>
                    </a:p>
                  </a:txBody>
                  <a:tcPr marT="63500" marB="63500" marR="63500" marL="63500" anchor="ctr">
                    <a:solidFill>
                      <a:srgbClr val="FFFFFF"/>
                    </a:solidFill>
                  </a:tcPr>
                </a:tc>
              </a:tr>
              <a:tr h="939800">
                <a:tc>
                  <a:txBody>
                    <a:bodyPr/>
                    <a:lstStyle/>
                    <a:p>
                      <a:pPr indent="0" lvl="0" marL="0" rtl="0" algn="ctr">
                        <a:lnSpc>
                          <a:spcPct val="115000"/>
                        </a:lnSpc>
                        <a:spcBef>
                          <a:spcPts val="0"/>
                        </a:spcBef>
                        <a:spcAft>
                          <a:spcPts val="0"/>
                        </a:spcAft>
                        <a:buNone/>
                      </a:pPr>
                      <a:r>
                        <a:rPr lang="en" sz="2400"/>
                        <a:t>3</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Bandpass filter</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205-700MHz broadband bandpass filter, SMA interface</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205 - 700MHz</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2</a:t>
                      </a:r>
                      <a:endParaRPr sz="2400"/>
                    </a:p>
                  </a:txBody>
                  <a:tcPr marT="63500" marB="63500" marR="63500" marL="63500" anchor="ctr">
                    <a:solidFill>
                      <a:srgbClr val="FFFFFF"/>
                    </a:solidFill>
                  </a:tcPr>
                </a:tc>
              </a:tr>
              <a:tr h="939800">
                <a:tc>
                  <a:txBody>
                    <a:bodyPr/>
                    <a:lstStyle/>
                    <a:p>
                      <a:pPr indent="0" lvl="0" marL="0" rtl="0" algn="ctr">
                        <a:lnSpc>
                          <a:spcPct val="115000"/>
                        </a:lnSpc>
                        <a:spcBef>
                          <a:spcPts val="0"/>
                        </a:spcBef>
                        <a:spcAft>
                          <a:spcPts val="0"/>
                        </a:spcAft>
                        <a:buNone/>
                      </a:pPr>
                      <a:r>
                        <a:rPr lang="en" sz="2400"/>
                        <a:t>4</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SDR</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P</a:t>
                      </a:r>
                      <a:r>
                        <a:rPr lang="en" sz="2400"/>
                        <a:t>luto+ (Zynq7010, </a:t>
                      </a:r>
                      <a:r>
                        <a:rPr lang="en" sz="2400">
                          <a:solidFill>
                            <a:schemeClr val="dk1"/>
                          </a:solidFill>
                        </a:rPr>
                        <a:t>AD9361)</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2400">
                          <a:solidFill>
                            <a:schemeClr val="dk1"/>
                          </a:solidFill>
                        </a:rPr>
                        <a:t>70mhz~6GHz</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1</a:t>
                      </a:r>
                      <a:endParaRPr sz="2400"/>
                    </a:p>
                  </a:txBody>
                  <a:tcPr marT="63500" marB="63500" marR="63500" marL="63500" anchor="ctr">
                    <a:solidFill>
                      <a:srgbClr val="FFFFFF"/>
                    </a:solidFill>
                  </a:tcPr>
                </a:tc>
              </a:tr>
              <a:tr h="939800">
                <a:tc>
                  <a:txBody>
                    <a:bodyPr/>
                    <a:lstStyle/>
                    <a:p>
                      <a:pPr indent="0" lvl="0" marL="0" rtl="0" algn="ctr">
                        <a:lnSpc>
                          <a:spcPct val="115000"/>
                        </a:lnSpc>
                        <a:spcBef>
                          <a:spcPts val="0"/>
                        </a:spcBef>
                        <a:spcAft>
                          <a:spcPts val="0"/>
                        </a:spcAft>
                        <a:buNone/>
                      </a:pPr>
                      <a:r>
                        <a:rPr lang="en" sz="2400"/>
                        <a:t>5</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LPDA antenna</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Logarithmic periodic dipole array (LPDA):  directional high gain ultra-wideband PCD </a:t>
                      </a:r>
                      <a:r>
                        <a:rPr lang="en" sz="2400">
                          <a:solidFill>
                            <a:schemeClr val="dk1"/>
                          </a:solidFill>
                        </a:rPr>
                        <a:t>antenna</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50KHz - 6.5GHz</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2</a:t>
                      </a:r>
                      <a:endParaRPr sz="2400"/>
                    </a:p>
                  </a:txBody>
                  <a:tcPr marT="63500" marB="63500" marR="63500" marL="63500" anchor="ctr">
                    <a:solidFill>
                      <a:srgbClr val="FFFFFF"/>
                    </a:solidFill>
                  </a:tcPr>
                </a:tc>
              </a:tr>
              <a:tr h="939800">
                <a:tc>
                  <a:txBody>
                    <a:bodyPr/>
                    <a:lstStyle/>
                    <a:p>
                      <a:pPr indent="0" lvl="0" marL="0" rtl="0" algn="ctr">
                        <a:lnSpc>
                          <a:spcPct val="115000"/>
                        </a:lnSpc>
                        <a:spcBef>
                          <a:spcPts val="0"/>
                        </a:spcBef>
                        <a:spcAft>
                          <a:spcPts val="0"/>
                        </a:spcAft>
                        <a:buNone/>
                      </a:pPr>
                      <a:r>
                        <a:rPr lang="en" sz="2400"/>
                        <a:t>6</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Amplifier</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2025 Ultra Low Noise Amplifier, NF=0.3, 0.1-6GHz</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0.1 - 6GHz.</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2</a:t>
                      </a:r>
                      <a:endParaRPr sz="2400"/>
                    </a:p>
                  </a:txBody>
                  <a:tcPr marT="63500" marB="63500" marR="63500" marL="63500" anchor="ctr">
                    <a:solidFill>
                      <a:srgbClr val="FFFFFF"/>
                    </a:solidFill>
                  </a:tcPr>
                </a:tc>
              </a:tr>
              <a:tr h="266700">
                <a:tc>
                  <a:txBody>
                    <a:bodyPr/>
                    <a:lstStyle/>
                    <a:p>
                      <a:pPr indent="0" lvl="0" marL="0" rtl="0" algn="ctr">
                        <a:lnSpc>
                          <a:spcPct val="115000"/>
                        </a:lnSpc>
                        <a:spcBef>
                          <a:spcPts val="0"/>
                        </a:spcBef>
                        <a:spcAft>
                          <a:spcPts val="0"/>
                        </a:spcAft>
                        <a:buNone/>
                      </a:pPr>
                      <a:r>
                        <a:rPr lang="en" sz="2400"/>
                        <a:t>7</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Cable</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solidFill>
                            <a:schemeClr val="dk1"/>
                          </a:solidFill>
                        </a:rPr>
                        <a:t>RG316, </a:t>
                      </a:r>
                      <a:r>
                        <a:rPr lang="en" sz="2400"/>
                        <a:t>SMA-JJ SMA male to male</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18cm</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t/>
                      </a:r>
                      <a:endParaRPr sz="2400"/>
                    </a:p>
                  </a:txBody>
                  <a:tcPr marT="63500" marB="63500" marR="63500" marL="63500" anchor="ctr">
                    <a:solidFill>
                      <a:srgbClr val="FFFFFF"/>
                    </a:solidFill>
                  </a:tcPr>
                </a:tc>
              </a:tr>
              <a:tr h="266700">
                <a:tc>
                  <a:txBody>
                    <a:bodyPr/>
                    <a:lstStyle/>
                    <a:p>
                      <a:pPr indent="0" lvl="0" marL="0" rtl="0" algn="ctr">
                        <a:lnSpc>
                          <a:spcPct val="115000"/>
                        </a:lnSpc>
                        <a:spcBef>
                          <a:spcPts val="0"/>
                        </a:spcBef>
                        <a:spcAft>
                          <a:spcPts val="0"/>
                        </a:spcAft>
                        <a:buNone/>
                      </a:pPr>
                      <a:r>
                        <a:rPr lang="en" sz="2400"/>
                        <a:t>8</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Cable</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LMR-400 SMA male to male</a:t>
                      </a:r>
                      <a:endParaRPr sz="2400"/>
                    </a:p>
                  </a:txBody>
                  <a:tcPr marT="63500" marB="63500" marR="63500" marL="63500" anchor="ctr">
                    <a:solidFill>
                      <a:srgbClr val="FFFFFF"/>
                    </a:solidFill>
                  </a:tcPr>
                </a:tc>
                <a:tc>
                  <a:txBody>
                    <a:bodyPr/>
                    <a:lstStyle/>
                    <a:p>
                      <a:pPr indent="0" lvl="0" marL="0" rtl="0" algn="l">
                        <a:lnSpc>
                          <a:spcPct val="115000"/>
                        </a:lnSpc>
                        <a:spcBef>
                          <a:spcPts val="0"/>
                        </a:spcBef>
                        <a:spcAft>
                          <a:spcPts val="0"/>
                        </a:spcAft>
                        <a:buNone/>
                      </a:pPr>
                      <a:r>
                        <a:rPr lang="en" sz="2400"/>
                        <a:t>15m</a:t>
                      </a:r>
                      <a:endParaRPr sz="2400"/>
                    </a:p>
                  </a:txBody>
                  <a:tcPr marT="63500" marB="63500" marR="63500" marL="63500" anchor="ctr">
                    <a:solidFill>
                      <a:srgbClr val="FFFFFF"/>
                    </a:solidFill>
                  </a:tcPr>
                </a:tc>
                <a:tc>
                  <a:txBody>
                    <a:bodyPr/>
                    <a:lstStyle/>
                    <a:p>
                      <a:pPr indent="0" lvl="0" marL="0" rtl="0" algn="ctr">
                        <a:lnSpc>
                          <a:spcPct val="115000"/>
                        </a:lnSpc>
                        <a:spcBef>
                          <a:spcPts val="0"/>
                        </a:spcBef>
                        <a:spcAft>
                          <a:spcPts val="0"/>
                        </a:spcAft>
                        <a:buNone/>
                      </a:pPr>
                      <a:r>
                        <a:rPr lang="en" sz="2400"/>
                        <a:t>2</a:t>
                      </a:r>
                      <a:endParaRPr sz="2400"/>
                    </a:p>
                  </a:txBody>
                  <a:tcPr marT="63500" marB="63500" marR="63500" marL="63500" anchor="ctr">
                    <a:solidFill>
                      <a:srgbClr val="FFFFFF"/>
                    </a:solidFill>
                  </a:tcPr>
                </a:tc>
              </a:tr>
            </a:tbl>
          </a:graphicData>
        </a:graphic>
      </p:graphicFrame>
      <p:pic>
        <p:nvPicPr>
          <p:cNvPr id="348" name="Google Shape;348;p46" title="Screenshot_20250717_132844_Chrome.jpg"/>
          <p:cNvPicPr preferRelativeResize="0"/>
          <p:nvPr/>
        </p:nvPicPr>
        <p:blipFill>
          <a:blip r:embed="rId3">
            <a:alphaModFix/>
          </a:blip>
          <a:stretch>
            <a:fillRect/>
          </a:stretch>
        </p:blipFill>
        <p:spPr>
          <a:xfrm>
            <a:off x="14350622" y="491949"/>
            <a:ext cx="6592776" cy="6578399"/>
          </a:xfrm>
          <a:prstGeom prst="rect">
            <a:avLst/>
          </a:prstGeom>
          <a:noFill/>
          <a:ln>
            <a:noFill/>
          </a:ln>
        </p:spPr>
      </p:pic>
      <p:pic>
        <p:nvPicPr>
          <p:cNvPr id="349" name="Google Shape;349;p46" title="Screenshot_20250717_133205_Chrome.jpg"/>
          <p:cNvPicPr preferRelativeResize="0"/>
          <p:nvPr/>
        </p:nvPicPr>
        <p:blipFill>
          <a:blip r:embed="rId4">
            <a:alphaModFix/>
          </a:blip>
          <a:stretch>
            <a:fillRect/>
          </a:stretch>
        </p:blipFill>
        <p:spPr>
          <a:xfrm>
            <a:off x="15973583" y="7880325"/>
            <a:ext cx="6976750" cy="49290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7"/>
          <p:cNvSpPr txBox="1"/>
          <p:nvPr>
            <p:ph type="title"/>
          </p:nvPr>
        </p:nvSpPr>
        <p:spPr>
          <a:xfrm>
            <a:off x="1307333" y="1200400"/>
            <a:ext cx="16980900" cy="10908900"/>
          </a:xfrm>
          <a:prstGeom prst="rect">
            <a:avLst/>
          </a:prstGeom>
        </p:spPr>
        <p:txBody>
          <a:bodyPr anchorCtr="0" anchor="ctr" bIns="243800" lIns="243800" spcFirstLastPara="1" rIns="243800" wrap="square" tIns="243800">
            <a:normAutofit/>
          </a:bodyPr>
          <a:lstStyle/>
          <a:p>
            <a:pPr indent="0" lvl="0" marL="0" rtl="0" algn="l">
              <a:spcBef>
                <a:spcPts val="0"/>
              </a:spcBef>
              <a:spcAft>
                <a:spcPts val="0"/>
              </a:spcAft>
              <a:buNone/>
            </a:pPr>
            <a:r>
              <a:rPr lang="en"/>
              <a:t>To be continued…</a:t>
            </a:r>
            <a:endParaRPr/>
          </a:p>
        </p:txBody>
      </p:sp>
      <p:sp>
        <p:nvSpPr>
          <p:cNvPr id="355" name="Google Shape;355;p47"/>
          <p:cNvSpPr txBox="1"/>
          <p:nvPr>
            <p:ph idx="12" type="sldNum"/>
          </p:nvPr>
        </p:nvSpPr>
        <p:spPr>
          <a:xfrm>
            <a:off x="22593221" y="12435245"/>
            <a:ext cx="1463100" cy="1049700"/>
          </a:xfrm>
          <a:prstGeom prst="rect">
            <a:avLst/>
          </a:prstGeom>
        </p:spPr>
        <p:txBody>
          <a:bodyPr anchorCtr="0" anchor="ctr" bIns="243800" lIns="243800" spcFirstLastPara="1" rIns="243800" wrap="square" tIns="243800">
            <a:normAutofit/>
          </a:bodyPr>
          <a:lstStyle/>
          <a:p>
            <a:pPr indent="0" lvl="0" marL="0" rtl="0" algn="r">
              <a:spcBef>
                <a:spcPts val="0"/>
              </a:spcBef>
              <a:spcAft>
                <a:spcPts val="0"/>
              </a:spcAft>
              <a:buClr>
                <a:srgbClr val="000000"/>
              </a:buClr>
              <a:buSzPts val="27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