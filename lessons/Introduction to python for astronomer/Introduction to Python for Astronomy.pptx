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0082E6-BFDC-494D-BDB0-DF4931D8ECB8}">
  <a:tblStyle styleId="{0F0082E6-BFDC-494D-BDB0-DF4931D8EC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eb87c6e9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6eb87c6e90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eb87c6e9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6eb87c6e90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eb87c6e90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6eb87c6e90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eb87c6e90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6eb87c6e90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eb87c6e90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eb87c6e90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eb87c6e90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6eb87c6e90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eb87c6e9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6eb87c6e90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eb87c6e90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eb87c6e90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ecff2fd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6ecff2fd70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ecff2fd7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6ecff2fd70_1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hyperlink" Target="http://drive.google.com/file/d/1hKjzrvJYVGpPJvWU2iS6ADbw1pxLbS5B/view" TargetMode="External"/><Relationship Id="rId6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johnkimdinh/sagi_summer_school_2025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>
            <p:ph type="ctrTitle"/>
          </p:nvPr>
        </p:nvSpPr>
        <p:spPr>
          <a:xfrm>
            <a:off x="685800" y="9120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Introduction to Python for Astronomy</a:t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1371600" y="23050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FFD966"/>
                </a:solidFill>
              </a:rPr>
              <a:t>Unlocking the Universe with Code</a:t>
            </a:r>
            <a:endParaRPr>
              <a:solidFill>
                <a:srgbClr val="FFD966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999999"/>
                </a:solidFill>
              </a:rPr>
              <a:t>Dr. John Hoang July 12, 2025</a:t>
            </a:r>
            <a:endParaRPr>
              <a:solidFill>
                <a:srgbClr val="999999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913" y="3643200"/>
            <a:ext cx="5150177" cy="15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Mini presentation</a:t>
            </a:r>
            <a:r>
              <a:rPr lang="en" sz="2400"/>
              <a:t> </a:t>
            </a:r>
            <a:endParaRPr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" sz="2400"/>
              <a:t>Introduction to Python</a:t>
            </a:r>
            <a:endParaRPr sz="2400"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" sz="2400"/>
              <a:t>Why Python is Ideal for Astronomy</a:t>
            </a:r>
            <a:endParaRPr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" sz="2400"/>
              <a:t>Essential Python Libraries for Astronomers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Code Demos</a:t>
            </a:r>
            <a:endParaRPr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" sz="2400"/>
              <a:t>Setting up and simple examples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Coding time with real-life examples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 rotWithShape="1">
          <a:blip r:embed="rId3">
            <a:alphaModFix/>
          </a:blip>
          <a:srcRect b="0" l="0" r="24744" t="0"/>
          <a:stretch/>
        </p:blipFill>
        <p:spPr>
          <a:xfrm>
            <a:off x="4730925" y="1179626"/>
            <a:ext cx="4413076" cy="38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Python?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0" y="1200150"/>
            <a:ext cx="51201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High‑level, interpreted language (1991, Amsterdam)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Easy to learn, easy to use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Huge community supports and vast libraries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Versatile: web, data science, scientific computing, </a:t>
            </a:r>
            <a:r>
              <a:rPr lang="en" sz="2400"/>
              <a:t>AI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457200" y="434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Python in Astronomy?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127950" y="1276350"/>
            <a:ext cx="8987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It’s free!</a:t>
            </a:r>
            <a:endParaRPr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Strong adoption and community support in astrophysics</a:t>
            </a:r>
            <a:endParaRPr sz="2400"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" sz="2400"/>
              <a:t>Surveys show &gt;90 % of astronomers use Python for data analysis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S</a:t>
            </a:r>
            <a:r>
              <a:rPr lang="en" sz="2400"/>
              <a:t>upport for the majority of astro data formats</a:t>
            </a:r>
            <a:endParaRPr sz="2400"/>
          </a:p>
          <a:p>
            <a:pPr indent="-323850" lvl="1" marL="74295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 sz="2400"/>
              <a:t>Handles massive datasets from modern telescopes &amp; simulations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Automation: schedule observations, analyse spectra, model orbits</a:t>
            </a:r>
            <a:endParaRPr sz="24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8975" y="3542950"/>
            <a:ext cx="2026074" cy="16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021" y="3542945"/>
            <a:ext cx="2847954" cy="160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8"/>
          <p:cNvCxnSpPr/>
          <p:nvPr/>
        </p:nvCxnSpPr>
        <p:spPr>
          <a:xfrm>
            <a:off x="5927000" y="3694225"/>
            <a:ext cx="7341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8"/>
          <p:cNvSpPr txBox="1"/>
          <p:nvPr/>
        </p:nvSpPr>
        <p:spPr>
          <a:xfrm rot="1115">
            <a:off x="5574101" y="3620340"/>
            <a:ext cx="18492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sz="2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457200" y="3583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Python Libraries for Astronomy</a:t>
            </a:r>
            <a:endParaRPr/>
          </a:p>
        </p:txBody>
      </p:sp>
      <p:graphicFrame>
        <p:nvGraphicFramePr>
          <p:cNvPr id="164" name="Google Shape;164;p29"/>
          <p:cNvGraphicFramePr/>
          <p:nvPr/>
        </p:nvGraphicFramePr>
        <p:xfrm>
          <a:off x="274320" y="1714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{0F0082E6-BFDC-494D-BDB0-DF4931D8ECB8}</a:tableStyleId>
              </a:tblPr>
              <a:tblGrid>
                <a:gridCol w="2865125"/>
                <a:gridCol w="2865125"/>
                <a:gridCol w="28651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/>
                        <a:t>Library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/>
                        <a:t>Purpose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/>
                        <a:t>Astronomy Example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NumPy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Numerical arrays &amp; math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Handling pixel data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SciPy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Optimisation, integration, stats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Fitting spectral lines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Matplotlib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Plotting &amp; visualisation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Graphing light curves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Pandas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Tables &amp; time‑series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Galaxy catalog analysis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Astropy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Astronomy‑specific core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/>
                        <a:t>Coordinate transforms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TensorFlow/Pytorch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AI/Machine Learning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Object Classification</a:t>
                      </a:r>
                      <a:endParaRPr sz="1100" u="none" cap="none" strike="noStrike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0" y="1147425"/>
            <a:ext cx="9050751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>
            <p:ph type="title"/>
          </p:nvPr>
        </p:nvSpPr>
        <p:spPr>
          <a:xfrm>
            <a:off x="457200" y="434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On the use of ChatGTP/Grok/Gemini</a:t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30"/>
          <p:cNvCxnSpPr/>
          <p:nvPr/>
        </p:nvCxnSpPr>
        <p:spPr>
          <a:xfrm>
            <a:off x="2856600" y="4377800"/>
            <a:ext cx="1316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457200" y="434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On the use of ChatGTP/Grok/Gemini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0" y="1428750"/>
            <a:ext cx="5568300" cy="3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7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2400"/>
              <a:t>Python saves your (developing) time from C++!	</a:t>
            </a:r>
            <a:endParaRPr sz="2400"/>
          </a:p>
          <a:p>
            <a:pPr indent="-312419" lvl="1" marL="742950" rtl="0" algn="l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lang="en" sz="2400"/>
              <a:t>Risk: you need “better” hardware for Python</a:t>
            </a:r>
            <a:endParaRPr sz="2400"/>
          </a:p>
          <a:p>
            <a:pPr indent="-33147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400"/>
              <a:t>AI-assisted coding saves you even more time!	</a:t>
            </a:r>
            <a:endParaRPr sz="2400"/>
          </a:p>
          <a:p>
            <a:pPr indent="-312419" lvl="1" marL="742950" rtl="0" algn="l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lang="en" sz="2400"/>
              <a:t>Risk: AI can and will make mistakes (hallucination)</a:t>
            </a:r>
            <a:endParaRPr sz="2400"/>
          </a:p>
          <a:p>
            <a:pPr indent="-33147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400"/>
              <a:t>Do </a:t>
            </a:r>
            <a:r>
              <a:rPr b="1" lang="en" sz="2400" u="sng"/>
              <a:t>NOT</a:t>
            </a:r>
            <a:r>
              <a:rPr lang="en" sz="2400"/>
              <a:t> trust them 100%!</a:t>
            </a:r>
            <a:endParaRPr sz="2400"/>
          </a:p>
          <a:p>
            <a:pPr indent="-312419" lvl="1" marL="742950" rtl="0" algn="l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lang="en" sz="2400"/>
              <a:t>Use when you can, avoid when you must</a:t>
            </a:r>
            <a:r>
              <a:rPr lang="en" sz="2400"/>
              <a:t>	</a:t>
            </a:r>
            <a:endParaRPr sz="2400"/>
          </a:p>
          <a:p>
            <a:pPr indent="0" lvl="0" marL="7429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775" y="3296775"/>
            <a:ext cx="3880225" cy="18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 rotWithShape="1">
          <a:blip r:embed="rId5">
            <a:alphaModFix/>
          </a:blip>
          <a:srcRect b="0" l="0" r="24744" t="0"/>
          <a:stretch/>
        </p:blipFill>
        <p:spPr>
          <a:xfrm>
            <a:off x="6006513" y="1217725"/>
            <a:ext cx="2394749" cy="20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Python is a must-have for any astronomer!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It’s easy. </a:t>
            </a:r>
            <a:r>
              <a:rPr lang="en" sz="2400"/>
              <a:t>Start coding today!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Questions?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457200" y="434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Coding project: moon rise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0" y="1291975"/>
            <a:ext cx="62184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Above is a video of a “moon rise” captured by a special type of camera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Saved as MP4 movie file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Your tasks:</a:t>
            </a:r>
            <a:endParaRPr sz="2400"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" sz="2400"/>
              <a:t>Open the file and use python to plot an image of the moon from the file</a:t>
            </a:r>
            <a:endParaRPr sz="2400"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" sz="2400"/>
              <a:t>Align the obtained image with the full_moon_image to identify the landmark</a:t>
            </a:r>
            <a:endParaRPr sz="2400"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150" y="3345851"/>
            <a:ext cx="1797648" cy="179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 title="SmartThings Vision 2_250210_21582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5534" y="1239499"/>
            <a:ext cx="2808467" cy="21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457200" y="434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Coding project: moon rise</a:t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0" y="1291975"/>
            <a:ext cx="54900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Work in pair/ team of 3</a:t>
            </a:r>
            <a:endParaRPr sz="24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Instructions</a:t>
            </a:r>
            <a:r>
              <a:rPr lang="en" sz="2400"/>
              <a:t> </a:t>
            </a:r>
            <a:endParaRPr/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" sz="2400"/>
              <a:t>Go to school’s github: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https://github.com/johnkimdinh/sagi_summer_school_2025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Download the MP4 and JPEG file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Use the sample code to install necessary library and help you get started with reading the file.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Remember: AI when you can, your brain when you must!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Happy coding!</a:t>
            </a:r>
            <a:endParaRPr sz="2400"/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151" y="0"/>
            <a:ext cx="2583850" cy="7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1626" y="1181050"/>
            <a:ext cx="3522375" cy="39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