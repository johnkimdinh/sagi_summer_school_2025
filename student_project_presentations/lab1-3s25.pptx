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258" r:id="rId5"/>
    <p:sldId id="274"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type="screen16x9"/>
  <p:notesSz cx="6858000" cy="9144000"/>
  <p:embeddedFontLst>
    <p:embeddedFont>
      <p:font typeface="Cabin" panose="020B0604020202020204" charset="0"/>
      <p:bold r:id="rId23"/>
      <p:boldItalic r:id="rId24"/>
    </p:embeddedFont>
    <p:embeddedFont>
      <p:font typeface="Cabin SemiBold" panose="020B0604020202020204" charset="0"/>
      <p:regular r:id="rId25"/>
      <p:bold r:id="rId26"/>
      <p:italic r:id="rId27"/>
      <p:bold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8" autoAdjust="0"/>
    <p:restoredTop sz="68889" autoAdjust="0"/>
  </p:normalViewPr>
  <p:slideViewPr>
    <p:cSldViewPr snapToGrid="0">
      <p:cViewPr varScale="1">
        <p:scale>
          <a:sx n="75" d="100"/>
          <a:sy n="75" d="100"/>
        </p:scale>
        <p:origin x="1349" y="5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714c9b84e1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714c9b84e1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6f97f53874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6f97f53874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714c9b84e1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714c9b84e1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FC614A68-CE32-582C-8833-EE984F1E93DC}"/>
            </a:ext>
          </a:extLst>
        </p:cNvPr>
        <p:cNvGrpSpPr/>
        <p:nvPr/>
      </p:nvGrpSpPr>
      <p:grpSpPr>
        <a:xfrm>
          <a:off x="0" y="0"/>
          <a:ext cx="0" cy="0"/>
          <a:chOff x="0" y="0"/>
          <a:chExt cx="0" cy="0"/>
        </a:xfrm>
      </p:grpSpPr>
      <p:sp>
        <p:nvSpPr>
          <p:cNvPr id="142" name="Google Shape;142;g3714c9b84e1_2_84:notes">
            <a:extLst>
              <a:ext uri="{FF2B5EF4-FFF2-40B4-BE49-F238E27FC236}">
                <a16:creationId xmlns:a16="http://schemas.microsoft.com/office/drawing/2014/main" id="{5B050824-0B7D-0496-4212-59B8213ED7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714c9b84e1_2_84:notes">
            <a:extLst>
              <a:ext uri="{FF2B5EF4-FFF2-40B4-BE49-F238E27FC236}">
                <a16:creationId xmlns:a16="http://schemas.microsoft.com/office/drawing/2014/main" id="{EFAB0589-2611-6904-BA6D-200ACF1046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9316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14c9b84e1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3714c9b84e1_0_1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714c9b84e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714c9b84e1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14c9b84e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 241Am 𝛼 and 𝛾 source</a:t>
            </a:r>
            <a:endParaRPr/>
          </a:p>
        </p:txBody>
      </p:sp>
      <p:sp>
        <p:nvSpPr>
          <p:cNvPr id="169" name="Google Shape;169;g3714c9b84e1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6f97f5387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6f97f5387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Khi collimated thì hình ảnh thu được sẽ sắt nét, khi càng gần nguồn thì hình ảnh sẽ càng được phóng to bớt sắt nét </a:t>
            </a:r>
            <a:endParaRPr/>
          </a:p>
          <a:p>
            <a:pPr marL="0" lvl="0" indent="0" algn="l" rtl="0">
              <a:spcBef>
                <a:spcPts val="0"/>
              </a:spcBef>
              <a:spcAft>
                <a:spcPts val="0"/>
              </a:spcAft>
              <a:buNone/>
            </a:pPr>
            <a:r>
              <a:rPr lang="vi"/>
              <a:t>Khi non-collimated hình hình ảnh bị nhòe hơn collimated </a:t>
            </a:r>
            <a:endParaRPr/>
          </a:p>
          <a:p>
            <a:pPr marL="0" lvl="0" indent="0" algn="l" rtl="0">
              <a:spcBef>
                <a:spcPts val="0"/>
              </a:spcBef>
              <a:spcAft>
                <a:spcPts val="0"/>
              </a:spcAft>
              <a:buNone/>
            </a:pPr>
            <a:r>
              <a:rPr lang="vi"/>
              <a:t>Sư dụng nguồn được collemated tốt hơn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71673599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71673599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
                <a:solidFill>
                  <a:schemeClr val="dk1"/>
                </a:solidFill>
              </a:rPr>
              <a:t>Đặt mounting rails moving platform cách MiniPixEDU Holder Adapter cách nhau lần lượt 4,6,8....20mm để thu năng lượng của các hạt đến detector </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714c9b84e1_2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714c9b84e1_2_9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714c9b84e1_2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
              <a:t>\mu= \bar{x}=\frac{\sum_{i=1}^{N}x_i}{N}</a:t>
            </a:r>
            <a:endParaRPr/>
          </a:p>
          <a:p>
            <a:pPr marL="0" lvl="0" indent="0" algn="l" rtl="0">
              <a:spcBef>
                <a:spcPts val="0"/>
              </a:spcBef>
              <a:spcAft>
                <a:spcPts val="0"/>
              </a:spcAft>
              <a:buClr>
                <a:schemeClr val="dk1"/>
              </a:buClr>
              <a:buSzPts val="1100"/>
              <a:buFont typeface="Arial"/>
              <a:buNone/>
            </a:pPr>
            <a:r>
              <a:rPr lang="vi"/>
              <a: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vi"/>
              <a:t>\sigma</a:t>
            </a:r>
            <a:endParaRPr/>
          </a:p>
          <a:p>
            <a:pPr marL="0" lvl="0" indent="0" algn="l" rtl="0">
              <a:spcBef>
                <a:spcPts val="0"/>
              </a:spcBef>
              <a:spcAft>
                <a:spcPts val="0"/>
              </a:spcAft>
              <a:buClr>
                <a:schemeClr val="dk1"/>
              </a:buClr>
              <a:buSzPts val="1100"/>
              <a:buFont typeface="Arial"/>
              <a:buNone/>
            </a:pPr>
            <a:r>
              <a:rPr lang="vi"/>
              <a:t>=</a:t>
            </a:r>
            <a:endParaRPr/>
          </a:p>
          <a:p>
            <a:pPr marL="0" lvl="0" indent="0" algn="l" rtl="0">
              <a:spcBef>
                <a:spcPts val="0"/>
              </a:spcBef>
              <a:spcAft>
                <a:spcPts val="0"/>
              </a:spcAft>
              <a:buClr>
                <a:schemeClr val="dk1"/>
              </a:buClr>
              <a:buSzPts val="1100"/>
              <a:buFont typeface="Arial"/>
              <a:buNone/>
            </a:pPr>
            <a:r>
              <a:rPr lang="vi"/>
              <a:t>\sqrt{\frac{1}{N} \sum_{i=1}^{N} (x_i - \mu)^2}</a:t>
            </a:r>
            <a:endParaRPr/>
          </a:p>
          <a:p>
            <a:pPr marL="0" lvl="0" indent="0" algn="l" rtl="0">
              <a:spcBef>
                <a:spcPts val="0"/>
              </a:spcBef>
              <a:spcAft>
                <a:spcPts val="0"/>
              </a:spcAft>
              <a:buNone/>
            </a:pPr>
            <a:endParaRPr/>
          </a:p>
        </p:txBody>
      </p:sp>
      <p:sp>
        <p:nvSpPr>
          <p:cNvPr id="213" name="Google Shape;213;g3714c9b84e1_2_1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714c9b84e1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y tế, khoảng cách hiệu lực của tia</a:t>
            </a:r>
            <a:endParaRPr/>
          </a:p>
        </p:txBody>
      </p:sp>
      <p:sp>
        <p:nvSpPr>
          <p:cNvPr id="222" name="Google Shape;222;g3714c9b84e1_0_1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714c9b84e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độ suy giảm năng lượng theo khoảng cách</a:t>
            </a:r>
            <a:endParaRPr/>
          </a:p>
        </p:txBody>
      </p:sp>
      <p:sp>
        <p:nvSpPr>
          <p:cNvPr id="230" name="Google Shape;230;g3714c9b84e1_0_1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714c9b84e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 dirty="0">
                <a:solidFill>
                  <a:schemeClr val="dk1"/>
                </a:solidFill>
              </a:rPr>
              <a:t>Đặt các tấm vật liệu khác nhau trên Attachable Groove Holder nằm giữa nguồn và detector sau đó thu năng lượng của các hạt gamma xuyên qua được vật liệu đi tới detector</a:t>
            </a:r>
            <a:endParaRPr lang="en-US" dirty="0">
              <a:solidFill>
                <a:schemeClr val="dk1"/>
              </a:solidFill>
            </a:endParaRPr>
          </a:p>
          <a:p>
            <a:pPr marL="0" lvl="0" indent="0" algn="l" rtl="0">
              <a:spcBef>
                <a:spcPts val="0"/>
              </a:spcBef>
              <a:spcAft>
                <a:spcPts val="0"/>
              </a:spcAft>
              <a:buClr>
                <a:schemeClr val="dk1"/>
              </a:buClr>
              <a:buSzPts val="1100"/>
              <a:buFont typeface="Arial"/>
              <a:buNone/>
            </a:pPr>
            <a:endParaRPr lang="en-US" dirty="0">
              <a:solidFill>
                <a:schemeClr val="dk1"/>
              </a:solidFill>
            </a:endParaRPr>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dirty="0">
                <a:solidFill>
                  <a:schemeClr val="dk1"/>
                </a:solidFill>
              </a:rPr>
              <a:t>Ở </a:t>
            </a:r>
            <a:r>
              <a:rPr lang="en-US" dirty="0" err="1">
                <a:solidFill>
                  <a:schemeClr val="dk1"/>
                </a:solidFill>
              </a:rPr>
              <a:t>thí</a:t>
            </a:r>
            <a:r>
              <a:rPr lang="en-US" dirty="0">
                <a:solidFill>
                  <a:schemeClr val="dk1"/>
                </a:solidFill>
              </a:rPr>
              <a:t> </a:t>
            </a:r>
            <a:r>
              <a:rPr lang="en-US" dirty="0" err="1">
                <a:solidFill>
                  <a:schemeClr val="dk1"/>
                </a:solidFill>
              </a:rPr>
              <a:t>nghiệm</a:t>
            </a:r>
            <a:r>
              <a:rPr lang="en-US" dirty="0">
                <a:solidFill>
                  <a:schemeClr val="dk1"/>
                </a:solidFill>
              </a:rPr>
              <a:t> </a:t>
            </a:r>
            <a:r>
              <a:rPr lang="en-US" dirty="0" err="1">
                <a:solidFill>
                  <a:schemeClr val="dk1"/>
                </a:solidFill>
              </a:rPr>
              <a:t>mục</a:t>
            </a:r>
            <a:r>
              <a:rPr lang="en-US" dirty="0">
                <a:solidFill>
                  <a:schemeClr val="dk1"/>
                </a:solidFill>
              </a:rPr>
              <a:t> </a:t>
            </a:r>
            <a:r>
              <a:rPr lang="en-US" dirty="0" err="1">
                <a:solidFill>
                  <a:schemeClr val="dk1"/>
                </a:solidFill>
              </a:rPr>
              <a:t>tiêu</a:t>
            </a:r>
            <a:r>
              <a:rPr lang="en-US" dirty="0">
                <a:solidFill>
                  <a:schemeClr val="dk1"/>
                </a:solidFill>
              </a:rPr>
              <a:t> </a:t>
            </a:r>
            <a:r>
              <a:rPr lang="en-US" dirty="0" err="1">
                <a:solidFill>
                  <a:schemeClr val="dk1"/>
                </a:solidFill>
              </a:rPr>
              <a:t>của</a:t>
            </a:r>
            <a:r>
              <a:rPr lang="en-US" dirty="0">
                <a:solidFill>
                  <a:schemeClr val="dk1"/>
                </a:solidFill>
              </a:rPr>
              <a:t> </a:t>
            </a:r>
            <a:r>
              <a:rPr lang="en-US" dirty="0" err="1">
                <a:solidFill>
                  <a:schemeClr val="dk1"/>
                </a:solidFill>
              </a:rPr>
              <a:t>chúng</a:t>
            </a:r>
            <a:r>
              <a:rPr lang="en-US" dirty="0">
                <a:solidFill>
                  <a:schemeClr val="dk1"/>
                </a:solidFill>
              </a:rPr>
              <a:t> </a:t>
            </a:r>
            <a:r>
              <a:rPr lang="en-US" dirty="0" err="1">
                <a:solidFill>
                  <a:schemeClr val="dk1"/>
                </a:solidFill>
              </a:rPr>
              <a:t>tôi</a:t>
            </a:r>
            <a:r>
              <a:rPr lang="en-US" dirty="0">
                <a:solidFill>
                  <a:schemeClr val="dk1"/>
                </a:solidFill>
              </a:rPr>
              <a:t> </a:t>
            </a:r>
            <a:r>
              <a:rPr lang="en-US" dirty="0" err="1">
                <a:solidFill>
                  <a:schemeClr val="dk1"/>
                </a:solidFill>
              </a:rPr>
              <a:t>là</a:t>
            </a:r>
            <a:r>
              <a:rPr lang="en-US" dirty="0">
                <a:solidFill>
                  <a:schemeClr val="dk1"/>
                </a:solidFill>
              </a:rPr>
              <a:t> </a:t>
            </a:r>
            <a:r>
              <a:rPr lang="en-US" dirty="0" err="1">
                <a:solidFill>
                  <a:schemeClr val="dk1"/>
                </a:solidFill>
              </a:rPr>
              <a:t>tìm</a:t>
            </a:r>
            <a:r>
              <a:rPr lang="en-US" dirty="0">
                <a:solidFill>
                  <a:schemeClr val="dk1"/>
                </a:solidFill>
              </a:rPr>
              <a:t> </a:t>
            </a:r>
            <a:r>
              <a:rPr lang="vi" sz="1100" dirty="0">
                <a:solidFill>
                  <a:schemeClr val="dk1"/>
                </a:solidFill>
                <a:latin typeface="Calibri"/>
                <a:ea typeface="Calibri"/>
                <a:cs typeface="Calibri"/>
                <a:sym typeface="Calibri"/>
              </a:rPr>
              <a:t>Loss of Gamma particle energy in material</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Để</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làm</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được</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điều</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này</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chúng</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tôi</a:t>
            </a:r>
            <a:r>
              <a:rPr lang="en-US" sz="1100" dirty="0">
                <a:solidFill>
                  <a:schemeClr val="dk1"/>
                </a:solidFill>
                <a:latin typeface="Calibri"/>
                <a:ea typeface="Calibri"/>
                <a:cs typeface="Calibri"/>
                <a:sym typeface="Calibri"/>
              </a:rPr>
              <a:t>  đ</a:t>
            </a:r>
            <a:r>
              <a:rPr lang="vi" dirty="0">
                <a:solidFill>
                  <a:schemeClr val="dk1"/>
                </a:solidFill>
              </a:rPr>
              <a:t>ặt các tấm vật liệu khác nhau trên Attachable Groove Holder nằm giữa nguồn và detector sau đó thu năng lượng của các hạt gamma xuyên qua được vật liệu đi tới detector</a:t>
            </a:r>
            <a:endParaRPr lang="en-US" dirty="0">
              <a:solidFill>
                <a:schemeClr val="dk1"/>
              </a:solidFill>
            </a:endParaRPr>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endParaRPr lang="en-US" dirty="0">
              <a:solidFill>
                <a:schemeClr val="dk1"/>
              </a:solidFill>
            </a:endParaRPr>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dirty="0"/>
              <a:t>In experiment 2 our goal is to find the Loss of Gamma particle energy in material. To do this we place different material plates on between the source and the detector and then collect the energy of the gamma particles that pass through the material and reach the detector.</a:t>
            </a:r>
            <a:endParaRPr lang="en-US"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
        <p:nvSpPr>
          <p:cNvPr id="238" name="Google Shape;238;g3714c9b84e1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714c9b84e1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dirty="0"/>
              <a:t>Khi có che chắn thì số hạt từ nguồn phân rã đến detector giảm đi, tùy độ dầy và loại vật liệu khác nhau mà sự suy giảm này có giá trị  khác nhau </a:t>
            </a:r>
            <a:endParaRPr dirty="0"/>
          </a:p>
          <a:p>
            <a:pPr marL="0" lvl="0" indent="0" algn="l" rtl="0">
              <a:spcBef>
                <a:spcPts val="0"/>
              </a:spcBef>
              <a:spcAft>
                <a:spcPts val="0"/>
              </a:spcAft>
              <a:buNone/>
            </a:pPr>
            <a:r>
              <a:rPr lang="vi" dirty="0"/>
              <a:t>suy ra vật liệu</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the result</a:t>
            </a:r>
          </a:p>
          <a:p>
            <a:pPr marL="0" lvl="0" indent="0" algn="l" rtl="0">
              <a:spcBef>
                <a:spcPts val="0"/>
              </a:spcBef>
              <a:spcAft>
                <a:spcPts val="0"/>
              </a:spcAft>
              <a:buNone/>
            </a:pPr>
            <a:r>
              <a:rPr lang="en-US" dirty="0"/>
              <a:t>When shielded, the number of particles from the decay source to the detector is reduced, depending on the thickness and type of material, this reduction has different</a:t>
            </a:r>
          </a:p>
          <a:p>
            <a:pPr marL="0" lvl="0" indent="0" algn="l" rtl="0">
              <a:spcBef>
                <a:spcPts val="0"/>
              </a:spcBef>
              <a:spcAft>
                <a:spcPts val="0"/>
              </a:spcAft>
              <a:buNone/>
            </a:pPr>
            <a:r>
              <a:rPr lang="en-US" dirty="0"/>
              <a:t>Here, We select the particles with energy greater than 38 KeV as high energy particles and the rest as low energy particles</a:t>
            </a:r>
            <a:endParaRPr dirty="0"/>
          </a:p>
        </p:txBody>
      </p:sp>
      <p:sp>
        <p:nvSpPr>
          <p:cNvPr id="251" name="Google Shape;251;g3714c9b84e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714c9b84e1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dirty="0"/>
              <a:t>Tỷ lệ của số hạt  năng lượng cao và số hạt năng lượng thấp. Khi che chắn càng nhiều thì số hạt năng lượng thấp càng giảm nên tỷ lệ càng tăng  </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ratio of the number of high-energy particles and the number of low-energy particles. The more shielding, the lower the number of low-energy particles, so the ratio increases</a:t>
            </a:r>
          </a:p>
          <a:p>
            <a:pPr marL="0" lvl="0" indent="0" algn="l" rtl="0">
              <a:spcBef>
                <a:spcPts val="0"/>
              </a:spcBef>
              <a:spcAft>
                <a:spcPts val="0"/>
              </a:spcAft>
              <a:buNone/>
            </a:pPr>
            <a:r>
              <a:rPr lang="en-US" dirty="0"/>
              <a:t>__________</a:t>
            </a:r>
          </a:p>
          <a:p>
            <a:pPr marL="0" lvl="0" indent="0" algn="l" rtl="0">
              <a:spcBef>
                <a:spcPts val="0"/>
              </a:spcBef>
              <a:spcAft>
                <a:spcPts val="0"/>
              </a:spcAft>
              <a:buNone/>
            </a:pPr>
            <a:r>
              <a:rPr lang="en-US" dirty="0"/>
              <a:t>. Then we calculate the ratio between the number of high energy particles and the number of low energy particles for each case. The result of this can be used to study the material characteristics and the penetrating ability of the particles</a:t>
            </a:r>
          </a:p>
        </p:txBody>
      </p:sp>
      <p:sp>
        <p:nvSpPr>
          <p:cNvPr id="259" name="Google Shape;259;g3714c9b84e1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71673599a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71673599a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dirty="0"/>
              <a:t>Dựa vào độ suy giảm năng lượng của các hạt trong không khí và năng lượng suy giảm của các hạt qua tấm vật liệu để tìm độ dày của vật liệu</a:t>
            </a:r>
            <a:endParaRPr dirty="0"/>
          </a:p>
          <a:p>
            <a:pPr marL="0" lvl="0" indent="0" algn="l" rtl="0">
              <a:spcBef>
                <a:spcPts val="0"/>
              </a:spcBef>
              <a:spcAft>
                <a:spcPts val="0"/>
              </a:spcAft>
              <a:buNone/>
            </a:pPr>
            <a:r>
              <a:rPr lang="vi" dirty="0"/>
              <a:t>Ví dụ tính độ dày của miếng nhôm, miếng nhựa</a:t>
            </a: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experiment 3, our goal is to measure the thickness of the material. To do this, we rely on the energy attenuation of the particles in the air and the energy attenuation of the particles through the material to find the thickness of the material.</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 example, here we calculate the thickness of the aluminum piece</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714c9b84e1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dirty="0"/>
              <a:t>độ dày vật liệu air distance</a:t>
            </a:r>
            <a:endParaRPr dirty="0"/>
          </a:p>
          <a:p>
            <a:pPr marL="0" lvl="0" indent="0" algn="l" rtl="0">
              <a:spcBef>
                <a:spcPts val="0"/>
              </a:spcBef>
              <a:spcAft>
                <a:spcPts val="0"/>
              </a:spcAft>
              <a:buNone/>
            </a:pPr>
            <a:r>
              <a:rPr lang="vi" dirty="0"/>
              <a:t>Số hạt bị vật liệu (miếng nhôm)  có độ dày d_AL hấp thụ bằng với số hạt bị không khí hấp thụ ở khoảng cách d_air . Từ đó tính được độ dày của miếng vật liệu </a:t>
            </a:r>
            <a:endParaRPr dirty="0"/>
          </a:p>
          <a:p>
            <a:pPr marL="0" lvl="0" indent="0" algn="l" rtl="0">
              <a:spcBef>
                <a:spcPts val="0"/>
              </a:spcBef>
              <a:spcAft>
                <a:spcPts val="0"/>
              </a:spcAft>
              <a:buClr>
                <a:schemeClr val="dk1"/>
              </a:buClr>
              <a:buSzPts val="1100"/>
              <a:buFont typeface="Arial"/>
              <a:buNone/>
            </a:pPr>
            <a:r>
              <a:rPr lang="vi" dirty="0"/>
              <a:t>\rho_{air}.d_{air} = \rho_{Al}.d_{Al}\\</a:t>
            </a:r>
            <a:endParaRPr dirty="0"/>
          </a:p>
          <a:p>
            <a:pPr marL="0" lvl="0" indent="0" algn="l" rtl="0">
              <a:spcBef>
                <a:spcPts val="0"/>
              </a:spcBef>
              <a:spcAft>
                <a:spcPts val="0"/>
              </a:spcAft>
              <a:buClr>
                <a:schemeClr val="dk1"/>
              </a:buClr>
              <a:buSzPts val="1100"/>
              <a:buFont typeface="Arial"/>
              <a:buNone/>
            </a:pPr>
            <a:r>
              <a:rPr lang="vi" dirty="0"/>
              <a:t>\Rightarrow d_{Al} = \frac{\rho_{air}.d_{air}}{\rho_{Al}}\\</a:t>
            </a:r>
            <a:endParaRPr dirty="0"/>
          </a:p>
          <a:p>
            <a:pPr marL="0" lvl="0" indent="0" algn="l" rtl="0">
              <a:spcBef>
                <a:spcPts val="0"/>
              </a:spcBef>
              <a:spcAft>
                <a:spcPts val="0"/>
              </a:spcAft>
              <a:buClr>
                <a:schemeClr val="dk1"/>
              </a:buClr>
              <a:buSzPts val="1100"/>
              <a:buFont typeface="Arial"/>
              <a:buNone/>
            </a:pPr>
            <a:r>
              <a:rPr lang="vi" dirty="0"/>
              <a:t>\rho_{air} =  1,2 kg/m³ \qquad \rho_{Al}= 2700kg/m3</a:t>
            </a:r>
            <a:endParaRPr lang="en-US" dirty="0"/>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dirty="0"/>
              <a:t>d_{Al} = 0.0086 \;mm \</a:t>
            </a:r>
            <a:r>
              <a:rPr lang="en-US" dirty="0" err="1"/>
              <a:t>qquad</a:t>
            </a:r>
            <a:r>
              <a:rPr lang="en-US" dirty="0"/>
              <a:t> d_{PCV}=0.01\; mm\\</a:t>
            </a:r>
            <a:endParaRPr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assuming the number of particles absorbed by the material (aluminum plate) with thickness </a:t>
            </a:r>
            <a:r>
              <a:rPr lang="en-US" dirty="0" err="1"/>
              <a:t>d_AL</a:t>
            </a:r>
            <a:r>
              <a:rPr lang="en-US" dirty="0"/>
              <a:t> is equal to the number of particles absorbed by the air at the distance </a:t>
            </a:r>
            <a:r>
              <a:rPr lang="en-US" dirty="0" err="1"/>
              <a:t>d_air</a:t>
            </a:r>
            <a:r>
              <a:rPr lang="en-US" dirty="0"/>
              <a:t>. We have the formula.</a:t>
            </a:r>
          </a:p>
          <a:p>
            <a:pPr marL="0" lvl="0" indent="0" algn="l" rtl="0">
              <a:spcBef>
                <a:spcPts val="0"/>
              </a:spcBef>
              <a:spcAft>
                <a:spcPts val="0"/>
              </a:spcAft>
              <a:buNone/>
            </a:pPr>
            <a:r>
              <a:rPr lang="en-US" dirty="0"/>
              <a:t>Density of air time distance in air equal to  Density of aluminum time thickness of aluminum.</a:t>
            </a:r>
          </a:p>
          <a:p>
            <a:pPr marL="0" lvl="0" indent="0" algn="l" rtl="0">
              <a:spcBef>
                <a:spcPts val="0"/>
              </a:spcBef>
              <a:spcAft>
                <a:spcPts val="0"/>
              </a:spcAft>
              <a:buNone/>
            </a:pPr>
            <a:r>
              <a:rPr lang="en-US" dirty="0"/>
              <a:t>We have the value of the density of air, the distance the particles travel in the air, and also the density of aluminum. We can deduce the thickness of the material. We can do the same for other materials. The result of the thickness of the aluminum plate we have calculated is</a:t>
            </a:r>
          </a:p>
          <a:p>
            <a:pPr marL="0" lvl="0" indent="0" algn="l" rtl="0">
              <a:spcBef>
                <a:spcPts val="0"/>
              </a:spcBef>
              <a:spcAft>
                <a:spcPts val="0"/>
              </a:spcAft>
              <a:buNone/>
            </a:pPr>
            <a:endParaRPr dirty="0"/>
          </a:p>
        </p:txBody>
      </p:sp>
      <p:sp>
        <p:nvSpPr>
          <p:cNvPr id="273" name="Google Shape;273;g3714c9b84e1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6f97f53874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6f97f5387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p15"/>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63" name="Google Shape;63;p15"/>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4" name="Google Shape;64;p15"/>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p15"/>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8" name="Google Shape;68;p16"/>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69" name="Google Shape;69;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0" name="Google Shape;70;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1" name="Google Shape;71;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4" name="Google Shape;74;p17"/>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5" name="Google Shape;75;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6" name="Google Shape;76;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7" name="Google Shape;77;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0" name="Google Shape;80;p18"/>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1" name="Google Shape;81;p18"/>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2" name="Google Shape;82;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3" name="Google Shape;83;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7" name="Google Shape;87;p19"/>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88" name="Google Shape;88;p19"/>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89" name="Google Shape;89;p19"/>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2" name="Google Shape;92;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3" name="Google Shape;93;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6" name="Google Shape;96;p20"/>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7" name="Google Shape;97;p20"/>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8" name="Google Shape;98;p20"/>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1" name="Google Shape;101;p21"/>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4" name="Google Shape;104;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5" name="Google Shape;105;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8" name="Google Shape;108;p22"/>
          <p:cNvSpPr>
            <a:spLocks noGrp="1"/>
          </p:cNvSpPr>
          <p:nvPr>
            <p:ph type="pic" idx="2"/>
          </p:nvPr>
        </p:nvSpPr>
        <p:spPr>
          <a:xfrm>
            <a:off x="896144" y="306388"/>
            <a:ext cx="2743200" cy="2057400"/>
          </a:xfrm>
          <a:prstGeom prst="rect">
            <a:avLst/>
          </a:prstGeom>
          <a:noFill/>
          <a:ln>
            <a:noFill/>
          </a:ln>
        </p:spPr>
      </p:sp>
      <p:sp>
        <p:nvSpPr>
          <p:cNvPr id="109" name="Google Shape;109;p22"/>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1" name="Google Shape;111;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2" name="Google Shape;112;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5" name="Google Shape;115;p23"/>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6" name="Google Shape;116;p2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7" name="Google Shape;117;p2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8" name="Google Shape;118;p2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1" name="Google Shape;121;p24"/>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2" name="Google Shape;122;p2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3" name="Google Shape;123;p2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4" name="Google Shape;124;p2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p:nvPr/>
        </p:nvSpPr>
        <p:spPr>
          <a:xfrm>
            <a:off x="5277926" y="3236131"/>
            <a:ext cx="3351600" cy="150810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vi" dirty="0">
                <a:solidFill>
                  <a:srgbClr val="202124"/>
                </a:solidFill>
                <a:highlight>
                  <a:srgbClr val="FFFFFF"/>
                </a:highlight>
                <a:latin typeface="Roboto"/>
                <a:ea typeface="Roboto"/>
                <a:cs typeface="Roboto"/>
                <a:sym typeface="Roboto"/>
              </a:rPr>
              <a:t>Instructor: </a:t>
            </a:r>
            <a:r>
              <a:rPr lang="en-US" dirty="0">
                <a:solidFill>
                  <a:srgbClr val="202124"/>
                </a:solidFill>
                <a:highlight>
                  <a:srgbClr val="FFFFFF"/>
                </a:highlight>
                <a:latin typeface="Roboto"/>
                <a:ea typeface="Roboto"/>
                <a:cs typeface="Roboto"/>
                <a:sym typeface="Roboto"/>
              </a:rPr>
              <a:t> </a:t>
            </a:r>
            <a:r>
              <a:rPr lang="vi" dirty="0">
                <a:solidFill>
                  <a:srgbClr val="202124"/>
                </a:solidFill>
                <a:highlight>
                  <a:srgbClr val="FFFFFF"/>
                </a:highlight>
                <a:latin typeface="Roboto"/>
                <a:ea typeface="Roboto"/>
                <a:cs typeface="Roboto"/>
                <a:sym typeface="Roboto"/>
              </a:rPr>
              <a:t>Michael Holik</a:t>
            </a:r>
            <a:r>
              <a:rPr lang="en-US" dirty="0">
                <a:solidFill>
                  <a:srgbClr val="202124"/>
                </a:solidFill>
                <a:highlight>
                  <a:srgbClr val="FFFFFF"/>
                </a:highlight>
                <a:latin typeface="Roboto"/>
                <a:ea typeface="Roboto"/>
                <a:cs typeface="Roboto"/>
                <a:sym typeface="Roboto"/>
              </a:rPr>
              <a:t>, John Hoang</a:t>
            </a:r>
            <a:r>
              <a:rPr lang="en-US">
                <a:solidFill>
                  <a:srgbClr val="202124"/>
                </a:solidFill>
                <a:highlight>
                  <a:srgbClr val="FFFFFF"/>
                </a:highlight>
                <a:latin typeface="Roboto"/>
                <a:ea typeface="Roboto"/>
                <a:cs typeface="Roboto"/>
                <a:sym typeface="Roboto"/>
              </a:rPr>
              <a:t>, 	Son Cao</a:t>
            </a:r>
            <a:endParaRPr lang="en-US" dirty="0">
              <a:solidFill>
                <a:srgbClr val="202124"/>
              </a:solidFill>
              <a:highlight>
                <a:srgbClr val="FFFFFF"/>
              </a:highlight>
              <a:latin typeface="Roboto"/>
              <a:ea typeface="Roboto"/>
              <a:cs typeface="Roboto"/>
              <a:sym typeface="Roboto"/>
            </a:endParaRPr>
          </a:p>
          <a:p>
            <a:pPr marL="0" marR="0" lvl="0" indent="0" algn="just" rtl="0">
              <a:lnSpc>
                <a:spcPct val="140000"/>
              </a:lnSpc>
              <a:spcBef>
                <a:spcPts val="0"/>
              </a:spcBef>
              <a:spcAft>
                <a:spcPts val="0"/>
              </a:spcAft>
              <a:buNone/>
            </a:pPr>
            <a:r>
              <a:rPr lang="en-US" dirty="0">
                <a:solidFill>
                  <a:srgbClr val="202124"/>
                </a:solidFill>
                <a:highlight>
                  <a:srgbClr val="FFFFFF"/>
                </a:highlight>
                <a:latin typeface="Roboto"/>
                <a:ea typeface="Roboto"/>
                <a:cs typeface="Roboto"/>
                <a:sym typeface="Roboto"/>
              </a:rPr>
              <a:t>Members: Nguyen Dinh Trung</a:t>
            </a:r>
          </a:p>
          <a:p>
            <a:pPr marL="0" marR="0" lvl="0" indent="0" algn="just" rtl="0">
              <a:lnSpc>
                <a:spcPct val="140000"/>
              </a:lnSpc>
              <a:spcBef>
                <a:spcPts val="0"/>
              </a:spcBef>
              <a:spcAft>
                <a:spcPts val="0"/>
              </a:spcAft>
              <a:buNone/>
            </a:pPr>
            <a:r>
              <a:rPr lang="en-US" dirty="0">
                <a:solidFill>
                  <a:srgbClr val="202124"/>
                </a:solidFill>
                <a:highlight>
                  <a:srgbClr val="FFFFFF"/>
                </a:highlight>
                <a:latin typeface="Roboto"/>
                <a:ea typeface="Roboto"/>
                <a:cs typeface="Roboto"/>
                <a:sym typeface="Roboto"/>
              </a:rPr>
              <a:t>	Vu Quang Hai</a:t>
            </a:r>
          </a:p>
          <a:p>
            <a:pPr marL="0" marR="0" lvl="0" indent="0" algn="just" rtl="0">
              <a:lnSpc>
                <a:spcPct val="140000"/>
              </a:lnSpc>
              <a:spcBef>
                <a:spcPts val="0"/>
              </a:spcBef>
              <a:spcAft>
                <a:spcPts val="0"/>
              </a:spcAft>
              <a:buNone/>
            </a:pPr>
            <a:r>
              <a:rPr lang="en-US" dirty="0">
                <a:solidFill>
                  <a:srgbClr val="202124"/>
                </a:solidFill>
                <a:highlight>
                  <a:srgbClr val="FFFFFF"/>
                </a:highlight>
                <a:latin typeface="Roboto"/>
                <a:ea typeface="Roboto"/>
                <a:cs typeface="Roboto"/>
                <a:sym typeface="Roboto"/>
              </a:rPr>
              <a:t>	Vo </a:t>
            </a:r>
            <a:r>
              <a:rPr lang="en-US" dirty="0" err="1">
                <a:solidFill>
                  <a:srgbClr val="202124"/>
                </a:solidFill>
                <a:highlight>
                  <a:srgbClr val="FFFFFF"/>
                </a:highlight>
                <a:latin typeface="Roboto"/>
                <a:ea typeface="Roboto"/>
                <a:cs typeface="Roboto"/>
                <a:sym typeface="Roboto"/>
              </a:rPr>
              <a:t>Thi</a:t>
            </a:r>
            <a:r>
              <a:rPr lang="en-US" dirty="0">
                <a:solidFill>
                  <a:srgbClr val="202124"/>
                </a:solidFill>
                <a:highlight>
                  <a:srgbClr val="FFFFFF"/>
                </a:highlight>
                <a:latin typeface="Roboto"/>
                <a:ea typeface="Roboto"/>
                <a:cs typeface="Roboto"/>
                <a:sym typeface="Roboto"/>
              </a:rPr>
              <a:t> Y Nhi</a:t>
            </a:r>
          </a:p>
        </p:txBody>
      </p:sp>
      <p:sp>
        <p:nvSpPr>
          <p:cNvPr id="130" name="Google Shape;130;p25"/>
          <p:cNvSpPr txBox="1"/>
          <p:nvPr/>
        </p:nvSpPr>
        <p:spPr>
          <a:xfrm>
            <a:off x="4762501" y="1305265"/>
            <a:ext cx="3867150" cy="1516056"/>
          </a:xfrm>
          <a:prstGeom prst="rect">
            <a:avLst/>
          </a:prstGeom>
          <a:noFill/>
          <a:ln>
            <a:noFill/>
          </a:ln>
        </p:spPr>
        <p:txBody>
          <a:bodyPr spcFirstLastPara="1" wrap="square" lIns="0" tIns="0" rIns="0" bIns="0" anchor="t" anchorCtr="0">
            <a:spAutoFit/>
          </a:bodyPr>
          <a:lstStyle/>
          <a:p>
            <a:pPr marL="0" marR="0" lvl="0" indent="0" algn="l" rtl="0">
              <a:lnSpc>
                <a:spcPct val="121002"/>
              </a:lnSpc>
              <a:spcBef>
                <a:spcPts val="0"/>
              </a:spcBef>
              <a:spcAft>
                <a:spcPts val="0"/>
              </a:spcAft>
              <a:buNone/>
            </a:pPr>
            <a:r>
              <a:rPr lang="vi" sz="5000" b="1" i="0" u="none" strike="noStrike" cap="none" dirty="0">
                <a:solidFill>
                  <a:srgbClr val="1836B2"/>
                </a:solidFill>
                <a:latin typeface="Cabin"/>
                <a:ea typeface="Cabin"/>
                <a:cs typeface="Cabin"/>
                <a:sym typeface="Cabin"/>
              </a:rPr>
              <a:t>Timepix Experiments</a:t>
            </a:r>
            <a:endParaRPr sz="700" dirty="0"/>
          </a:p>
        </p:txBody>
      </p:sp>
      <p:sp>
        <p:nvSpPr>
          <p:cNvPr id="131" name="Google Shape;131;p25"/>
          <p:cNvSpPr/>
          <p:nvPr/>
        </p:nvSpPr>
        <p:spPr>
          <a:xfrm>
            <a:off x="7739789" y="3675666"/>
            <a:ext cx="2378330" cy="2202561"/>
          </a:xfrm>
          <a:custGeom>
            <a:avLst/>
            <a:gdLst/>
            <a:ahLst/>
            <a:cxnLst/>
            <a:rect l="l" t="t" r="r" b="b"/>
            <a:pathLst>
              <a:path w="5800804" h="5372100" extrusionOk="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a:ln>
            <a:noFill/>
          </a:ln>
        </p:spPr>
      </p:sp>
      <p:sp>
        <p:nvSpPr>
          <p:cNvPr id="132" name="Google Shape;132;p25"/>
          <p:cNvSpPr/>
          <p:nvPr/>
        </p:nvSpPr>
        <p:spPr>
          <a:xfrm rot="10800000">
            <a:off x="4138970" y="-2163941"/>
            <a:ext cx="5109686" cy="3115818"/>
          </a:xfrm>
          <a:custGeom>
            <a:avLst/>
            <a:gdLst/>
            <a:ahLst/>
            <a:cxnLst/>
            <a:rect l="l" t="t" r="r" b="b"/>
            <a:pathLst>
              <a:path w="8809803" h="5372100" extrusionOk="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p:nvPr/>
        </p:nvSpPr>
        <p:spPr>
          <a:xfrm rot="10800000">
            <a:off x="-917530" y="-2250941"/>
            <a:ext cx="5109686" cy="3115818"/>
          </a:xfrm>
          <a:custGeom>
            <a:avLst/>
            <a:gdLst/>
            <a:ahLst/>
            <a:cxnLst/>
            <a:rect l="l" t="t" r="r" b="b"/>
            <a:pathLst>
              <a:path w="8809803" h="5372100" extrusionOk="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a:ln>
            <a:noFill/>
          </a:ln>
        </p:spPr>
      </p:sp>
      <p:sp>
        <p:nvSpPr>
          <p:cNvPr id="138" name="Google Shape;138;p26"/>
          <p:cNvSpPr txBox="1"/>
          <p:nvPr/>
        </p:nvSpPr>
        <p:spPr>
          <a:xfrm>
            <a:off x="1089600" y="1518000"/>
            <a:ext cx="6180600" cy="2823000"/>
          </a:xfrm>
          <a:prstGeom prst="rect">
            <a:avLst/>
          </a:prstGeom>
          <a:noFill/>
          <a:ln>
            <a:noFill/>
          </a:ln>
        </p:spPr>
        <p:txBody>
          <a:bodyPr spcFirstLastPara="1" wrap="square" lIns="0" tIns="0" rIns="0" bIns="0" anchor="t" anchorCtr="0">
            <a:spAutoFit/>
          </a:bodyPr>
          <a:lstStyle/>
          <a:p>
            <a:pPr marL="457200" marR="0" lvl="0" indent="-368300" algn="l" rtl="0">
              <a:lnSpc>
                <a:spcPct val="140000"/>
              </a:lnSpc>
              <a:spcBef>
                <a:spcPts val="0"/>
              </a:spcBef>
              <a:spcAft>
                <a:spcPts val="0"/>
              </a:spcAft>
              <a:buSzPts val="2200"/>
              <a:buAutoNum type="arabicPeriod"/>
            </a:pPr>
            <a:r>
              <a:rPr lang="vi" sz="2200" dirty="0"/>
              <a:t>Purpose of Timepix Development</a:t>
            </a:r>
            <a:endParaRPr sz="2200" dirty="0"/>
          </a:p>
          <a:p>
            <a:pPr marL="457200" marR="0" lvl="0" indent="-368300" algn="just" rtl="0">
              <a:lnSpc>
                <a:spcPct val="140000"/>
              </a:lnSpc>
              <a:spcBef>
                <a:spcPts val="0"/>
              </a:spcBef>
              <a:spcAft>
                <a:spcPts val="0"/>
              </a:spcAft>
              <a:buSzPts val="2200"/>
              <a:buAutoNum type="arabicPeriod"/>
            </a:pPr>
            <a:r>
              <a:rPr lang="vi" sz="2200" dirty="0"/>
              <a:t>How to observe?</a:t>
            </a:r>
            <a:endParaRPr sz="2200" dirty="0"/>
          </a:p>
          <a:p>
            <a:pPr marL="457200" marR="0" lvl="0" indent="-368300" algn="just" rtl="0">
              <a:lnSpc>
                <a:spcPct val="140000"/>
              </a:lnSpc>
              <a:spcBef>
                <a:spcPts val="0"/>
              </a:spcBef>
              <a:spcAft>
                <a:spcPts val="0"/>
              </a:spcAft>
              <a:buSzPts val="2200"/>
              <a:buAutoNum type="arabicPeriod"/>
            </a:pPr>
            <a:r>
              <a:rPr lang="vi" sz="2200" dirty="0"/>
              <a:t>Experimental Results and Data Analysis</a:t>
            </a:r>
            <a:endParaRPr sz="2200" dirty="0"/>
          </a:p>
          <a:p>
            <a:pPr marL="914400" lvl="1" indent="-374650" algn="l" rtl="0">
              <a:spcBef>
                <a:spcPts val="0"/>
              </a:spcBef>
              <a:spcAft>
                <a:spcPts val="0"/>
              </a:spcAft>
              <a:buSzPts val="2300"/>
              <a:buAutoNum type="alphaLcPeriod"/>
            </a:pPr>
            <a:r>
              <a:rPr lang="vi" sz="2200" dirty="0">
                <a:solidFill>
                  <a:schemeClr val="dk1"/>
                </a:solidFill>
                <a:latin typeface="Calibri"/>
                <a:ea typeface="Calibri"/>
                <a:cs typeface="Calibri"/>
                <a:sym typeface="Calibri"/>
              </a:rPr>
              <a:t>Loss of alpha particle in air</a:t>
            </a:r>
            <a:endParaRPr sz="2200" dirty="0">
              <a:solidFill>
                <a:schemeClr val="dk1"/>
              </a:solidFill>
              <a:latin typeface="Calibri"/>
              <a:ea typeface="Calibri"/>
              <a:cs typeface="Calibri"/>
              <a:sym typeface="Calibri"/>
            </a:endParaRPr>
          </a:p>
          <a:p>
            <a:pPr marL="914400" lvl="1" indent="-368300" algn="l" rtl="0">
              <a:spcBef>
                <a:spcPts val="0"/>
              </a:spcBef>
              <a:spcAft>
                <a:spcPts val="0"/>
              </a:spcAft>
              <a:buSzPts val="2200"/>
              <a:buAutoNum type="alphaLcPeriod"/>
            </a:pPr>
            <a:r>
              <a:rPr lang="vi" sz="2200" dirty="0">
                <a:solidFill>
                  <a:schemeClr val="dk1"/>
                </a:solidFill>
                <a:latin typeface="Calibri"/>
                <a:ea typeface="Calibri"/>
                <a:cs typeface="Calibri"/>
                <a:sym typeface="Calibri"/>
              </a:rPr>
              <a:t>Loss of Gamma particle energy in material</a:t>
            </a:r>
            <a:endParaRPr sz="2200" dirty="0">
              <a:solidFill>
                <a:schemeClr val="dk1"/>
              </a:solidFill>
              <a:latin typeface="Calibri"/>
              <a:ea typeface="Calibri"/>
              <a:cs typeface="Calibri"/>
              <a:sym typeface="Calibri"/>
            </a:endParaRPr>
          </a:p>
          <a:p>
            <a:pPr marL="914400" lvl="1" indent="-381000" algn="l" rtl="0">
              <a:spcBef>
                <a:spcPts val="0"/>
              </a:spcBef>
              <a:spcAft>
                <a:spcPts val="0"/>
              </a:spcAft>
              <a:buClr>
                <a:schemeClr val="dk1"/>
              </a:buClr>
              <a:buSzPts val="2400"/>
              <a:buAutoNum type="alphaLcPeriod"/>
            </a:pPr>
            <a:r>
              <a:rPr lang="vi" sz="2200" dirty="0">
                <a:solidFill>
                  <a:schemeClr val="dk1"/>
                </a:solidFill>
                <a:latin typeface="Calibri"/>
                <a:ea typeface="Calibri"/>
                <a:cs typeface="Calibri"/>
                <a:sym typeface="Calibri"/>
              </a:rPr>
              <a:t>Calculate the thickness of the material</a:t>
            </a:r>
            <a:endParaRPr sz="2400" dirty="0">
              <a:solidFill>
                <a:schemeClr val="dk1"/>
              </a:solidFill>
              <a:latin typeface="Calibri"/>
              <a:ea typeface="Calibri"/>
              <a:cs typeface="Calibri"/>
              <a:sym typeface="Calibri"/>
            </a:endParaRPr>
          </a:p>
          <a:p>
            <a:pPr marL="457200" marR="0" lvl="0" indent="-368300" algn="just" rtl="0">
              <a:lnSpc>
                <a:spcPct val="140000"/>
              </a:lnSpc>
              <a:spcBef>
                <a:spcPts val="0"/>
              </a:spcBef>
              <a:spcAft>
                <a:spcPts val="0"/>
              </a:spcAft>
              <a:buSzPts val="2200"/>
              <a:buAutoNum type="arabicPeriod"/>
            </a:pPr>
            <a:r>
              <a:rPr lang="vi" sz="2200" dirty="0"/>
              <a:t>Summary</a:t>
            </a:r>
            <a:endParaRPr sz="2200" dirty="0"/>
          </a:p>
        </p:txBody>
      </p:sp>
      <p:sp>
        <p:nvSpPr>
          <p:cNvPr id="139" name="Google Shape;139;p26"/>
          <p:cNvSpPr txBox="1"/>
          <p:nvPr/>
        </p:nvSpPr>
        <p:spPr>
          <a:xfrm>
            <a:off x="521576" y="-10"/>
            <a:ext cx="3867300" cy="769500"/>
          </a:xfrm>
          <a:prstGeom prst="rect">
            <a:avLst/>
          </a:prstGeom>
          <a:noFill/>
          <a:ln>
            <a:noFill/>
          </a:ln>
        </p:spPr>
        <p:txBody>
          <a:bodyPr spcFirstLastPara="1" wrap="square" lIns="0" tIns="0" rIns="0" bIns="0" anchor="t" anchorCtr="0">
            <a:spAutoFit/>
          </a:bodyPr>
          <a:lstStyle/>
          <a:p>
            <a:pPr marL="0" marR="0" lvl="0" indent="0" algn="l" rtl="0">
              <a:lnSpc>
                <a:spcPct val="121002"/>
              </a:lnSpc>
              <a:spcBef>
                <a:spcPts val="0"/>
              </a:spcBef>
              <a:spcAft>
                <a:spcPts val="0"/>
              </a:spcAft>
              <a:buNone/>
            </a:pPr>
            <a:r>
              <a:rPr lang="vi" sz="5000" b="1">
                <a:solidFill>
                  <a:schemeClr val="lt1"/>
                </a:solidFill>
                <a:latin typeface="Cabin"/>
                <a:ea typeface="Cabin"/>
                <a:cs typeface="Cabin"/>
                <a:sym typeface="Cabin"/>
              </a:rPr>
              <a:t>Agenda</a:t>
            </a:r>
            <a:endParaRPr sz="700">
              <a:solidFill>
                <a:schemeClr val="lt1"/>
              </a:solidFill>
            </a:endParaRPr>
          </a:p>
        </p:txBody>
      </p:sp>
      <p:sp>
        <p:nvSpPr>
          <p:cNvPr id="140" name="Google Shape;140;p26"/>
          <p:cNvSpPr/>
          <p:nvPr/>
        </p:nvSpPr>
        <p:spPr>
          <a:xfrm>
            <a:off x="8218264" y="4143266"/>
            <a:ext cx="2378330" cy="2202561"/>
          </a:xfrm>
          <a:custGeom>
            <a:avLst/>
            <a:gdLst/>
            <a:ahLst/>
            <a:cxnLst/>
            <a:rect l="l" t="t" r="r" b="b"/>
            <a:pathLst>
              <a:path w="5800804" h="5372100" extrusionOk="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p:nvPr/>
        </p:nvSpPr>
        <p:spPr>
          <a:xfrm>
            <a:off x="296875" y="244125"/>
            <a:ext cx="7534800" cy="66018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900" b="1" dirty="0">
                <a:solidFill>
                  <a:srgbClr val="1836B2"/>
                </a:solidFill>
                <a:latin typeface="Cabin SemiBold"/>
                <a:sym typeface="Cabin SemiBold"/>
              </a:rPr>
              <a:t>What is </a:t>
            </a:r>
            <a:r>
              <a:rPr lang="en-US" sz="3900" b="1" dirty="0" err="1">
                <a:solidFill>
                  <a:srgbClr val="1836B2"/>
                </a:solidFill>
                <a:latin typeface="Cabin SemiBold"/>
                <a:sym typeface="Cabin SemiBold"/>
              </a:rPr>
              <a:t>Timepix</a:t>
            </a:r>
            <a:r>
              <a:rPr lang="en-US" sz="3900" b="1" dirty="0">
                <a:solidFill>
                  <a:srgbClr val="1836B2"/>
                </a:solidFill>
                <a:latin typeface="Cabin SemiBold"/>
                <a:sym typeface="Cabin SemiBold"/>
              </a:rPr>
              <a:t>?</a:t>
            </a:r>
            <a:endParaRPr sz="700" dirty="0"/>
          </a:p>
        </p:txBody>
      </p:sp>
      <p:sp>
        <p:nvSpPr>
          <p:cNvPr id="146" name="Google Shape;146;p27"/>
          <p:cNvSpPr txBox="1"/>
          <p:nvPr/>
        </p:nvSpPr>
        <p:spPr>
          <a:xfrm>
            <a:off x="396154" y="1178114"/>
            <a:ext cx="4856566" cy="3416290"/>
          </a:xfrm>
          <a:prstGeom prst="rect">
            <a:avLst/>
          </a:prstGeom>
          <a:noFill/>
          <a:ln>
            <a:noFill/>
          </a:ln>
        </p:spPr>
        <p:txBody>
          <a:bodyPr spcFirstLastPara="1" wrap="square" lIns="91425" tIns="91425" rIns="91425" bIns="91425" anchor="t" anchorCtr="0">
            <a:spAutoFit/>
          </a:bodyPr>
          <a:lstStyle/>
          <a:p>
            <a:pPr marL="171450" lvl="0" indent="-171450">
              <a:buClr>
                <a:schemeClr val="dk1"/>
              </a:buClr>
              <a:buSzPts val="1100"/>
              <a:buFont typeface="Arial" panose="020B0604020202020204" pitchFamily="34" charset="0"/>
              <a:buChar char="•"/>
            </a:pPr>
            <a:r>
              <a:rPr lang="en-US" b="1" dirty="0"/>
              <a:t>High-resolution pixel detector </a:t>
            </a:r>
            <a:r>
              <a:rPr lang="en-US" dirty="0"/>
              <a:t>developed by CERN's </a:t>
            </a:r>
            <a:r>
              <a:rPr lang="en-US" dirty="0" err="1"/>
              <a:t>Medipix</a:t>
            </a:r>
            <a:r>
              <a:rPr lang="en-US" dirty="0"/>
              <a:t> collaboration for single-photon counting applications</a:t>
            </a:r>
          </a:p>
          <a:p>
            <a:pPr marL="171450" lvl="0" indent="-171450">
              <a:buClr>
                <a:schemeClr val="dk1"/>
              </a:buClr>
              <a:buSzPts val="1100"/>
              <a:buFont typeface="Arial" panose="020B0604020202020204" pitchFamily="34" charset="0"/>
              <a:buChar char="•"/>
            </a:pPr>
            <a:endParaRPr lang="en-US" dirty="0"/>
          </a:p>
          <a:p>
            <a:pPr marL="171450" lvl="0" indent="-171450">
              <a:buClr>
                <a:schemeClr val="dk1"/>
              </a:buClr>
              <a:buSzPts val="1100"/>
              <a:buFont typeface="Arial" panose="020B0604020202020204" pitchFamily="34" charset="0"/>
              <a:buChar char="•"/>
            </a:pPr>
            <a:r>
              <a:rPr lang="en-US" b="1" dirty="0"/>
              <a:t>Versatile sensor integration </a:t>
            </a:r>
            <a:r>
              <a:rPr lang="en-US" dirty="0"/>
              <a:t>- compatible with various semiconductor sensors for direct radiation-to-electrical signal conversion</a:t>
            </a:r>
          </a:p>
          <a:p>
            <a:pPr marL="171450" lvl="0" indent="-171450">
              <a:buClr>
                <a:schemeClr val="dk1"/>
              </a:buClr>
              <a:buSzPts val="1100"/>
              <a:buFont typeface="Arial" panose="020B0604020202020204" pitchFamily="34" charset="0"/>
              <a:buChar char="•"/>
            </a:pPr>
            <a:endParaRPr lang="en-US" dirty="0"/>
          </a:p>
          <a:p>
            <a:pPr marL="171450" lvl="0" indent="-171450">
              <a:buClr>
                <a:schemeClr val="dk1"/>
              </a:buClr>
              <a:buSzPts val="1100"/>
              <a:buFont typeface="Arial" panose="020B0604020202020204" pitchFamily="34" charset="0"/>
              <a:buChar char="•"/>
            </a:pPr>
            <a:r>
              <a:rPr lang="en-US" b="1" dirty="0"/>
              <a:t>Multi-functional detection </a:t>
            </a:r>
            <a:r>
              <a:rPr lang="en-US" dirty="0"/>
              <a:t>capabilities including radiation presence detection, energy measurement, and particle type identification</a:t>
            </a:r>
          </a:p>
          <a:p>
            <a:pPr marL="171450" lvl="0" indent="-171450">
              <a:buClr>
                <a:schemeClr val="dk1"/>
              </a:buClr>
              <a:buSzPts val="1100"/>
              <a:buFont typeface="Arial" panose="020B0604020202020204" pitchFamily="34" charset="0"/>
              <a:buChar char="•"/>
            </a:pPr>
            <a:endParaRPr lang="en-US" dirty="0"/>
          </a:p>
          <a:p>
            <a:pPr marL="171450" lvl="0" indent="-171450">
              <a:buClr>
                <a:schemeClr val="dk1"/>
              </a:buClr>
              <a:buSzPts val="1100"/>
              <a:buFont typeface="Arial" panose="020B0604020202020204" pitchFamily="34" charset="0"/>
              <a:buChar char="•"/>
            </a:pPr>
            <a:r>
              <a:rPr lang="en-US" b="1" dirty="0"/>
              <a:t>Advanced imaging technology </a:t>
            </a:r>
            <a:r>
              <a:rPr lang="en-US" dirty="0"/>
              <a:t>combining high resolution and high contrast for precise radiation detection and analysis</a:t>
            </a:r>
            <a:endParaRPr dirty="0"/>
          </a:p>
        </p:txBody>
      </p:sp>
      <p:pic>
        <p:nvPicPr>
          <p:cNvPr id="3" name="Picture 2">
            <a:extLst>
              <a:ext uri="{FF2B5EF4-FFF2-40B4-BE49-F238E27FC236}">
                <a16:creationId xmlns:a16="http://schemas.microsoft.com/office/drawing/2014/main" id="{8E352E0A-1E1B-93F7-B4B8-616BBFE349DE}"/>
              </a:ext>
            </a:extLst>
          </p:cNvPr>
          <p:cNvPicPr>
            <a:picLocks noChangeAspect="1"/>
          </p:cNvPicPr>
          <p:nvPr/>
        </p:nvPicPr>
        <p:blipFill>
          <a:blip r:embed="rId3"/>
          <a:stretch>
            <a:fillRect/>
          </a:stretch>
        </p:blipFill>
        <p:spPr>
          <a:xfrm>
            <a:off x="5422029" y="980440"/>
            <a:ext cx="3232622" cy="2575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4517667-1247-42AC-260E-873D243D2DEE}"/>
            </a:ext>
          </a:extLst>
        </p:cNvPr>
        <p:cNvGrpSpPr/>
        <p:nvPr/>
      </p:nvGrpSpPr>
      <p:grpSpPr>
        <a:xfrm>
          <a:off x="0" y="0"/>
          <a:ext cx="0" cy="0"/>
          <a:chOff x="0" y="0"/>
          <a:chExt cx="0" cy="0"/>
        </a:xfrm>
      </p:grpSpPr>
      <p:sp>
        <p:nvSpPr>
          <p:cNvPr id="145" name="Google Shape;145;p27">
            <a:extLst>
              <a:ext uri="{FF2B5EF4-FFF2-40B4-BE49-F238E27FC236}">
                <a16:creationId xmlns:a16="http://schemas.microsoft.com/office/drawing/2014/main" id="{85A610A3-123F-F73D-48CF-BC14B89AF976}"/>
              </a:ext>
            </a:extLst>
          </p:cNvPr>
          <p:cNvSpPr txBox="1"/>
          <p:nvPr/>
        </p:nvSpPr>
        <p:spPr>
          <a:xfrm>
            <a:off x="296875" y="244125"/>
            <a:ext cx="7534800" cy="600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 sz="3900" b="1">
                <a:solidFill>
                  <a:srgbClr val="1836B2"/>
                </a:solidFill>
                <a:latin typeface="Cabin SemiBold"/>
                <a:ea typeface="Cabin SemiBold"/>
                <a:cs typeface="Cabin SemiBold"/>
                <a:sym typeface="Cabin SemiBold"/>
              </a:rPr>
              <a:t>Purpose of Timepix Development</a:t>
            </a:r>
            <a:endParaRPr sz="700"/>
          </a:p>
        </p:txBody>
      </p:sp>
      <p:sp>
        <p:nvSpPr>
          <p:cNvPr id="146" name="Google Shape;146;p27">
            <a:extLst>
              <a:ext uri="{FF2B5EF4-FFF2-40B4-BE49-F238E27FC236}">
                <a16:creationId xmlns:a16="http://schemas.microsoft.com/office/drawing/2014/main" id="{F21FA6DE-91E7-B35F-E478-DAD5050E2B73}"/>
              </a:ext>
            </a:extLst>
          </p:cNvPr>
          <p:cNvSpPr txBox="1"/>
          <p:nvPr/>
        </p:nvSpPr>
        <p:spPr>
          <a:xfrm>
            <a:off x="721000" y="1434475"/>
            <a:ext cx="7110600" cy="264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vi" sz="2000"/>
              <a:t>Precision: High spatial and energy resolution</a:t>
            </a:r>
            <a:br>
              <a:rPr lang="vi" sz="2000"/>
            </a:br>
            <a:endParaRPr sz="2000"/>
          </a:p>
          <a:p>
            <a:pPr marL="0" lvl="0" indent="0" algn="l" rtl="0">
              <a:spcBef>
                <a:spcPts val="0"/>
              </a:spcBef>
              <a:spcAft>
                <a:spcPts val="0"/>
              </a:spcAft>
              <a:buClr>
                <a:schemeClr val="dk1"/>
              </a:buClr>
              <a:buSzPts val="1100"/>
              <a:buFont typeface="Arial"/>
              <a:buNone/>
            </a:pPr>
            <a:r>
              <a:rPr lang="vi" sz="2000"/>
              <a:t>Versatility: Detects many types of radiation</a:t>
            </a:r>
            <a:br>
              <a:rPr lang="vi" sz="2000"/>
            </a:br>
            <a:endParaRPr sz="2000"/>
          </a:p>
          <a:p>
            <a:pPr marL="0" lvl="0" indent="0" algn="l" rtl="0">
              <a:spcBef>
                <a:spcPts val="0"/>
              </a:spcBef>
              <a:spcAft>
                <a:spcPts val="0"/>
              </a:spcAft>
              <a:buClr>
                <a:schemeClr val="dk1"/>
              </a:buClr>
              <a:buSzPts val="1100"/>
              <a:buFont typeface="Arial"/>
              <a:buNone/>
            </a:pPr>
            <a:r>
              <a:rPr lang="vi" sz="2000"/>
              <a:t>Clarity: Visualizes radiation in real-time</a:t>
            </a:r>
            <a:br>
              <a:rPr lang="vi" sz="2000"/>
            </a:br>
            <a:endParaRPr sz="2000"/>
          </a:p>
          <a:p>
            <a:pPr marL="0" lvl="0" indent="0" algn="l" rtl="0">
              <a:spcBef>
                <a:spcPts val="0"/>
              </a:spcBef>
              <a:spcAft>
                <a:spcPts val="0"/>
              </a:spcAft>
              <a:buClr>
                <a:schemeClr val="dk1"/>
              </a:buClr>
              <a:buSzPts val="1100"/>
              <a:buFont typeface="Arial"/>
              <a:buNone/>
            </a:pPr>
            <a:r>
              <a:rPr lang="vi" sz="2000"/>
              <a:t>Reliability: Proven performance in extreme conditions</a:t>
            </a:r>
            <a:endParaRPr sz="2000"/>
          </a:p>
          <a:p>
            <a:pPr marL="0" lvl="0" indent="0" algn="l" rtl="0">
              <a:spcBef>
                <a:spcPts val="0"/>
              </a:spcBef>
              <a:spcAft>
                <a:spcPts val="0"/>
              </a:spcAft>
              <a:buNone/>
            </a:pPr>
            <a:endParaRPr sz="2000"/>
          </a:p>
        </p:txBody>
      </p:sp>
    </p:spTree>
    <p:extLst>
      <p:ext uri="{BB962C8B-B14F-4D97-AF65-F5344CB8AC3E}">
        <p14:creationId xmlns:p14="http://schemas.microsoft.com/office/powerpoint/2010/main" val="167736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p:nvPr/>
        </p:nvSpPr>
        <p:spPr>
          <a:xfrm>
            <a:off x="296875" y="244115"/>
            <a:ext cx="4982100" cy="600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 sz="3900" b="1">
                <a:solidFill>
                  <a:srgbClr val="1836B2"/>
                </a:solidFill>
                <a:latin typeface="Cabin SemiBold"/>
                <a:ea typeface="Cabin SemiBold"/>
                <a:cs typeface="Cabin SemiBold"/>
                <a:sym typeface="Cabin SemiBold"/>
              </a:rPr>
              <a:t>How to observe?</a:t>
            </a:r>
            <a:endParaRPr sz="700"/>
          </a:p>
        </p:txBody>
      </p:sp>
      <p:grpSp>
        <p:nvGrpSpPr>
          <p:cNvPr id="152" name="Google Shape;152;p28"/>
          <p:cNvGrpSpPr/>
          <p:nvPr/>
        </p:nvGrpSpPr>
        <p:grpSpPr>
          <a:xfrm>
            <a:off x="6870519" y="-608781"/>
            <a:ext cx="4926357" cy="5838137"/>
            <a:chOff x="0" y="0"/>
            <a:chExt cx="13136951" cy="15568366"/>
          </a:xfrm>
        </p:grpSpPr>
        <p:sp>
          <p:nvSpPr>
            <p:cNvPr id="153" name="Google Shape;153;p28"/>
            <p:cNvSpPr/>
            <p:nvPr/>
          </p:nvSpPr>
          <p:spPr>
            <a:xfrm rot="10800000" flipH="1">
              <a:off x="0" y="0"/>
              <a:ext cx="10199044" cy="5823319"/>
            </a:xfrm>
            <a:custGeom>
              <a:avLst/>
              <a:gdLst/>
              <a:ahLst/>
              <a:cxnLst/>
              <a:rect l="l" t="t" r="r" b="b"/>
              <a:pathLst>
                <a:path w="10199044" h="5823319" extrusionOk="0">
                  <a:moveTo>
                    <a:pt x="0" y="5823319"/>
                  </a:moveTo>
                  <a:lnTo>
                    <a:pt x="10199044" y="5823319"/>
                  </a:lnTo>
                  <a:lnTo>
                    <a:pt x="10199044" y="0"/>
                  </a:lnTo>
                  <a:lnTo>
                    <a:pt x="0" y="0"/>
                  </a:lnTo>
                  <a:lnTo>
                    <a:pt x="0" y="5823319"/>
                  </a:lnTo>
                  <a:close/>
                </a:path>
              </a:pathLst>
            </a:custGeom>
            <a:blipFill rotWithShape="1">
              <a:blip r:embed="rId3">
                <a:alphaModFix/>
              </a:blip>
              <a:stretch>
                <a:fillRect t="-51567"/>
              </a:stretch>
            </a:blipFill>
            <a:ln>
              <a:noFill/>
            </a:ln>
          </p:spPr>
        </p:sp>
        <p:sp>
          <p:nvSpPr>
            <p:cNvPr id="154" name="Google Shape;154;p28"/>
            <p:cNvSpPr/>
            <p:nvPr/>
          </p:nvSpPr>
          <p:spPr>
            <a:xfrm rot="10800000">
              <a:off x="2110295" y="3508001"/>
              <a:ext cx="11026656" cy="12060365"/>
            </a:xfrm>
            <a:custGeom>
              <a:avLst/>
              <a:gdLst/>
              <a:ahLst/>
              <a:cxnLst/>
              <a:rect l="l" t="t" r="r" b="b"/>
              <a:pathLst>
                <a:path w="4911651" h="5372100" extrusionOk="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a:ln>
              <a:noFill/>
            </a:ln>
          </p:spPr>
        </p:sp>
      </p:grpSp>
      <p:sp>
        <p:nvSpPr>
          <p:cNvPr id="155" name="Google Shape;155;p28"/>
          <p:cNvSpPr txBox="1"/>
          <p:nvPr/>
        </p:nvSpPr>
        <p:spPr>
          <a:xfrm>
            <a:off x="296875" y="1043925"/>
            <a:ext cx="3427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sz="2000"/>
              <a:t>Device: SESTRA - </a:t>
            </a:r>
            <a:endParaRPr sz="2000"/>
          </a:p>
          <a:p>
            <a:pPr marL="0" lvl="0" indent="0" algn="l" rtl="0">
              <a:spcBef>
                <a:spcPts val="0"/>
              </a:spcBef>
              <a:spcAft>
                <a:spcPts val="0"/>
              </a:spcAft>
              <a:buNone/>
            </a:pPr>
            <a:r>
              <a:rPr lang="vi" sz="2000" b="1"/>
              <a:t>S</a:t>
            </a:r>
            <a:r>
              <a:rPr lang="vi" sz="2000"/>
              <a:t>chool </a:t>
            </a:r>
            <a:r>
              <a:rPr lang="vi" sz="2000" b="1"/>
              <a:t>E</a:t>
            </a:r>
            <a:r>
              <a:rPr lang="vi" sz="2000"/>
              <a:t>ducation </a:t>
            </a:r>
            <a:r>
              <a:rPr lang="vi" sz="2000" b="1"/>
              <a:t>S</a:t>
            </a:r>
            <a:r>
              <a:rPr lang="vi" sz="2000"/>
              <a:t>et with </a:t>
            </a:r>
            <a:r>
              <a:rPr lang="vi" sz="2000" b="1"/>
              <a:t>T</a:t>
            </a:r>
            <a:r>
              <a:rPr lang="vi" sz="2000"/>
              <a:t>imepix for </a:t>
            </a:r>
            <a:r>
              <a:rPr lang="vi" sz="2000" b="1"/>
              <a:t>R</a:t>
            </a:r>
            <a:r>
              <a:rPr lang="vi" sz="2000"/>
              <a:t>adiation </a:t>
            </a:r>
            <a:r>
              <a:rPr lang="vi" sz="2000" b="1"/>
              <a:t>A</a:t>
            </a:r>
            <a:r>
              <a:rPr lang="vi" sz="2000"/>
              <a:t>nalysis</a:t>
            </a:r>
            <a:endParaRPr sz="2000"/>
          </a:p>
        </p:txBody>
      </p:sp>
      <p:pic>
        <p:nvPicPr>
          <p:cNvPr id="156" name="Google Shape;156;p28"/>
          <p:cNvPicPr preferRelativeResize="0"/>
          <p:nvPr/>
        </p:nvPicPr>
        <p:blipFill>
          <a:blip r:embed="rId4">
            <a:alphaModFix/>
          </a:blip>
          <a:stretch>
            <a:fillRect/>
          </a:stretch>
        </p:blipFill>
        <p:spPr>
          <a:xfrm>
            <a:off x="3914875" y="998630"/>
            <a:ext cx="6718126" cy="36654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9"/>
          <p:cNvSpPr txBox="1"/>
          <p:nvPr/>
        </p:nvSpPr>
        <p:spPr>
          <a:xfrm>
            <a:off x="296875" y="244115"/>
            <a:ext cx="4982100" cy="600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 sz="3900" b="1">
                <a:solidFill>
                  <a:srgbClr val="1836B2"/>
                </a:solidFill>
                <a:latin typeface="Cabin SemiBold"/>
                <a:ea typeface="Cabin SemiBold"/>
                <a:cs typeface="Cabin SemiBold"/>
                <a:sym typeface="Cabin SemiBold"/>
              </a:rPr>
              <a:t>How to observe?</a:t>
            </a:r>
            <a:endParaRPr sz="700"/>
          </a:p>
        </p:txBody>
      </p:sp>
      <p:grpSp>
        <p:nvGrpSpPr>
          <p:cNvPr id="162" name="Google Shape;162;p29"/>
          <p:cNvGrpSpPr/>
          <p:nvPr/>
        </p:nvGrpSpPr>
        <p:grpSpPr>
          <a:xfrm>
            <a:off x="6870519" y="-608781"/>
            <a:ext cx="4926357" cy="5838137"/>
            <a:chOff x="0" y="0"/>
            <a:chExt cx="13136951" cy="15568366"/>
          </a:xfrm>
        </p:grpSpPr>
        <p:sp>
          <p:nvSpPr>
            <p:cNvPr id="163" name="Google Shape;163;p29"/>
            <p:cNvSpPr/>
            <p:nvPr/>
          </p:nvSpPr>
          <p:spPr>
            <a:xfrm rot="10800000" flipH="1">
              <a:off x="0" y="0"/>
              <a:ext cx="10199044" cy="5823319"/>
            </a:xfrm>
            <a:custGeom>
              <a:avLst/>
              <a:gdLst/>
              <a:ahLst/>
              <a:cxnLst/>
              <a:rect l="l" t="t" r="r" b="b"/>
              <a:pathLst>
                <a:path w="10199044" h="5823319" extrusionOk="0">
                  <a:moveTo>
                    <a:pt x="0" y="5823319"/>
                  </a:moveTo>
                  <a:lnTo>
                    <a:pt x="10199044" y="5823319"/>
                  </a:lnTo>
                  <a:lnTo>
                    <a:pt x="10199044" y="0"/>
                  </a:lnTo>
                  <a:lnTo>
                    <a:pt x="0" y="0"/>
                  </a:lnTo>
                  <a:lnTo>
                    <a:pt x="0" y="5823319"/>
                  </a:lnTo>
                  <a:close/>
                </a:path>
              </a:pathLst>
            </a:custGeom>
            <a:blipFill rotWithShape="1">
              <a:blip r:embed="rId3">
                <a:alphaModFix/>
              </a:blip>
              <a:stretch>
                <a:fillRect t="-51567"/>
              </a:stretch>
            </a:blipFill>
            <a:ln>
              <a:noFill/>
            </a:ln>
          </p:spPr>
        </p:sp>
        <p:sp>
          <p:nvSpPr>
            <p:cNvPr id="164" name="Google Shape;164;p29"/>
            <p:cNvSpPr/>
            <p:nvPr/>
          </p:nvSpPr>
          <p:spPr>
            <a:xfrm rot="10800000">
              <a:off x="2110295" y="3508001"/>
              <a:ext cx="11026656" cy="12060365"/>
            </a:xfrm>
            <a:custGeom>
              <a:avLst/>
              <a:gdLst/>
              <a:ahLst/>
              <a:cxnLst/>
              <a:rect l="l" t="t" r="r" b="b"/>
              <a:pathLst>
                <a:path w="4911651" h="5372100" extrusionOk="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a:ln>
              <a:noFill/>
            </a:ln>
          </p:spPr>
        </p:sp>
      </p:grpSp>
      <p:sp>
        <p:nvSpPr>
          <p:cNvPr id="165" name="Google Shape;165;p29"/>
          <p:cNvSpPr txBox="1"/>
          <p:nvPr/>
        </p:nvSpPr>
        <p:spPr>
          <a:xfrm>
            <a:off x="296875" y="1043925"/>
            <a:ext cx="34275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sz="2000"/>
              <a:t>Device: SESTRA - School Education Set with Timepix for Radiation Analysis</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vi" sz="2000"/>
              <a:t>Software: Pixelman</a:t>
            </a:r>
            <a:endParaRPr sz="2000"/>
          </a:p>
        </p:txBody>
      </p:sp>
      <p:pic>
        <p:nvPicPr>
          <p:cNvPr id="166" name="Google Shape;166;p29"/>
          <p:cNvPicPr preferRelativeResize="0"/>
          <p:nvPr/>
        </p:nvPicPr>
        <p:blipFill>
          <a:blip r:embed="rId4">
            <a:alphaModFix/>
          </a:blip>
          <a:stretch>
            <a:fillRect/>
          </a:stretch>
        </p:blipFill>
        <p:spPr>
          <a:xfrm>
            <a:off x="4435125" y="425374"/>
            <a:ext cx="6118800" cy="4292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pSp>
        <p:nvGrpSpPr>
          <p:cNvPr id="171" name="Google Shape;171;p30"/>
          <p:cNvGrpSpPr/>
          <p:nvPr/>
        </p:nvGrpSpPr>
        <p:grpSpPr>
          <a:xfrm>
            <a:off x="6870519" y="-608781"/>
            <a:ext cx="4926357" cy="5838137"/>
            <a:chOff x="0" y="0"/>
            <a:chExt cx="13136951" cy="15568366"/>
          </a:xfrm>
        </p:grpSpPr>
        <p:sp>
          <p:nvSpPr>
            <p:cNvPr id="172" name="Google Shape;172;p30"/>
            <p:cNvSpPr/>
            <p:nvPr/>
          </p:nvSpPr>
          <p:spPr>
            <a:xfrm rot="10800000" flipH="1">
              <a:off x="0" y="0"/>
              <a:ext cx="10199044" cy="5823319"/>
            </a:xfrm>
            <a:custGeom>
              <a:avLst/>
              <a:gdLst/>
              <a:ahLst/>
              <a:cxnLst/>
              <a:rect l="l" t="t" r="r" b="b"/>
              <a:pathLst>
                <a:path w="10199044" h="5823319" extrusionOk="0">
                  <a:moveTo>
                    <a:pt x="0" y="5823319"/>
                  </a:moveTo>
                  <a:lnTo>
                    <a:pt x="10199044" y="5823319"/>
                  </a:lnTo>
                  <a:lnTo>
                    <a:pt x="10199044" y="0"/>
                  </a:lnTo>
                  <a:lnTo>
                    <a:pt x="0" y="0"/>
                  </a:lnTo>
                  <a:lnTo>
                    <a:pt x="0" y="5823319"/>
                  </a:lnTo>
                  <a:close/>
                </a:path>
              </a:pathLst>
            </a:custGeom>
            <a:blipFill rotWithShape="1">
              <a:blip r:embed="rId3">
                <a:alphaModFix/>
              </a:blip>
              <a:stretch>
                <a:fillRect t="-51567"/>
              </a:stretch>
            </a:blipFill>
            <a:ln>
              <a:noFill/>
            </a:ln>
          </p:spPr>
        </p:sp>
        <p:sp>
          <p:nvSpPr>
            <p:cNvPr id="173" name="Google Shape;173;p30"/>
            <p:cNvSpPr/>
            <p:nvPr/>
          </p:nvSpPr>
          <p:spPr>
            <a:xfrm rot="10800000">
              <a:off x="2110295" y="3508001"/>
              <a:ext cx="11026656" cy="12060365"/>
            </a:xfrm>
            <a:custGeom>
              <a:avLst/>
              <a:gdLst/>
              <a:ahLst/>
              <a:cxnLst/>
              <a:rect l="l" t="t" r="r" b="b"/>
              <a:pathLst>
                <a:path w="4911651" h="5372100" extrusionOk="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a:ln>
              <a:noFill/>
            </a:ln>
          </p:spPr>
        </p:sp>
      </p:grpSp>
      <p:pic>
        <p:nvPicPr>
          <p:cNvPr id="174" name="Google Shape;174;p30"/>
          <p:cNvPicPr preferRelativeResize="0"/>
          <p:nvPr/>
        </p:nvPicPr>
        <p:blipFill>
          <a:blip r:embed="rId4">
            <a:alphaModFix/>
          </a:blip>
          <a:stretch>
            <a:fillRect/>
          </a:stretch>
        </p:blipFill>
        <p:spPr>
          <a:xfrm>
            <a:off x="4771424" y="256312"/>
            <a:ext cx="5887476" cy="4630875"/>
          </a:xfrm>
          <a:prstGeom prst="rect">
            <a:avLst/>
          </a:prstGeom>
          <a:noFill/>
          <a:ln>
            <a:noFill/>
          </a:ln>
        </p:spPr>
      </p:pic>
      <p:pic>
        <p:nvPicPr>
          <p:cNvPr id="175" name="Google Shape;175;p30"/>
          <p:cNvPicPr preferRelativeResize="0"/>
          <p:nvPr/>
        </p:nvPicPr>
        <p:blipFill>
          <a:blip r:embed="rId5">
            <a:alphaModFix/>
          </a:blip>
          <a:stretch>
            <a:fillRect/>
          </a:stretch>
        </p:blipFill>
        <p:spPr>
          <a:xfrm>
            <a:off x="2860963" y="1144500"/>
            <a:ext cx="1666875" cy="3295650"/>
          </a:xfrm>
          <a:prstGeom prst="rect">
            <a:avLst/>
          </a:prstGeom>
          <a:noFill/>
          <a:ln>
            <a:noFill/>
          </a:ln>
        </p:spPr>
      </p:pic>
      <p:sp>
        <p:nvSpPr>
          <p:cNvPr id="176" name="Google Shape;176;p30"/>
          <p:cNvSpPr txBox="1"/>
          <p:nvPr/>
        </p:nvSpPr>
        <p:spPr>
          <a:xfrm>
            <a:off x="617725" y="785550"/>
            <a:ext cx="1800300" cy="600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vi" sz="3900" b="1">
                <a:solidFill>
                  <a:srgbClr val="1836B2"/>
                </a:solidFill>
                <a:latin typeface="Cabin SemiBold"/>
                <a:ea typeface="Cabin SemiBold"/>
                <a:cs typeface="Cabin SemiBold"/>
                <a:sym typeface="Cabin SemiBold"/>
              </a:rPr>
              <a:t>Set up</a:t>
            </a:r>
            <a:endParaRPr sz="3900" b="1">
              <a:solidFill>
                <a:srgbClr val="1836B2"/>
              </a:solidFill>
              <a:latin typeface="Cabin SemiBold"/>
              <a:ea typeface="Cabin SemiBold"/>
              <a:cs typeface="Cabin SemiBold"/>
              <a:sym typeface="Cabin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p:nvPr/>
        </p:nvSpPr>
        <p:spPr>
          <a:xfrm>
            <a:off x="621500" y="153975"/>
            <a:ext cx="1546500" cy="46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latin typeface="Calibri"/>
                <a:ea typeface="Calibri"/>
                <a:cs typeface="Calibri"/>
                <a:sym typeface="Calibri"/>
              </a:rPr>
              <a:t>Collimated</a:t>
            </a:r>
            <a:endParaRPr sz="2000">
              <a:solidFill>
                <a:schemeClr val="dk1"/>
              </a:solidFill>
              <a:latin typeface="Calibri"/>
              <a:ea typeface="Calibri"/>
              <a:cs typeface="Calibri"/>
              <a:sym typeface="Calibri"/>
            </a:endParaRPr>
          </a:p>
        </p:txBody>
      </p:sp>
      <p:sp>
        <p:nvSpPr>
          <p:cNvPr id="182" name="Google Shape;182;p31"/>
          <p:cNvSpPr txBox="1"/>
          <p:nvPr/>
        </p:nvSpPr>
        <p:spPr>
          <a:xfrm>
            <a:off x="398900" y="2670250"/>
            <a:ext cx="1861200" cy="46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latin typeface="Calibri"/>
                <a:ea typeface="Calibri"/>
                <a:cs typeface="Calibri"/>
                <a:sym typeface="Calibri"/>
              </a:rPr>
              <a:t>Non-Collimated</a:t>
            </a:r>
            <a:endParaRPr sz="2000">
              <a:solidFill>
                <a:schemeClr val="dk1"/>
              </a:solidFill>
              <a:latin typeface="Calibri"/>
              <a:ea typeface="Calibri"/>
              <a:cs typeface="Calibri"/>
              <a:sym typeface="Calibri"/>
            </a:endParaRPr>
          </a:p>
        </p:txBody>
      </p:sp>
      <p:pic>
        <p:nvPicPr>
          <p:cNvPr id="183" name="Google Shape;183;p31" title="05-distance-focus3.png"/>
          <p:cNvPicPr preferRelativeResize="0"/>
          <p:nvPr/>
        </p:nvPicPr>
        <p:blipFill>
          <a:blip r:embed="rId3">
            <a:alphaModFix/>
          </a:blip>
          <a:stretch>
            <a:fillRect/>
          </a:stretch>
        </p:blipFill>
        <p:spPr>
          <a:xfrm>
            <a:off x="6972525" y="249638"/>
            <a:ext cx="1861075" cy="2266926"/>
          </a:xfrm>
          <a:prstGeom prst="rect">
            <a:avLst/>
          </a:prstGeom>
          <a:noFill/>
          <a:ln>
            <a:noFill/>
          </a:ln>
        </p:spPr>
      </p:pic>
      <p:pic>
        <p:nvPicPr>
          <p:cNvPr id="184" name="Google Shape;184;p31" title="05-distance-focus2.png"/>
          <p:cNvPicPr preferRelativeResize="0"/>
          <p:nvPr/>
        </p:nvPicPr>
        <p:blipFill>
          <a:blip r:embed="rId4">
            <a:alphaModFix/>
          </a:blip>
          <a:stretch>
            <a:fillRect/>
          </a:stretch>
        </p:blipFill>
        <p:spPr>
          <a:xfrm>
            <a:off x="4960950" y="249650"/>
            <a:ext cx="1861075" cy="2266920"/>
          </a:xfrm>
          <a:prstGeom prst="rect">
            <a:avLst/>
          </a:prstGeom>
          <a:noFill/>
          <a:ln>
            <a:noFill/>
          </a:ln>
        </p:spPr>
      </p:pic>
      <p:pic>
        <p:nvPicPr>
          <p:cNvPr id="185" name="Google Shape;185;p31" title="05-distance-focus1.png"/>
          <p:cNvPicPr preferRelativeResize="0"/>
          <p:nvPr/>
        </p:nvPicPr>
        <p:blipFill>
          <a:blip r:embed="rId5">
            <a:alphaModFix/>
          </a:blip>
          <a:stretch>
            <a:fillRect/>
          </a:stretch>
        </p:blipFill>
        <p:spPr>
          <a:xfrm>
            <a:off x="2949363" y="249638"/>
            <a:ext cx="1861092" cy="2266949"/>
          </a:xfrm>
          <a:prstGeom prst="rect">
            <a:avLst/>
          </a:prstGeom>
          <a:noFill/>
          <a:ln>
            <a:noFill/>
          </a:ln>
        </p:spPr>
      </p:pic>
      <p:pic>
        <p:nvPicPr>
          <p:cNvPr id="186" name="Google Shape;186;p31" title="05-distance-nonfocus1.png"/>
          <p:cNvPicPr preferRelativeResize="0"/>
          <p:nvPr/>
        </p:nvPicPr>
        <p:blipFill>
          <a:blip r:embed="rId6">
            <a:alphaModFix/>
          </a:blip>
          <a:stretch>
            <a:fillRect/>
          </a:stretch>
        </p:blipFill>
        <p:spPr>
          <a:xfrm>
            <a:off x="2934563" y="2709325"/>
            <a:ext cx="1890712" cy="2303029"/>
          </a:xfrm>
          <a:prstGeom prst="rect">
            <a:avLst/>
          </a:prstGeom>
          <a:noFill/>
          <a:ln>
            <a:noFill/>
          </a:ln>
        </p:spPr>
      </p:pic>
      <p:pic>
        <p:nvPicPr>
          <p:cNvPr id="187" name="Google Shape;187;p31" title="05-distance-nonfocus2.png"/>
          <p:cNvPicPr preferRelativeResize="0"/>
          <p:nvPr/>
        </p:nvPicPr>
        <p:blipFill>
          <a:blip r:embed="rId7">
            <a:alphaModFix/>
          </a:blip>
          <a:stretch>
            <a:fillRect/>
          </a:stretch>
        </p:blipFill>
        <p:spPr>
          <a:xfrm>
            <a:off x="4930100" y="2709325"/>
            <a:ext cx="1890712" cy="2303029"/>
          </a:xfrm>
          <a:prstGeom prst="rect">
            <a:avLst/>
          </a:prstGeom>
          <a:noFill/>
          <a:ln>
            <a:noFill/>
          </a:ln>
        </p:spPr>
      </p:pic>
      <p:pic>
        <p:nvPicPr>
          <p:cNvPr id="188" name="Google Shape;188;p31" title="05-distance-nonfocus3.png"/>
          <p:cNvPicPr preferRelativeResize="0"/>
          <p:nvPr/>
        </p:nvPicPr>
        <p:blipFill>
          <a:blip r:embed="rId8">
            <a:alphaModFix/>
          </a:blip>
          <a:stretch>
            <a:fillRect/>
          </a:stretch>
        </p:blipFill>
        <p:spPr>
          <a:xfrm>
            <a:off x="6925638" y="2670262"/>
            <a:ext cx="1954837" cy="2381150"/>
          </a:xfrm>
          <a:prstGeom prst="rect">
            <a:avLst/>
          </a:prstGeom>
          <a:noFill/>
          <a:ln>
            <a:noFill/>
          </a:ln>
        </p:spPr>
      </p:pic>
      <p:pic>
        <p:nvPicPr>
          <p:cNvPr id="189" name="Google Shape;189;p31"/>
          <p:cNvPicPr preferRelativeResize="0"/>
          <p:nvPr/>
        </p:nvPicPr>
        <p:blipFill rotWithShape="1">
          <a:blip r:embed="rId9">
            <a:alphaModFix/>
          </a:blip>
          <a:srcRect l="16147" r="18373"/>
          <a:stretch/>
        </p:blipFill>
        <p:spPr>
          <a:xfrm>
            <a:off x="606375" y="667250"/>
            <a:ext cx="1446249" cy="1714475"/>
          </a:xfrm>
          <a:prstGeom prst="rect">
            <a:avLst/>
          </a:prstGeom>
          <a:noFill/>
          <a:ln>
            <a:noFill/>
          </a:ln>
        </p:spPr>
      </p:pic>
      <p:pic>
        <p:nvPicPr>
          <p:cNvPr id="190" name="Google Shape;190;p31"/>
          <p:cNvPicPr preferRelativeResize="0"/>
          <p:nvPr/>
        </p:nvPicPr>
        <p:blipFill>
          <a:blip r:embed="rId10">
            <a:alphaModFix/>
          </a:blip>
          <a:stretch>
            <a:fillRect/>
          </a:stretch>
        </p:blipFill>
        <p:spPr>
          <a:xfrm>
            <a:off x="621499" y="3138553"/>
            <a:ext cx="1546500" cy="172947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32" title="set-loss-alpha.jpg"/>
          <p:cNvPicPr preferRelativeResize="0"/>
          <p:nvPr/>
        </p:nvPicPr>
        <p:blipFill rotWithShape="1">
          <a:blip r:embed="rId3">
            <a:alphaModFix/>
          </a:blip>
          <a:srcRect l="20274" t="25694"/>
          <a:stretch/>
        </p:blipFill>
        <p:spPr>
          <a:xfrm>
            <a:off x="256171" y="997950"/>
            <a:ext cx="3474600" cy="2428800"/>
          </a:xfrm>
          <a:prstGeom prst="round2DiagRect">
            <a:avLst>
              <a:gd name="adj1" fmla="val 16667"/>
              <a:gd name="adj2" fmla="val 0"/>
            </a:avLst>
          </a:prstGeom>
          <a:noFill/>
          <a:ln w="38100" cap="flat" cmpd="sng">
            <a:solidFill>
              <a:schemeClr val="dk2"/>
            </a:solidFill>
            <a:prstDash val="solid"/>
            <a:round/>
            <a:headEnd type="none" w="sm" len="sm"/>
            <a:tailEnd type="none" w="sm" len="sm"/>
          </a:ln>
        </p:spPr>
      </p:pic>
      <p:sp>
        <p:nvSpPr>
          <p:cNvPr id="196" name="Google Shape;196;p32"/>
          <p:cNvSpPr txBox="1"/>
          <p:nvPr/>
        </p:nvSpPr>
        <p:spPr>
          <a:xfrm>
            <a:off x="401800" y="110300"/>
            <a:ext cx="4241100" cy="5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2100">
                <a:solidFill>
                  <a:schemeClr val="dk1"/>
                </a:solidFill>
                <a:latin typeface="Calibri"/>
                <a:ea typeface="Calibri"/>
                <a:cs typeface="Calibri"/>
                <a:sym typeface="Calibri"/>
              </a:rPr>
              <a:t>1. Loss of alpha particale in air</a:t>
            </a:r>
            <a:endParaRPr sz="2100">
              <a:solidFill>
                <a:schemeClr val="dk1"/>
              </a:solidFill>
              <a:latin typeface="Calibri"/>
              <a:ea typeface="Calibri"/>
              <a:cs typeface="Calibri"/>
              <a:sym typeface="Calibri"/>
            </a:endParaRPr>
          </a:p>
        </p:txBody>
      </p:sp>
      <p:sp>
        <p:nvSpPr>
          <p:cNvPr id="197" name="Google Shape;197;p32"/>
          <p:cNvSpPr txBox="1"/>
          <p:nvPr/>
        </p:nvSpPr>
        <p:spPr>
          <a:xfrm>
            <a:off x="4954675" y="782050"/>
            <a:ext cx="4040400" cy="1854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vi" sz="1800">
                <a:solidFill>
                  <a:schemeClr val="dk1"/>
                </a:solidFill>
              </a:rPr>
              <a:t>Place the mounting rails moving platform 4,6,8....20mm apart from the MiniPixEDU Holder Adapter to collect the energy of the particles to the detector.</a:t>
            </a:r>
            <a:endParaRPr sz="1800">
              <a:solidFill>
                <a:schemeClr val="dk1"/>
              </a:solidFill>
              <a:latin typeface="Calibri"/>
              <a:ea typeface="Calibri"/>
              <a:cs typeface="Calibri"/>
              <a:sym typeface="Calibri"/>
            </a:endParaRPr>
          </a:p>
        </p:txBody>
      </p:sp>
      <p:pic>
        <p:nvPicPr>
          <p:cNvPr id="198" name="Google Shape;198;p32" title="distance_alpha.jpg"/>
          <p:cNvPicPr preferRelativeResize="0"/>
          <p:nvPr/>
        </p:nvPicPr>
        <p:blipFill>
          <a:blip r:embed="rId4">
            <a:alphaModFix/>
          </a:blip>
          <a:stretch>
            <a:fillRect/>
          </a:stretch>
        </p:blipFill>
        <p:spPr>
          <a:xfrm>
            <a:off x="2137250" y="2802575"/>
            <a:ext cx="3238500" cy="2428800"/>
          </a:xfrm>
          <a:prstGeom prst="round2DiagRect">
            <a:avLst>
              <a:gd name="adj1" fmla="val 16667"/>
              <a:gd name="adj2" fmla="val 0"/>
            </a:avLst>
          </a:prstGeom>
          <a:noFill/>
          <a:ln w="38100" cap="flat" cmpd="sng">
            <a:solidFill>
              <a:schemeClr val="dk2"/>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3" title="4mm-pic.png"/>
          <p:cNvPicPr preferRelativeResize="0"/>
          <p:nvPr/>
        </p:nvPicPr>
        <p:blipFill>
          <a:blip r:embed="rId3">
            <a:alphaModFix/>
          </a:blip>
          <a:stretch>
            <a:fillRect/>
          </a:stretch>
        </p:blipFill>
        <p:spPr>
          <a:xfrm>
            <a:off x="493174" y="738425"/>
            <a:ext cx="3427498" cy="1664230"/>
          </a:xfrm>
          <a:prstGeom prst="rect">
            <a:avLst/>
          </a:prstGeom>
          <a:noFill/>
          <a:ln>
            <a:noFill/>
          </a:ln>
        </p:spPr>
      </p:pic>
      <p:sp>
        <p:nvSpPr>
          <p:cNvPr id="204" name="Google Shape;204;p33"/>
          <p:cNvSpPr/>
          <p:nvPr/>
        </p:nvSpPr>
        <p:spPr>
          <a:xfrm rot="10800000">
            <a:off x="6050192" y="-339728"/>
            <a:ext cx="3980811" cy="1759363"/>
          </a:xfrm>
          <a:custGeom>
            <a:avLst/>
            <a:gdLst/>
            <a:ahLst/>
            <a:cxnLst/>
            <a:rect l="l" t="t" r="r" b="b"/>
            <a:pathLst>
              <a:path w="12155147" h="5372100" extrusionOk="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a:ln>
            <a:noFill/>
          </a:ln>
        </p:spPr>
      </p:sp>
      <p:sp>
        <p:nvSpPr>
          <p:cNvPr id="205" name="Google Shape;205;p33"/>
          <p:cNvSpPr txBox="1"/>
          <p:nvPr/>
        </p:nvSpPr>
        <p:spPr>
          <a:xfrm>
            <a:off x="6770850" y="195727"/>
            <a:ext cx="2539500" cy="1293000"/>
          </a:xfrm>
          <a:prstGeom prst="rect">
            <a:avLst/>
          </a:prstGeom>
          <a:noFill/>
          <a:ln>
            <a:noFill/>
          </a:ln>
        </p:spPr>
        <p:txBody>
          <a:bodyPr spcFirstLastPara="1" wrap="square" lIns="0" tIns="0" rIns="0" bIns="0" anchor="t" anchorCtr="0">
            <a:spAutoFit/>
          </a:bodyPr>
          <a:lstStyle/>
          <a:p>
            <a:pPr marL="0" marR="0" lvl="0" indent="0" algn="l" rtl="0">
              <a:lnSpc>
                <a:spcPct val="109993"/>
              </a:lnSpc>
              <a:spcBef>
                <a:spcPts val="0"/>
              </a:spcBef>
              <a:spcAft>
                <a:spcPts val="0"/>
              </a:spcAft>
              <a:buNone/>
            </a:pPr>
            <a:r>
              <a:rPr lang="vi" sz="4000" b="1">
                <a:solidFill>
                  <a:schemeClr val="lt1"/>
                </a:solidFill>
                <a:latin typeface="Cabin SemiBold"/>
                <a:ea typeface="Cabin SemiBold"/>
                <a:cs typeface="Cabin SemiBold"/>
                <a:sym typeface="Cabin SemiBold"/>
              </a:rPr>
              <a:t>Results</a:t>
            </a:r>
            <a:endParaRPr sz="4000" b="1">
              <a:solidFill>
                <a:schemeClr val="lt1"/>
              </a:solidFill>
              <a:latin typeface="Cabin SemiBold"/>
              <a:ea typeface="Cabin SemiBold"/>
              <a:cs typeface="Cabin SemiBold"/>
              <a:sym typeface="Cabin SemiBold"/>
            </a:endParaRPr>
          </a:p>
          <a:p>
            <a:pPr marL="0" marR="0" lvl="0" indent="0" algn="l" rtl="0">
              <a:lnSpc>
                <a:spcPct val="109993"/>
              </a:lnSpc>
              <a:spcBef>
                <a:spcPts val="0"/>
              </a:spcBef>
              <a:spcAft>
                <a:spcPts val="0"/>
              </a:spcAft>
              <a:buNone/>
            </a:pPr>
            <a:endParaRPr sz="4000" b="1">
              <a:solidFill>
                <a:schemeClr val="lt1"/>
              </a:solidFill>
              <a:latin typeface="Cabin SemiBold"/>
              <a:ea typeface="Cabin SemiBold"/>
              <a:cs typeface="Cabin SemiBold"/>
              <a:sym typeface="Cabin SemiBold"/>
            </a:endParaRPr>
          </a:p>
        </p:txBody>
      </p:sp>
      <p:sp>
        <p:nvSpPr>
          <p:cNvPr id="206" name="Google Shape;206;p33"/>
          <p:cNvSpPr txBox="1"/>
          <p:nvPr/>
        </p:nvSpPr>
        <p:spPr>
          <a:xfrm>
            <a:off x="1841025" y="2511450"/>
            <a:ext cx="58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t>4mm</a:t>
            </a:r>
            <a:endParaRPr/>
          </a:p>
        </p:txBody>
      </p:sp>
      <p:pic>
        <p:nvPicPr>
          <p:cNvPr id="207" name="Google Shape;207;p33" title="12mm-pic.png"/>
          <p:cNvPicPr preferRelativeResize="0"/>
          <p:nvPr/>
        </p:nvPicPr>
        <p:blipFill>
          <a:blip r:embed="rId4">
            <a:alphaModFix/>
          </a:blip>
          <a:stretch>
            <a:fillRect/>
          </a:stretch>
        </p:blipFill>
        <p:spPr>
          <a:xfrm>
            <a:off x="4358399" y="1488737"/>
            <a:ext cx="3875550" cy="1881775"/>
          </a:xfrm>
          <a:prstGeom prst="rect">
            <a:avLst/>
          </a:prstGeom>
          <a:noFill/>
          <a:ln>
            <a:noFill/>
          </a:ln>
        </p:spPr>
      </p:pic>
      <p:sp>
        <p:nvSpPr>
          <p:cNvPr id="208" name="Google Shape;208;p33"/>
          <p:cNvSpPr txBox="1"/>
          <p:nvPr/>
        </p:nvSpPr>
        <p:spPr>
          <a:xfrm>
            <a:off x="6136500" y="3493975"/>
            <a:ext cx="77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t>12mm</a:t>
            </a:r>
            <a:endParaRPr/>
          </a:p>
        </p:txBody>
      </p:sp>
      <p:pic>
        <p:nvPicPr>
          <p:cNvPr id="209" name="Google Shape;209;p33"/>
          <p:cNvPicPr preferRelativeResize="0"/>
          <p:nvPr/>
        </p:nvPicPr>
        <p:blipFill>
          <a:blip r:embed="rId5">
            <a:alphaModFix/>
          </a:blip>
          <a:stretch>
            <a:fillRect/>
          </a:stretch>
        </p:blipFill>
        <p:spPr>
          <a:xfrm>
            <a:off x="558963" y="3185650"/>
            <a:ext cx="3150317" cy="1529650"/>
          </a:xfrm>
          <a:prstGeom prst="rect">
            <a:avLst/>
          </a:prstGeom>
          <a:noFill/>
          <a:ln>
            <a:noFill/>
          </a:ln>
        </p:spPr>
      </p:pic>
      <p:sp>
        <p:nvSpPr>
          <p:cNvPr id="210" name="Google Shape;210;p33"/>
          <p:cNvSpPr txBox="1"/>
          <p:nvPr/>
        </p:nvSpPr>
        <p:spPr>
          <a:xfrm>
            <a:off x="1748775" y="4743300"/>
            <a:ext cx="77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t>20mm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4"/>
          <p:cNvSpPr/>
          <p:nvPr/>
        </p:nvSpPr>
        <p:spPr>
          <a:xfrm>
            <a:off x="0" y="4993218"/>
            <a:ext cx="8222866" cy="395815"/>
          </a:xfrm>
          <a:prstGeom prst="rect">
            <a:avLst/>
          </a:prstGeom>
          <a:solidFill>
            <a:srgbClr val="1836B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6" name="Google Shape;216;p34"/>
          <p:cNvSpPr/>
          <p:nvPr/>
        </p:nvSpPr>
        <p:spPr>
          <a:xfrm rot="10800000">
            <a:off x="7070566" y="4629150"/>
            <a:ext cx="1597024" cy="2110574"/>
          </a:xfrm>
          <a:custGeom>
            <a:avLst/>
            <a:gdLst/>
            <a:ahLst/>
            <a:cxnLst/>
            <a:rect l="l" t="t" r="r" b="b"/>
            <a:pathLst>
              <a:path w="4064946" h="5372100" extrusionOk="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a:ln>
            <a:noFill/>
          </a:ln>
        </p:spPr>
      </p:sp>
      <p:sp>
        <p:nvSpPr>
          <p:cNvPr id="217" name="Google Shape;217;p34"/>
          <p:cNvSpPr/>
          <p:nvPr/>
        </p:nvSpPr>
        <p:spPr>
          <a:xfrm rot="10800000">
            <a:off x="7831502" y="4629150"/>
            <a:ext cx="1597024" cy="2110574"/>
          </a:xfrm>
          <a:custGeom>
            <a:avLst/>
            <a:gdLst/>
            <a:ahLst/>
            <a:cxnLst/>
            <a:rect l="l" t="t" r="r" b="b"/>
            <a:pathLst>
              <a:path w="4064946" h="5372100" extrusionOk="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a:ln>
            <a:noFill/>
          </a:ln>
        </p:spPr>
      </p:sp>
      <p:sp>
        <p:nvSpPr>
          <p:cNvPr id="218" name="Google Shape;218;p34"/>
          <p:cNvSpPr txBox="1"/>
          <p:nvPr/>
        </p:nvSpPr>
        <p:spPr>
          <a:xfrm>
            <a:off x="5276850" y="1588550"/>
            <a:ext cx="3390900" cy="1139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sz="1600">
                <a:solidFill>
                  <a:schemeClr val="dk1"/>
                </a:solidFill>
              </a:rPr>
              <a:t>N: Number of Particles</a:t>
            </a:r>
            <a:endParaRPr sz="1600">
              <a:solidFill>
                <a:schemeClr val="dk1"/>
              </a:solidFill>
            </a:endParaRPr>
          </a:p>
          <a:p>
            <a:pPr marL="0" lvl="0" indent="0" algn="l" rtl="0">
              <a:spcBef>
                <a:spcPts val="0"/>
              </a:spcBef>
              <a:spcAft>
                <a:spcPts val="0"/>
              </a:spcAft>
              <a:buNone/>
            </a:pPr>
            <a:r>
              <a:rPr lang="vi" sz="1600">
                <a:solidFill>
                  <a:schemeClr val="dk1"/>
                </a:solidFill>
              </a:rPr>
              <a:t>x: Energy each Particles</a:t>
            </a:r>
            <a:endParaRPr sz="1600">
              <a:solidFill>
                <a:schemeClr val="dk1"/>
              </a:solidFill>
            </a:endParaRPr>
          </a:p>
          <a:p>
            <a:pPr marL="0" lvl="0" indent="0" algn="l" rtl="0">
              <a:spcBef>
                <a:spcPts val="0"/>
              </a:spcBef>
              <a:spcAft>
                <a:spcPts val="0"/>
              </a:spcAft>
              <a:buNone/>
            </a:pPr>
            <a:r>
              <a:rPr lang="vi" sz="1500">
                <a:solidFill>
                  <a:schemeClr val="dk1"/>
                </a:solidFill>
              </a:rPr>
              <a:t>μ: Mean of Energy</a:t>
            </a:r>
            <a:endParaRPr sz="1500">
              <a:solidFill>
                <a:schemeClr val="dk1"/>
              </a:solidFill>
            </a:endParaRPr>
          </a:p>
          <a:p>
            <a:pPr marL="0" lvl="0" indent="0" algn="l" rtl="0">
              <a:spcBef>
                <a:spcPts val="0"/>
              </a:spcBef>
              <a:spcAft>
                <a:spcPts val="0"/>
              </a:spcAft>
              <a:buNone/>
            </a:pPr>
            <a:r>
              <a:rPr lang="vi" sz="1500">
                <a:solidFill>
                  <a:schemeClr val="dk1"/>
                </a:solidFill>
              </a:rPr>
              <a:t>σ: Standard deviation</a:t>
            </a:r>
            <a:endParaRPr sz="600">
              <a:solidFill>
                <a:schemeClr val="dk1"/>
              </a:solidFill>
            </a:endParaRPr>
          </a:p>
        </p:txBody>
      </p:sp>
      <p:pic>
        <p:nvPicPr>
          <p:cNvPr id="219" name="Google Shape;219;p34" title="lagrida_latex_editor.png"/>
          <p:cNvPicPr preferRelativeResize="0"/>
          <p:nvPr/>
        </p:nvPicPr>
        <p:blipFill>
          <a:blip r:embed="rId3">
            <a:alphaModFix/>
          </a:blip>
          <a:stretch>
            <a:fillRect/>
          </a:stretch>
        </p:blipFill>
        <p:spPr>
          <a:xfrm>
            <a:off x="1045375" y="982200"/>
            <a:ext cx="3671875" cy="2475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p35"/>
          <p:cNvPicPr preferRelativeResize="0"/>
          <p:nvPr/>
        </p:nvPicPr>
        <p:blipFill rotWithShape="1">
          <a:blip r:embed="rId3">
            <a:alphaModFix/>
          </a:blip>
          <a:srcRect b="2856"/>
          <a:stretch/>
        </p:blipFill>
        <p:spPr>
          <a:xfrm>
            <a:off x="484200" y="237675"/>
            <a:ext cx="8523552" cy="4264249"/>
          </a:xfrm>
          <a:prstGeom prst="rect">
            <a:avLst/>
          </a:prstGeom>
          <a:noFill/>
          <a:ln>
            <a:noFill/>
          </a:ln>
        </p:spPr>
      </p:pic>
      <p:sp>
        <p:nvSpPr>
          <p:cNvPr id="225" name="Google Shape;225;p35"/>
          <p:cNvSpPr txBox="1"/>
          <p:nvPr/>
        </p:nvSpPr>
        <p:spPr>
          <a:xfrm>
            <a:off x="3960400" y="4578025"/>
            <a:ext cx="14244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latin typeface="Calibri"/>
                <a:ea typeface="Calibri"/>
                <a:cs typeface="Calibri"/>
                <a:sym typeface="Calibri"/>
              </a:rPr>
              <a:t>Distance (mm)</a:t>
            </a:r>
            <a:endParaRPr sz="1600">
              <a:solidFill>
                <a:schemeClr val="dk1"/>
              </a:solidFill>
              <a:latin typeface="Calibri"/>
              <a:ea typeface="Calibri"/>
              <a:cs typeface="Calibri"/>
              <a:sym typeface="Calibri"/>
            </a:endParaRPr>
          </a:p>
        </p:txBody>
      </p:sp>
      <p:sp>
        <p:nvSpPr>
          <p:cNvPr id="226" name="Google Shape;226;p35"/>
          <p:cNvSpPr txBox="1"/>
          <p:nvPr/>
        </p:nvSpPr>
        <p:spPr>
          <a:xfrm>
            <a:off x="3688525" y="97850"/>
            <a:ext cx="23163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Mean Energy vs Distance</a:t>
            </a:r>
            <a:endParaRPr sz="1600">
              <a:solidFill>
                <a:schemeClr val="dk1"/>
              </a:solidFill>
              <a:highlight>
                <a:schemeClr val="lt1"/>
              </a:highlight>
              <a:latin typeface="Calibri"/>
              <a:ea typeface="Calibri"/>
              <a:cs typeface="Calibri"/>
              <a:sym typeface="Calibri"/>
            </a:endParaRPr>
          </a:p>
        </p:txBody>
      </p:sp>
      <p:sp>
        <p:nvSpPr>
          <p:cNvPr id="227" name="Google Shape;227;p35"/>
          <p:cNvSpPr txBox="1"/>
          <p:nvPr/>
        </p:nvSpPr>
        <p:spPr>
          <a:xfrm>
            <a:off x="307950" y="2028025"/>
            <a:ext cx="7272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highlight>
                  <a:schemeClr val="lt1"/>
                </a:highlight>
              </a:rPr>
              <a:t>Mean</a:t>
            </a:r>
            <a:br>
              <a:rPr lang="vi">
                <a:highlight>
                  <a:schemeClr val="lt1"/>
                </a:highlight>
              </a:rPr>
            </a:br>
            <a:r>
              <a:rPr lang="vi">
                <a:highlight>
                  <a:schemeClr val="lt1"/>
                </a:highlight>
              </a:rPr>
              <a:t>+/-</a:t>
            </a:r>
            <a:r>
              <a:rPr lang="vi">
                <a:solidFill>
                  <a:schemeClr val="lt1"/>
                </a:solidFill>
                <a:highlight>
                  <a:schemeClr val="lt1"/>
                </a:highlight>
              </a:rPr>
              <a:t>h</a:t>
            </a:r>
            <a:endParaRPr>
              <a:solidFill>
                <a:schemeClr val="lt1"/>
              </a:solidFill>
              <a:highlight>
                <a:schemeClr val="lt1"/>
              </a:highlight>
            </a:endParaRPr>
          </a:p>
          <a:p>
            <a:pPr marL="0" lvl="0" indent="0" algn="l" rtl="0">
              <a:spcBef>
                <a:spcPts val="0"/>
              </a:spcBef>
              <a:spcAft>
                <a:spcPts val="0"/>
              </a:spcAft>
              <a:buNone/>
            </a:pPr>
            <a:r>
              <a:rPr lang="vi">
                <a:highlight>
                  <a:schemeClr val="lt1"/>
                </a:highlight>
              </a:rPr>
              <a:t>Std</a:t>
            </a:r>
            <a:endParaRPr>
              <a:highlight>
                <a:schemeClr val="lt1"/>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36"/>
          <p:cNvPicPr preferRelativeResize="0"/>
          <p:nvPr/>
        </p:nvPicPr>
        <p:blipFill>
          <a:blip r:embed="rId3">
            <a:alphaModFix/>
          </a:blip>
          <a:stretch>
            <a:fillRect/>
          </a:stretch>
        </p:blipFill>
        <p:spPr>
          <a:xfrm>
            <a:off x="602750" y="538350"/>
            <a:ext cx="8541249" cy="4307451"/>
          </a:xfrm>
          <a:prstGeom prst="rect">
            <a:avLst/>
          </a:prstGeom>
          <a:noFill/>
          <a:ln>
            <a:noFill/>
          </a:ln>
        </p:spPr>
      </p:pic>
      <p:sp>
        <p:nvSpPr>
          <p:cNvPr id="233" name="Google Shape;233;p36"/>
          <p:cNvSpPr txBox="1"/>
          <p:nvPr/>
        </p:nvSpPr>
        <p:spPr>
          <a:xfrm>
            <a:off x="4069125" y="391450"/>
            <a:ext cx="23163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Variation of Energy</a:t>
            </a:r>
            <a:endParaRPr sz="1600">
              <a:solidFill>
                <a:schemeClr val="dk1"/>
              </a:solidFill>
              <a:highlight>
                <a:schemeClr val="lt1"/>
              </a:highlight>
              <a:latin typeface="Calibri"/>
              <a:ea typeface="Calibri"/>
              <a:cs typeface="Calibri"/>
              <a:sym typeface="Calibri"/>
            </a:endParaRPr>
          </a:p>
        </p:txBody>
      </p:sp>
      <p:sp>
        <p:nvSpPr>
          <p:cNvPr id="234" name="Google Shape;234;p36"/>
          <p:cNvSpPr txBox="1"/>
          <p:nvPr/>
        </p:nvSpPr>
        <p:spPr>
          <a:xfrm>
            <a:off x="4161175" y="4599775"/>
            <a:ext cx="14244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Distance (mm)</a:t>
            </a:r>
            <a:endParaRPr sz="1600">
              <a:solidFill>
                <a:schemeClr val="dk1"/>
              </a:solidFill>
              <a:highlight>
                <a:schemeClr val="lt1"/>
              </a:highlight>
              <a:latin typeface="Calibri"/>
              <a:ea typeface="Calibri"/>
              <a:cs typeface="Calibri"/>
              <a:sym typeface="Calibri"/>
            </a:endParaRPr>
          </a:p>
        </p:txBody>
      </p:sp>
      <p:sp>
        <p:nvSpPr>
          <p:cNvPr id="235" name="Google Shape;235;p36"/>
          <p:cNvSpPr txBox="1"/>
          <p:nvPr/>
        </p:nvSpPr>
        <p:spPr>
          <a:xfrm>
            <a:off x="119600" y="2436975"/>
            <a:ext cx="8697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ΔE / ΔX</a:t>
            </a:r>
            <a:endParaRPr sz="1600">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grpSp>
        <p:nvGrpSpPr>
          <p:cNvPr id="240" name="Google Shape;240;p37"/>
          <p:cNvGrpSpPr/>
          <p:nvPr/>
        </p:nvGrpSpPr>
        <p:grpSpPr>
          <a:xfrm>
            <a:off x="6870519" y="-608781"/>
            <a:ext cx="4926357" cy="5838137"/>
            <a:chOff x="0" y="0"/>
            <a:chExt cx="13136951" cy="15568366"/>
          </a:xfrm>
        </p:grpSpPr>
        <p:sp>
          <p:nvSpPr>
            <p:cNvPr id="241" name="Google Shape;241;p37"/>
            <p:cNvSpPr/>
            <p:nvPr/>
          </p:nvSpPr>
          <p:spPr>
            <a:xfrm rot="10800000" flipH="1">
              <a:off x="0" y="0"/>
              <a:ext cx="10199044" cy="5823319"/>
            </a:xfrm>
            <a:custGeom>
              <a:avLst/>
              <a:gdLst/>
              <a:ahLst/>
              <a:cxnLst/>
              <a:rect l="l" t="t" r="r" b="b"/>
              <a:pathLst>
                <a:path w="10199044" h="5823319" extrusionOk="0">
                  <a:moveTo>
                    <a:pt x="0" y="5823319"/>
                  </a:moveTo>
                  <a:lnTo>
                    <a:pt x="10199044" y="5823319"/>
                  </a:lnTo>
                  <a:lnTo>
                    <a:pt x="10199044" y="0"/>
                  </a:lnTo>
                  <a:lnTo>
                    <a:pt x="0" y="0"/>
                  </a:lnTo>
                  <a:lnTo>
                    <a:pt x="0" y="5823319"/>
                  </a:lnTo>
                  <a:close/>
                </a:path>
              </a:pathLst>
            </a:custGeom>
            <a:blipFill rotWithShape="1">
              <a:blip r:embed="rId3">
                <a:alphaModFix/>
              </a:blip>
              <a:stretch>
                <a:fillRect t="-51567"/>
              </a:stretch>
            </a:blipFill>
            <a:ln>
              <a:noFill/>
            </a:ln>
          </p:spPr>
        </p:sp>
        <p:sp>
          <p:nvSpPr>
            <p:cNvPr id="242" name="Google Shape;242;p37"/>
            <p:cNvSpPr/>
            <p:nvPr/>
          </p:nvSpPr>
          <p:spPr>
            <a:xfrm rot="10800000">
              <a:off x="2110295" y="3508001"/>
              <a:ext cx="11026656" cy="12060365"/>
            </a:xfrm>
            <a:custGeom>
              <a:avLst/>
              <a:gdLst/>
              <a:ahLst/>
              <a:cxnLst/>
              <a:rect l="l" t="t" r="r" b="b"/>
              <a:pathLst>
                <a:path w="4911651" h="5372100" extrusionOk="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a:ln>
              <a:noFill/>
            </a:ln>
          </p:spPr>
        </p:sp>
      </p:grpSp>
      <p:pic>
        <p:nvPicPr>
          <p:cNvPr id="243" name="Google Shape;243;p37"/>
          <p:cNvPicPr preferRelativeResize="0"/>
          <p:nvPr/>
        </p:nvPicPr>
        <p:blipFill rotWithShape="1">
          <a:blip r:embed="rId4">
            <a:alphaModFix/>
          </a:blip>
          <a:srcRect l="17664" t="33945" r="22293" b="-3505"/>
          <a:stretch/>
        </p:blipFill>
        <p:spPr>
          <a:xfrm rot="-5400000">
            <a:off x="1123425" y="364800"/>
            <a:ext cx="2519100" cy="3891000"/>
          </a:xfrm>
          <a:prstGeom prst="round2DiagRect">
            <a:avLst>
              <a:gd name="adj1" fmla="val 16667"/>
              <a:gd name="adj2" fmla="val 0"/>
            </a:avLst>
          </a:prstGeom>
          <a:noFill/>
          <a:ln w="76200" cap="flat" cmpd="sng">
            <a:solidFill>
              <a:schemeClr val="dk1"/>
            </a:solidFill>
            <a:prstDash val="solid"/>
            <a:round/>
            <a:headEnd type="none" w="sm" len="sm"/>
            <a:tailEnd type="none" w="sm" len="sm"/>
          </a:ln>
        </p:spPr>
      </p:pic>
      <p:sp>
        <p:nvSpPr>
          <p:cNvPr id="244" name="Google Shape;244;p37"/>
          <p:cNvSpPr txBox="1"/>
          <p:nvPr/>
        </p:nvSpPr>
        <p:spPr>
          <a:xfrm>
            <a:off x="162475" y="79950"/>
            <a:ext cx="4119600" cy="6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2200" dirty="0">
                <a:solidFill>
                  <a:schemeClr val="dk1"/>
                </a:solidFill>
                <a:latin typeface="Calibri"/>
                <a:ea typeface="Calibri"/>
                <a:cs typeface="Calibri"/>
                <a:sym typeface="Calibri"/>
              </a:rPr>
              <a:t>2. Loss of Gamma particle energy in material</a:t>
            </a:r>
            <a:endParaRPr sz="2200" dirty="0">
              <a:solidFill>
                <a:schemeClr val="dk1"/>
              </a:solidFill>
              <a:latin typeface="Calibri"/>
              <a:ea typeface="Calibri"/>
              <a:cs typeface="Calibri"/>
              <a:sym typeface="Calibri"/>
            </a:endParaRPr>
          </a:p>
        </p:txBody>
      </p:sp>
      <p:pic>
        <p:nvPicPr>
          <p:cNvPr id="245" name="Google Shape;245;p37" title="gamma-loss-in-material-measure-alu-paper.jpg"/>
          <p:cNvPicPr preferRelativeResize="0"/>
          <p:nvPr/>
        </p:nvPicPr>
        <p:blipFill rotWithShape="1">
          <a:blip r:embed="rId5">
            <a:alphaModFix/>
          </a:blip>
          <a:srcRect l="31455" t="-1474" r="12988" b="24278"/>
          <a:stretch/>
        </p:blipFill>
        <p:spPr>
          <a:xfrm>
            <a:off x="4607061" y="236115"/>
            <a:ext cx="3810000" cy="2964300"/>
          </a:xfrm>
          <a:prstGeom prst="round2DiagRect">
            <a:avLst>
              <a:gd name="adj1" fmla="val 16667"/>
              <a:gd name="adj2" fmla="val 0"/>
            </a:avLst>
          </a:prstGeom>
          <a:noFill/>
          <a:ln w="76200" cap="flat" cmpd="sng">
            <a:solidFill>
              <a:schemeClr val="dk1"/>
            </a:solidFill>
            <a:prstDash val="solid"/>
            <a:round/>
            <a:headEnd type="none" w="sm" len="sm"/>
            <a:tailEnd type="none" w="sm" len="sm"/>
          </a:ln>
        </p:spPr>
      </p:pic>
      <p:pic>
        <p:nvPicPr>
          <p:cNvPr id="246" name="Google Shape;246;p37" title="gamma-loss-in-material-setup-alu-paper.jpg"/>
          <p:cNvPicPr preferRelativeResize="0"/>
          <p:nvPr/>
        </p:nvPicPr>
        <p:blipFill rotWithShape="1">
          <a:blip r:embed="rId6">
            <a:alphaModFix/>
          </a:blip>
          <a:srcRect t="10722" r="18765"/>
          <a:stretch/>
        </p:blipFill>
        <p:spPr>
          <a:xfrm>
            <a:off x="8037069" y="1423801"/>
            <a:ext cx="2139300" cy="3135000"/>
          </a:xfrm>
          <a:prstGeom prst="round2DiagRect">
            <a:avLst>
              <a:gd name="adj1" fmla="val 16667"/>
              <a:gd name="adj2" fmla="val 0"/>
            </a:avLst>
          </a:prstGeom>
          <a:noFill/>
          <a:ln w="76200" cap="flat" cmpd="sng">
            <a:solidFill>
              <a:schemeClr val="dk1"/>
            </a:solidFill>
            <a:prstDash val="solid"/>
            <a:round/>
            <a:headEnd type="none" w="sm" len="sm"/>
            <a:tailEnd type="none" w="sm" len="sm"/>
          </a:ln>
        </p:spPr>
      </p:pic>
      <p:sp>
        <p:nvSpPr>
          <p:cNvPr id="247" name="Google Shape;247;p37"/>
          <p:cNvSpPr txBox="1"/>
          <p:nvPr/>
        </p:nvSpPr>
        <p:spPr>
          <a:xfrm>
            <a:off x="362625" y="3562675"/>
            <a:ext cx="4040700" cy="118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248" name="Google Shape;248;p37"/>
          <p:cNvSpPr txBox="1"/>
          <p:nvPr/>
        </p:nvSpPr>
        <p:spPr>
          <a:xfrm>
            <a:off x="300775" y="3705975"/>
            <a:ext cx="7482300" cy="13335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vi" sz="1900" dirty="0">
                <a:solidFill>
                  <a:schemeClr val="dk1"/>
                </a:solidFill>
              </a:rPr>
              <a:t>Place different material plates on the Attachable Groove Holder between the source and the detector then collect the energy of the gamma particles that pass through the material to the detector</a:t>
            </a:r>
            <a:endParaRPr sz="1900" dirty="0">
              <a:solidFill>
                <a:schemeClr val="dk1"/>
              </a:solidFill>
            </a:endParaRPr>
          </a:p>
          <a:p>
            <a:pPr marL="0" lvl="0" indent="0" algn="just" rtl="0">
              <a:lnSpc>
                <a:spcPct val="115000"/>
              </a:lnSpc>
              <a:spcBef>
                <a:spcPts val="0"/>
              </a:spcBef>
              <a:spcAft>
                <a:spcPts val="0"/>
              </a:spcAft>
              <a:buClr>
                <a:schemeClr val="dk1"/>
              </a:buClr>
              <a:buSzPts val="1100"/>
              <a:buFont typeface="Arial"/>
              <a:buNone/>
            </a:pPr>
            <a:endParaRPr sz="1900" dirty="0">
              <a:solidFill>
                <a:schemeClr val="dk1"/>
              </a:solidFill>
            </a:endParaRPr>
          </a:p>
          <a:p>
            <a:pPr marL="0" lvl="0" indent="0" algn="just" rtl="0">
              <a:spcBef>
                <a:spcPts val="0"/>
              </a:spcBef>
              <a:spcAft>
                <a:spcPts val="0"/>
              </a:spcAft>
              <a:buNone/>
            </a:pPr>
            <a:endParaRPr sz="1900" dirty="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465700" y="450050"/>
            <a:ext cx="8406850" cy="4081451"/>
          </a:xfrm>
          <a:prstGeom prst="rect">
            <a:avLst/>
          </a:prstGeom>
          <a:noFill/>
          <a:ln>
            <a:noFill/>
          </a:ln>
        </p:spPr>
      </p:pic>
      <p:sp>
        <p:nvSpPr>
          <p:cNvPr id="254" name="Google Shape;254;p38"/>
          <p:cNvSpPr txBox="1"/>
          <p:nvPr/>
        </p:nvSpPr>
        <p:spPr>
          <a:xfrm>
            <a:off x="4199625" y="4251800"/>
            <a:ext cx="14244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Energy [keV]</a:t>
            </a:r>
            <a:endParaRPr sz="1600">
              <a:solidFill>
                <a:schemeClr val="dk1"/>
              </a:solidFill>
              <a:highlight>
                <a:schemeClr val="lt1"/>
              </a:highlight>
              <a:latin typeface="Calibri"/>
              <a:ea typeface="Calibri"/>
              <a:cs typeface="Calibri"/>
              <a:sym typeface="Calibri"/>
            </a:endParaRPr>
          </a:p>
        </p:txBody>
      </p:sp>
      <p:sp>
        <p:nvSpPr>
          <p:cNvPr id="255" name="Google Shape;255;p38"/>
          <p:cNvSpPr txBox="1"/>
          <p:nvPr/>
        </p:nvSpPr>
        <p:spPr>
          <a:xfrm>
            <a:off x="3821000" y="293750"/>
            <a:ext cx="20007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Energy Distribution</a:t>
            </a:r>
            <a:endParaRPr sz="1600">
              <a:solidFill>
                <a:schemeClr val="dk1"/>
              </a:solidFill>
              <a:highlight>
                <a:schemeClr val="lt1"/>
              </a:highlight>
              <a:latin typeface="Calibri"/>
              <a:ea typeface="Calibri"/>
              <a:cs typeface="Calibri"/>
              <a:sym typeface="Calibri"/>
            </a:endParaRPr>
          </a:p>
        </p:txBody>
      </p:sp>
      <p:sp>
        <p:nvSpPr>
          <p:cNvPr id="256" name="Google Shape;256;p38"/>
          <p:cNvSpPr txBox="1"/>
          <p:nvPr/>
        </p:nvSpPr>
        <p:spPr>
          <a:xfrm>
            <a:off x="0" y="2099300"/>
            <a:ext cx="1011000" cy="56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Particles</a:t>
            </a:r>
            <a:endParaRPr sz="1600">
              <a:solidFill>
                <a:schemeClr val="dk1"/>
              </a:solidFill>
              <a:highlight>
                <a:schemeClr val="lt1"/>
              </a:highlight>
              <a:latin typeface="Calibri"/>
              <a:ea typeface="Calibri"/>
              <a:cs typeface="Calibri"/>
              <a:sym typeface="Calibri"/>
            </a:endParaRPr>
          </a:p>
          <a:p>
            <a:pPr marL="0" lvl="0" indent="0" algn="l" rtl="0">
              <a:spcBef>
                <a:spcPts val="0"/>
              </a:spcBef>
              <a:spcAft>
                <a:spcPts val="0"/>
              </a:spcAft>
              <a:buNone/>
            </a:pPr>
            <a:r>
              <a:rPr lang="vi" sz="1600">
                <a:solidFill>
                  <a:schemeClr val="dk1"/>
                </a:solidFill>
                <a:highlight>
                  <a:schemeClr val="lt1"/>
                </a:highlight>
                <a:latin typeface="Calibri"/>
                <a:ea typeface="Calibri"/>
                <a:cs typeface="Calibri"/>
                <a:sym typeface="Calibri"/>
              </a:rPr>
              <a:t>           </a:t>
            </a:r>
            <a:r>
              <a:rPr lang="vi" sz="1600">
                <a:solidFill>
                  <a:schemeClr val="lt1"/>
                </a:solidFill>
                <a:highlight>
                  <a:schemeClr val="lt1"/>
                </a:highlight>
                <a:latin typeface="Calibri"/>
                <a:ea typeface="Calibri"/>
                <a:cs typeface="Calibri"/>
                <a:sym typeface="Calibri"/>
              </a:rPr>
              <a:t>fgfg</a:t>
            </a:r>
            <a:endParaRPr sz="1600">
              <a:solidFill>
                <a:schemeClr val="lt1"/>
              </a:solidFill>
              <a:highlight>
                <a:schemeClr val="lt1"/>
              </a:highlight>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39"/>
          <p:cNvPicPr preferRelativeResize="0"/>
          <p:nvPr/>
        </p:nvPicPr>
        <p:blipFill rotWithShape="1">
          <a:blip r:embed="rId3">
            <a:alphaModFix/>
          </a:blip>
          <a:srcRect l="1999"/>
          <a:stretch/>
        </p:blipFill>
        <p:spPr>
          <a:xfrm>
            <a:off x="1108825" y="259250"/>
            <a:ext cx="7831752" cy="4320799"/>
          </a:xfrm>
          <a:prstGeom prst="rect">
            <a:avLst/>
          </a:prstGeom>
          <a:noFill/>
          <a:ln>
            <a:noFill/>
          </a:ln>
        </p:spPr>
      </p:pic>
      <p:pic>
        <p:nvPicPr>
          <p:cNvPr id="262" name="Google Shape;262;p39" title="lagrida_latex_editor.png"/>
          <p:cNvPicPr preferRelativeResize="0"/>
          <p:nvPr/>
        </p:nvPicPr>
        <p:blipFill>
          <a:blip r:embed="rId4">
            <a:alphaModFix/>
          </a:blip>
          <a:stretch>
            <a:fillRect/>
          </a:stretch>
        </p:blipFill>
        <p:spPr>
          <a:xfrm>
            <a:off x="92250" y="2057625"/>
            <a:ext cx="892600" cy="412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0"/>
          <p:cNvSpPr txBox="1"/>
          <p:nvPr/>
        </p:nvSpPr>
        <p:spPr>
          <a:xfrm>
            <a:off x="312475" y="330875"/>
            <a:ext cx="46122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latin typeface="Calibri"/>
                <a:ea typeface="Calibri"/>
                <a:cs typeface="Calibri"/>
                <a:sym typeface="Calibri"/>
              </a:rPr>
              <a:t>3. Calculate the thickness of the material</a:t>
            </a:r>
            <a:endParaRPr sz="2000">
              <a:solidFill>
                <a:schemeClr val="dk1"/>
              </a:solidFill>
              <a:latin typeface="Calibri"/>
              <a:ea typeface="Calibri"/>
              <a:cs typeface="Calibri"/>
              <a:sym typeface="Calibri"/>
            </a:endParaRPr>
          </a:p>
        </p:txBody>
      </p:sp>
      <p:pic>
        <p:nvPicPr>
          <p:cNvPr id="268" name="Google Shape;268;p40" title="thick_of_Alu.jpg"/>
          <p:cNvPicPr preferRelativeResize="0"/>
          <p:nvPr/>
        </p:nvPicPr>
        <p:blipFill rotWithShape="1">
          <a:blip r:embed="rId3">
            <a:alphaModFix/>
          </a:blip>
          <a:srcRect l="14028" t="8248" r="10265"/>
          <a:stretch/>
        </p:blipFill>
        <p:spPr>
          <a:xfrm>
            <a:off x="5205350" y="501300"/>
            <a:ext cx="2747201" cy="4439624"/>
          </a:xfrm>
          <a:prstGeom prst="rect">
            <a:avLst/>
          </a:prstGeom>
          <a:noFill/>
          <a:ln w="28575" cap="flat" cmpd="sng">
            <a:solidFill>
              <a:srgbClr val="0000FF"/>
            </a:solidFill>
            <a:prstDash val="solid"/>
            <a:round/>
            <a:headEnd type="none" w="sm" len="sm"/>
            <a:tailEnd type="none" w="sm" len="sm"/>
          </a:ln>
        </p:spPr>
      </p:pic>
      <p:sp>
        <p:nvSpPr>
          <p:cNvPr id="269" name="Google Shape;269;p40"/>
          <p:cNvSpPr txBox="1"/>
          <p:nvPr/>
        </p:nvSpPr>
        <p:spPr>
          <a:xfrm>
            <a:off x="422775" y="1062800"/>
            <a:ext cx="4351500" cy="1794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vi" sz="2000" dirty="0">
                <a:solidFill>
                  <a:schemeClr val="dk1"/>
                </a:solidFill>
                <a:latin typeface="Calibri"/>
                <a:ea typeface="Calibri"/>
                <a:cs typeface="Calibri"/>
                <a:sym typeface="Calibri"/>
              </a:rPr>
              <a:t>Based on the energy attenuation of the particles in the air and the energy attenuation of the particles through the material to find the thickness of the material</a:t>
            </a:r>
            <a:endParaRPr sz="2000" dirty="0">
              <a:solidFill>
                <a:schemeClr val="dk1"/>
              </a:solidFill>
              <a:latin typeface="Calibri"/>
              <a:ea typeface="Calibri"/>
              <a:cs typeface="Calibri"/>
              <a:sym typeface="Calibri"/>
            </a:endParaRPr>
          </a:p>
        </p:txBody>
      </p:sp>
      <p:sp>
        <p:nvSpPr>
          <p:cNvPr id="270" name="Google Shape;270;p40"/>
          <p:cNvSpPr txBox="1"/>
          <p:nvPr/>
        </p:nvSpPr>
        <p:spPr>
          <a:xfrm>
            <a:off x="422775" y="3034250"/>
            <a:ext cx="4075500" cy="121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vi" sz="2000">
                <a:solidFill>
                  <a:schemeClr val="dk1"/>
                </a:solidFill>
                <a:latin typeface="Calibri"/>
                <a:ea typeface="Calibri"/>
                <a:cs typeface="Calibri"/>
                <a:sym typeface="Calibri"/>
              </a:rPr>
              <a:t>Example of calculating the thickness of aluminum and plastic pieces</a:t>
            </a:r>
            <a:endParaRPr sz="20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grpSp>
        <p:nvGrpSpPr>
          <p:cNvPr id="275" name="Google Shape;275;p41"/>
          <p:cNvGrpSpPr/>
          <p:nvPr/>
        </p:nvGrpSpPr>
        <p:grpSpPr>
          <a:xfrm>
            <a:off x="-863265" y="-117274"/>
            <a:ext cx="1379958" cy="3267949"/>
            <a:chOff x="0" y="-6471"/>
            <a:chExt cx="3679889" cy="8714530"/>
          </a:xfrm>
        </p:grpSpPr>
        <p:sp>
          <p:nvSpPr>
            <p:cNvPr id="276" name="Google Shape;276;p41"/>
            <p:cNvSpPr/>
            <p:nvPr/>
          </p:nvSpPr>
          <p:spPr>
            <a:xfrm rot="-5400000">
              <a:off x="-65342" y="4962829"/>
              <a:ext cx="3810572" cy="3679889"/>
            </a:xfrm>
            <a:custGeom>
              <a:avLst/>
              <a:gdLst/>
              <a:ahLst/>
              <a:cxnLst/>
              <a:rect l="l" t="t" r="r" b="b"/>
              <a:pathLst>
                <a:path w="5562879" h="5372100" extrusionOk="0">
                  <a:moveTo>
                    <a:pt x="4012209" y="0"/>
                  </a:moveTo>
                  <a:lnTo>
                    <a:pt x="1550670" y="0"/>
                  </a:lnTo>
                  <a:lnTo>
                    <a:pt x="0" y="2686050"/>
                  </a:lnTo>
                  <a:lnTo>
                    <a:pt x="1550670" y="5372100"/>
                  </a:lnTo>
                  <a:lnTo>
                    <a:pt x="4012209" y="5372100"/>
                  </a:lnTo>
                  <a:lnTo>
                    <a:pt x="5562879" y="2686050"/>
                  </a:lnTo>
                  <a:lnTo>
                    <a:pt x="4012209" y="0"/>
                  </a:lnTo>
                  <a:close/>
                </a:path>
              </a:pathLst>
            </a:custGeom>
            <a:solidFill>
              <a:srgbClr val="86C7ED"/>
            </a:solidFill>
            <a:ln>
              <a:noFill/>
            </a:ln>
          </p:spPr>
        </p:sp>
        <p:sp>
          <p:nvSpPr>
            <p:cNvPr id="277" name="Google Shape;277;p41"/>
            <p:cNvSpPr/>
            <p:nvPr/>
          </p:nvSpPr>
          <p:spPr>
            <a:xfrm rot="-5400000">
              <a:off x="-65342" y="4962829"/>
              <a:ext cx="3810572" cy="3679889"/>
            </a:xfrm>
            <a:custGeom>
              <a:avLst/>
              <a:gdLst/>
              <a:ahLst/>
              <a:cxnLst/>
              <a:rect l="l" t="t" r="r" b="b"/>
              <a:pathLst>
                <a:path w="5562879" h="5372100" extrusionOk="0">
                  <a:moveTo>
                    <a:pt x="4012209" y="0"/>
                  </a:moveTo>
                  <a:lnTo>
                    <a:pt x="1550670" y="0"/>
                  </a:lnTo>
                  <a:lnTo>
                    <a:pt x="0" y="2686050"/>
                  </a:lnTo>
                  <a:lnTo>
                    <a:pt x="1550670" y="5372100"/>
                  </a:lnTo>
                  <a:lnTo>
                    <a:pt x="4012209" y="5372100"/>
                  </a:lnTo>
                  <a:lnTo>
                    <a:pt x="5562879" y="2686050"/>
                  </a:lnTo>
                  <a:lnTo>
                    <a:pt x="4012209" y="0"/>
                  </a:lnTo>
                  <a:close/>
                </a:path>
              </a:pathLst>
            </a:custGeom>
            <a:solidFill>
              <a:srgbClr val="86C7ED"/>
            </a:solidFill>
            <a:ln>
              <a:noFill/>
            </a:ln>
          </p:spPr>
        </p:sp>
        <p:sp>
          <p:nvSpPr>
            <p:cNvPr id="278" name="Google Shape;278;p41"/>
            <p:cNvSpPr/>
            <p:nvPr/>
          </p:nvSpPr>
          <p:spPr>
            <a:xfrm rot="-5400000">
              <a:off x="-65342" y="2547399"/>
              <a:ext cx="3810572" cy="3679889"/>
            </a:xfrm>
            <a:custGeom>
              <a:avLst/>
              <a:gdLst/>
              <a:ahLst/>
              <a:cxnLst/>
              <a:rect l="l" t="t" r="r" b="b"/>
              <a:pathLst>
                <a:path w="5562879" h="5372100" extrusionOk="0">
                  <a:moveTo>
                    <a:pt x="4012209" y="0"/>
                  </a:moveTo>
                  <a:lnTo>
                    <a:pt x="1550670" y="0"/>
                  </a:lnTo>
                  <a:lnTo>
                    <a:pt x="0" y="2686050"/>
                  </a:lnTo>
                  <a:lnTo>
                    <a:pt x="1550670" y="5372100"/>
                  </a:lnTo>
                  <a:lnTo>
                    <a:pt x="4012209" y="5372100"/>
                  </a:lnTo>
                  <a:lnTo>
                    <a:pt x="5562879" y="2686050"/>
                  </a:lnTo>
                  <a:lnTo>
                    <a:pt x="4012209" y="0"/>
                  </a:lnTo>
                  <a:close/>
                </a:path>
              </a:pathLst>
            </a:custGeom>
            <a:solidFill>
              <a:srgbClr val="A066CB"/>
            </a:solidFill>
            <a:ln>
              <a:noFill/>
            </a:ln>
          </p:spPr>
        </p:sp>
        <p:sp>
          <p:nvSpPr>
            <p:cNvPr id="279" name="Google Shape;279;p41"/>
            <p:cNvSpPr/>
            <p:nvPr/>
          </p:nvSpPr>
          <p:spPr>
            <a:xfrm rot="-5400000">
              <a:off x="-65342" y="58871"/>
              <a:ext cx="3810572" cy="3679889"/>
            </a:xfrm>
            <a:custGeom>
              <a:avLst/>
              <a:gdLst/>
              <a:ahLst/>
              <a:cxnLst/>
              <a:rect l="l" t="t" r="r" b="b"/>
              <a:pathLst>
                <a:path w="5562879" h="5372100" extrusionOk="0">
                  <a:moveTo>
                    <a:pt x="4012209" y="0"/>
                  </a:moveTo>
                  <a:lnTo>
                    <a:pt x="1550670" y="0"/>
                  </a:lnTo>
                  <a:lnTo>
                    <a:pt x="0" y="2686050"/>
                  </a:lnTo>
                  <a:lnTo>
                    <a:pt x="1550670" y="5372100"/>
                  </a:lnTo>
                  <a:lnTo>
                    <a:pt x="4012209" y="5372100"/>
                  </a:lnTo>
                  <a:lnTo>
                    <a:pt x="5562879" y="2686050"/>
                  </a:lnTo>
                  <a:lnTo>
                    <a:pt x="4012209" y="0"/>
                  </a:lnTo>
                  <a:close/>
                </a:path>
              </a:pathLst>
            </a:custGeom>
            <a:solidFill>
              <a:srgbClr val="1836B2"/>
            </a:solidFill>
            <a:ln>
              <a:noFill/>
            </a:ln>
          </p:spPr>
        </p:sp>
      </p:grpSp>
      <p:pic>
        <p:nvPicPr>
          <p:cNvPr id="280" name="Google Shape;280;p41"/>
          <p:cNvPicPr preferRelativeResize="0"/>
          <p:nvPr/>
        </p:nvPicPr>
        <p:blipFill>
          <a:blip r:embed="rId3">
            <a:alphaModFix/>
          </a:blip>
          <a:srcRect l="2119" b="5428"/>
          <a:stretch>
            <a:fillRect/>
          </a:stretch>
        </p:blipFill>
        <p:spPr>
          <a:xfrm>
            <a:off x="158925" y="700175"/>
            <a:ext cx="5110200" cy="3313025"/>
          </a:xfrm>
          <a:prstGeom prst="rect">
            <a:avLst/>
          </a:prstGeom>
          <a:noFill/>
          <a:ln>
            <a:noFill/>
          </a:ln>
        </p:spPr>
      </p:pic>
      <p:sp>
        <p:nvSpPr>
          <p:cNvPr id="281" name="Google Shape;281;p41"/>
          <p:cNvSpPr txBox="1"/>
          <p:nvPr/>
        </p:nvSpPr>
        <p:spPr>
          <a:xfrm>
            <a:off x="48300" y="207200"/>
            <a:ext cx="5686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vi" sz="1600">
                <a:solidFill>
                  <a:schemeClr val="dk1"/>
                </a:solidFill>
                <a:latin typeface="Calibri"/>
                <a:ea typeface="Calibri"/>
                <a:cs typeface="Calibri"/>
                <a:sym typeface="Calibri"/>
              </a:rPr>
              <a:t>Equivalent distance between Aluminum and Air</a:t>
            </a:r>
            <a:endParaRPr sz="1600">
              <a:solidFill>
                <a:schemeClr val="dk1"/>
              </a:solidFill>
              <a:latin typeface="Calibri"/>
              <a:ea typeface="Calibri"/>
              <a:cs typeface="Calibri"/>
              <a:sym typeface="Calibri"/>
            </a:endParaRPr>
          </a:p>
        </p:txBody>
      </p:sp>
      <p:sp>
        <p:nvSpPr>
          <p:cNvPr id="282" name="Google Shape;282;p41"/>
          <p:cNvSpPr txBox="1"/>
          <p:nvPr/>
        </p:nvSpPr>
        <p:spPr>
          <a:xfrm>
            <a:off x="6625725" y="1058750"/>
            <a:ext cx="1929900" cy="68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283" name="Google Shape;283;p41"/>
          <p:cNvSpPr txBox="1"/>
          <p:nvPr/>
        </p:nvSpPr>
        <p:spPr>
          <a:xfrm>
            <a:off x="5217375" y="517550"/>
            <a:ext cx="3767700" cy="1659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vi" sz="1800">
                <a:solidFill>
                  <a:schemeClr val="dk1"/>
                </a:solidFill>
              </a:rPr>
              <a:t>The number of particles absorbed by a material (aluminum piece) with a thickness of d_Al is equal to the number of particles absorbed by air at a distance of d_air</a:t>
            </a:r>
            <a:endParaRPr sz="1800">
              <a:solidFill>
                <a:schemeClr val="dk1"/>
              </a:solidFill>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p:txBody>
      </p:sp>
      <p:pic>
        <p:nvPicPr>
          <p:cNvPr id="284" name="Google Shape;284;p41" title="CT-3-doday.png"/>
          <p:cNvPicPr preferRelativeResize="0"/>
          <p:nvPr/>
        </p:nvPicPr>
        <p:blipFill>
          <a:blip r:embed="rId4">
            <a:alphaModFix/>
          </a:blip>
          <a:stretch>
            <a:fillRect/>
          </a:stretch>
        </p:blipFill>
        <p:spPr>
          <a:xfrm>
            <a:off x="5331637" y="2244890"/>
            <a:ext cx="3590925" cy="1133475"/>
          </a:xfrm>
          <a:prstGeom prst="rect">
            <a:avLst/>
          </a:prstGeom>
          <a:noFill/>
          <a:ln>
            <a:noFill/>
          </a:ln>
        </p:spPr>
      </p:pic>
      <p:pic>
        <p:nvPicPr>
          <p:cNvPr id="3" name="Picture 2">
            <a:extLst>
              <a:ext uri="{FF2B5EF4-FFF2-40B4-BE49-F238E27FC236}">
                <a16:creationId xmlns:a16="http://schemas.microsoft.com/office/drawing/2014/main" id="{60D5F753-A302-BE96-875A-07E7D8A6F148}"/>
              </a:ext>
            </a:extLst>
          </p:cNvPr>
          <p:cNvPicPr>
            <a:picLocks noChangeAspect="1"/>
          </p:cNvPicPr>
          <p:nvPr/>
        </p:nvPicPr>
        <p:blipFill>
          <a:blip r:embed="rId5"/>
          <a:stretch>
            <a:fillRect/>
          </a:stretch>
        </p:blipFill>
        <p:spPr>
          <a:xfrm>
            <a:off x="5269125" y="4200589"/>
            <a:ext cx="3562350" cy="209550"/>
          </a:xfrm>
          <a:prstGeom prst="rect">
            <a:avLst/>
          </a:prstGeom>
        </p:spPr>
      </p:pic>
      <p:sp>
        <p:nvSpPr>
          <p:cNvPr id="4" name="TextBox 3">
            <a:extLst>
              <a:ext uri="{FF2B5EF4-FFF2-40B4-BE49-F238E27FC236}">
                <a16:creationId xmlns:a16="http://schemas.microsoft.com/office/drawing/2014/main" id="{724F6336-009D-9BEF-87D7-C5AE6B104064}"/>
              </a:ext>
            </a:extLst>
          </p:cNvPr>
          <p:cNvSpPr txBox="1"/>
          <p:nvPr/>
        </p:nvSpPr>
        <p:spPr>
          <a:xfrm>
            <a:off x="-426288" y="2099029"/>
            <a:ext cx="762000" cy="523220"/>
          </a:xfrm>
          <a:prstGeom prst="rect">
            <a:avLst/>
          </a:prstGeom>
          <a:solidFill>
            <a:schemeClr val="bg1"/>
          </a:solidFill>
        </p:spPr>
        <p:txBody>
          <a:bodyPr wrap="square" rtlCol="0">
            <a:spAutoFit/>
          </a:bodyPr>
          <a:lstStyle/>
          <a:p>
            <a:r>
              <a:rPr lang="en-US" dirty="0"/>
              <a:t>Energy</a:t>
            </a:r>
          </a:p>
          <a:p>
            <a:r>
              <a:rPr lang="en-US" dirty="0"/>
              <a:t>(KeV)</a:t>
            </a:r>
          </a:p>
        </p:txBody>
      </p:sp>
      <p:sp>
        <p:nvSpPr>
          <p:cNvPr id="5" name="TextBox 4">
            <a:extLst>
              <a:ext uri="{FF2B5EF4-FFF2-40B4-BE49-F238E27FC236}">
                <a16:creationId xmlns:a16="http://schemas.microsoft.com/office/drawing/2014/main" id="{A572A200-5052-DD26-AEFF-59E401C01966}"/>
              </a:ext>
            </a:extLst>
          </p:cNvPr>
          <p:cNvSpPr txBox="1"/>
          <p:nvPr/>
        </p:nvSpPr>
        <p:spPr>
          <a:xfrm>
            <a:off x="2245360" y="4013200"/>
            <a:ext cx="1483360" cy="307777"/>
          </a:xfrm>
          <a:prstGeom prst="rect">
            <a:avLst/>
          </a:prstGeom>
          <a:noFill/>
        </p:spPr>
        <p:txBody>
          <a:bodyPr wrap="square" rtlCol="0">
            <a:spAutoFit/>
          </a:bodyPr>
          <a:lstStyle/>
          <a:p>
            <a:r>
              <a:rPr lang="en-US" dirty="0"/>
              <a:t>Distance (mm)</a:t>
            </a:r>
          </a:p>
        </p:txBody>
      </p:sp>
      <p:pic>
        <p:nvPicPr>
          <p:cNvPr id="8" name="Picture 7">
            <a:extLst>
              <a:ext uri="{FF2B5EF4-FFF2-40B4-BE49-F238E27FC236}">
                <a16:creationId xmlns:a16="http://schemas.microsoft.com/office/drawing/2014/main" id="{2E3FF3BF-C718-2B59-A48C-65B50B92B94A}"/>
              </a:ext>
            </a:extLst>
          </p:cNvPr>
          <p:cNvPicPr>
            <a:picLocks noChangeAspect="1"/>
          </p:cNvPicPr>
          <p:nvPr/>
        </p:nvPicPr>
        <p:blipFill>
          <a:blip r:embed="rId6"/>
          <a:stretch>
            <a:fillRect/>
          </a:stretch>
        </p:blipFill>
        <p:spPr>
          <a:xfrm>
            <a:off x="5269125" y="3619332"/>
            <a:ext cx="1607790" cy="22246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42"/>
          <p:cNvPicPr preferRelativeResize="0"/>
          <p:nvPr/>
        </p:nvPicPr>
        <p:blipFill>
          <a:blip r:embed="rId3">
            <a:alphaModFix/>
          </a:blip>
          <a:stretch>
            <a:fillRect/>
          </a:stretch>
        </p:blipFill>
        <p:spPr>
          <a:xfrm>
            <a:off x="152400" y="152400"/>
            <a:ext cx="8991600" cy="50577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1259</Words>
  <Application>Microsoft Office PowerPoint</Application>
  <PresentationFormat>On-screen Show (16:9)</PresentationFormat>
  <Paragraphs>114</Paragraphs>
  <Slides>19</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Roboto</vt:lpstr>
      <vt:lpstr>Cabin SemiBold</vt:lpstr>
      <vt:lpstr>Cabin</vt:lpstr>
      <vt:lpstr>Arial</vt:lpstr>
      <vt:lpstr>Calibri</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Nhi Vo</cp:lastModifiedBy>
  <cp:revision>10</cp:revision>
  <dcterms:modified xsi:type="dcterms:W3CDTF">2025-07-25T09:04:57Z</dcterms:modified>
</cp:coreProperties>
</file>